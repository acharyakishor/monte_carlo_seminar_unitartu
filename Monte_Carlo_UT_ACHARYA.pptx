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0"/>
  </p:notes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 id="286" r:id="rId31"/>
    <p:sldId id="287" r:id="rId32"/>
    <p:sldId id="288" r:id="rId33"/>
    <p:sldId id="289" r:id="rId34"/>
    <p:sldId id="290" r:id="rId35"/>
    <p:sldId id="291" r:id="rId36"/>
    <p:sldId id="292" r:id="rId37"/>
    <p:sldId id="293" r:id="rId38"/>
    <p:sldId id="294" r:id="rId39"/>
    <p:sldId id="295" r:id="rId40"/>
    <p:sldId id="296" r:id="rId41"/>
    <p:sldId id="297" r:id="rId42"/>
    <p:sldId id="298" r:id="rId43"/>
    <p:sldId id="299" r:id="rId44"/>
    <p:sldId id="300" r:id="rId45"/>
    <p:sldId id="301" r:id="rId46"/>
    <p:sldId id="302" r:id="rId47"/>
    <p:sldId id="303" r:id="rId48"/>
    <p:sldId id="304" r:id="rId4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5D50E81F-680C-B096-F913-C0545C7FCB4E}">
          <p14:sldIdLst>
            <p14:sldId id="257"/>
            <p14:sldId id="258"/>
            <p14:sldId id="259"/>
          </p14:sldIdLst>
        </p14:section>
        <p14:section name="A story to begin with" id="{F0613E78-FA30-50F7-68B9-16DA8A725F48}">
          <p14:sldIdLst>
            <p14:sldId id="260"/>
            <p14:sldId id="261"/>
            <p14:sldId id="262"/>
            <p14:sldId id="263"/>
            <p14:sldId id="264"/>
          </p14:sldIdLst>
        </p14:section>
        <p14:section name="Building blocks" id="{BFA19DBB-1BE4-BFBA-FECC-2726B0665791}">
          <p14:sldIdLst>
            <p14:sldId id="265"/>
            <p14:sldId id="266"/>
            <p14:sldId id="267"/>
            <p14:sldId id="268"/>
            <p14:sldId id="269"/>
            <p14:sldId id="270"/>
          </p14:sldIdLst>
        </p14:section>
        <p14:section name="Stop 1: Two dice" id="{D557136C-281C-6BB8-2799-D605967569CB}">
          <p14:sldIdLst>
            <p14:sldId id="271"/>
            <p14:sldId id="272"/>
            <p14:sldId id="273"/>
            <p14:sldId id="274"/>
            <p14:sldId id="275"/>
            <p14:sldId id="276"/>
          </p14:sldIdLst>
        </p14:section>
        <p14:section name="Stop 2: Darts and π" id="{CD2663C0-AAEC-AEB7-9D66-3FA8B88248FA}">
          <p14:sldIdLst>
            <p14:sldId id="277"/>
            <p14:sldId id="278"/>
            <p14:sldId id="279"/>
            <p14:sldId id="280"/>
            <p14:sldId id="281"/>
          </p14:sldIdLst>
        </p14:section>
        <p14:section name="Stop 3: A referendum" id="{D01D7ED6-AD5F-2F6A-908D-02F0C52F9990}">
          <p14:sldIdLst>
            <p14:sldId id="282"/>
            <p14:sldId id="283"/>
            <p14:sldId id="284"/>
            <p14:sldId id="285"/>
            <p14:sldId id="286"/>
            <p14:sldId id="287"/>
          </p14:sldIdLst>
        </p14:section>
        <p14:section name="Stop 4: Planning a survey" id="{031025DD-67DA-49C5-D570-5C0194420DFD}">
          <p14:sldIdLst>
            <p14:sldId id="288"/>
            <p14:sldId id="289"/>
            <p14:sldId id="290"/>
            <p14:sldId id="291"/>
            <p14:sldId id="292"/>
          </p14:sldIdLst>
        </p14:section>
        <p14:section name="Stop 5: Schelling's city" id="{3A94EAB0-2DD7-B453-F462-545B9ACA1D2E}">
          <p14:sldIdLst>
            <p14:sldId id="293"/>
            <p14:sldId id="294"/>
            <p14:sldId id="295"/>
            <p14:sldId id="296"/>
            <p14:sldId id="297"/>
            <p14:sldId id="298"/>
            <p14:sldId id="299"/>
          </p14:sldIdLst>
        </p14:section>
        <p14:section name="Stop 6: Where this leads" id="{2A3485FE-F0A7-BC47-6F21-E9EF720B7B5B}">
          <p14:sldIdLst>
            <p14:sldId id="300"/>
            <p14:sldId id="301"/>
            <p14:sldId id="302"/>
            <p14:sldId id="303"/>
            <p14:sldId id="30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5" d="100"/>
          <a:sy n="65" d="100"/>
        </p:scale>
        <p:origin x="700"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1DE6435-731D-41EA-9DC2-6F219A7A43E8}" type="datetimeFigureOut">
              <a:rPr lang="en-GB" smtClean="0"/>
              <a:t>19/10/2026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EFF6048-4CE0-4FC1-9461-0254F18862F3}" type="slidenum">
              <a:rPr lang="en-GB" smtClean="0"/>
              <a:t>‹#›</a:t>
            </a:fld>
            <a:endParaRPr lang="en-GB"/>
          </a:p>
        </p:txBody>
      </p:sp>
    </p:spTree>
    <p:extLst>
      <p:ext uri="{BB962C8B-B14F-4D97-AF65-F5344CB8AC3E}">
        <p14:creationId xmlns:p14="http://schemas.microsoft.com/office/powerpoint/2010/main" val="2927069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Today is the first hands-on Python seminar. About 85 minutes, a five-minute break halfway, time at the end to play. Open two tabs now: the course website simulations page, and the Colab notebook. The slides tell you at each stop which animation and which notebook section to look at. No previous knowledge of probability, statistics or programming is assumed.</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three questions have the same shape: if the world works roughly like this, what should we expect to see? They are hard with formulas because several uncertain things interact. Monte Carlo answers them by letting a computer play the situation out thousands of times and counting. By the end of the seminar you will have answered all three.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stop adds exactly one new capability. Stops 1 and 2 estimate things we could calculate, so we can check the method against the truth. From stop 3 on, Monte Carlo does things we cannot easily do any other way. Stop 5 connects everything to agent-based models. Break after stop 3.</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the method, the story. It explains the odd name and it contains the whole idea.</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Ulam's insight is the entire method in one sentence: when you cannot calculate the answer, play the game many times and count. The more games, the better the estimate. Everything else today is this idea applied to bigger games.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neutron problem is the solitaire problem again: an exact formula is out of reach, but one random instance of the process is easy to simulate. A computer can simulate thousands. What took ENIAC days takes your laptop a fraction of a second.</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Metropolis tells this story himself in 1987. Some books say von Neumann chose the name; Metropolis's own account is the first-hand source. The gambling connection is not a coincidence: cards and dice are the simplest random processes, which is why we start with dice.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meet Buffon's needle again at stop 2.</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ideas, each with a picture. Notebook sections A.1 to A.4 are the same four, with sliders.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simulated coin flipped 5,000 times. This way of thinking is the secret of Monte Carlo: if probability is a long-run share, we can measure a probability by running the experiment many times.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only slide with code on it, because the correspondence with Excel is worth seeing. Notebook A.2 runs these lines and shows that seed 7 gives the same numbers twice.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distributions do almost all the work today. Uniform is right for a dart thrown at random; normal is right for the error of an opinion poll. Converting one to the other is one line in Python or Excel, as in Verschuuren's book shared earlier in the course.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law of large numbers is why the coin's running share settles. The square-root rule is how fast. We see it as a straight line at stop 1.</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 is the whole method. Every Monte Carlo simulation has these three ingredients and follows these four steps. What differs is what sits inside the model and which summary you take. The rest of the seminar climbs through five uses of this recipe.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question we can answer exactly, so we can check the simulation against the truth.</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the pen-and-paper answer. Right: what the simulation does. Run notebook 1.1 twice: the estimate changes slightly each time. The estimate is itself random, which is why we will always report a spread.</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the dice animation now and drag the slider: at 10 rolls the histogram is noise, at 100 recognisable, at 10,000 nearly perfect. You are watching the law of large numbers before anyone names it.</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square-root rule made visible. It holds for every example today, including the agent-based model.</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three minutes. Ask them to find the smallest N at which P(7) is reliably within one percentage point of 16.7%.</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points that carry through everything else.</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trick, different kind of question: a number that has nothing to do with chance.</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Dart-throwing samples the board evenly, and the count turns a geometric question into a counting question. Right panel: the estimate is wildly wrong for the first few dozen darts, swings less and less, and after 100,000 darts is within a few thousandths of π. It never becomes exact. Quote it with a margin: 3.14 plus or minus 0.01.</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Monte Carlo integration is standard in physics, Bayesian statistics and economics, because it does not care how many dimensions the problem has.</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minutes. Point out the convergence plot: the lesson is the margin, not the digits.</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here on, Monte Carlo starts doing things we could not do any other way.</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Stops 1 and 2 estimated things we could have calculated. This is the first thing we cannot easily do by hand: combine several uncertainties and see the whole range of outcomes.</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fixed input becomes a distribution: the poll error is normal with SD 3, the turnout effect is normal with mean minus one and SD one. Add them to 52 ten thousand times and you have ten thousand possible election nights. Notebook 3.1 is three lines.</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histogram is the deliverable. This is the use of Monte Carlo you meet most often outside the classroom: project schedules, engineering risk, insurance pricing, outbreak projections. Verschuuren calls it taming the future: not predicting it, mapping how wide it is.</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minutes. Task: find the poll lead at which the pass probability reaches 90%. Then the break.</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Five-minute break after this slide.</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Break.</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 obvious, but for anyone who will design a study probably the most useful capability. A short demonstration; the hands-on version is in the notebook.</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steps, same recipe. Notebook 4.1 is the ten-line function.</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Bias and coverage are checked the same way: simulate thousands of datasets with a known truth and count.</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minutes, demonstration only. The notebook exercise is for later.</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climax: Monte Carlo applied to an agent-based model.</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connects Monte Carlo to the agent-based models from the previous lecture, using the most famous agent-based model in social science. It returns in our next seminar.</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Thomas Schelling, economist, proposed this in 1971 and shared the 2005 Nobel prize in economics. Most people's intuition is that segregation requires strong prejudice. His result: even when every household is content with as few as a third of its neighbours being like itself, the moves of the unhappy few trigger a cascade that ends in large uniform clusters. Mild individual preferences, strongly segregated collective outcome. This gap between micro-motives and macro-behaviour is the central lesson of agent-based modelling.</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single run of a model with randomness in it is one draw from a distribution of possible outcomes, like one roll of the dice. It is an anecdote, and an anecdote is not evidence. The remedy is the recipe: treat the whole agent-based model as the model inside the Monte Carlo loop.</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curve is something no single run could show. Circles: the average of forty runs at each threshold. Band: where 90% of individual runs fell. Grey crosses: a single run per threshold. Everything from stops 1 to 3 applies: the average is the estimate, the band its uncertainty, and four hundred runs would tighten it by about three times.</a:t>
            </a:r>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minutes. Task: find the tolerance at which the jump happens for your seed, then compare with your neighbour's seed.</a:t>
            </a:r>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one sentence to remember from today. Your course project will be an agent-based model; before you believe anything it says, run it this way.</a:t>
            </a:r>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today took its input numbers for granted and put uncertainty around them. Next time we ask where the numbers come from.</a:t>
            </a:r>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names to recognise later; none is examined. MCMC was invented by the same Nicholas Metropolis from our opening story.</a:t>
            </a:r>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Monte Carlo is easy to run and easy to misuse. The first habit is the most important: smoothness of the output says nothing about the truth of the inputs.</a:t>
            </a:r>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first tasks: dice, N from 100 to 100,000; referendum, find the lead that gives 90%; Schelling, find the jump for your seed. The exercises are optional and not graded; they are for those who want more.</a:t>
            </a:r>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Full lecture notes with these references are available from the lecturer.</a:t>
            </a:r>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a:t>
            </a:r>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CA6077-2880-C710-C17F-FE18A09E812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B6D8FF41-52B7-1C7C-F0F3-632B66A4D15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3154032C-3E0C-8EB4-F30E-DACBE988A7CC}"/>
              </a:ext>
            </a:extLst>
          </p:cNvPr>
          <p:cNvSpPr>
            <a:spLocks noGrp="1"/>
          </p:cNvSpPr>
          <p:nvPr>
            <p:ph type="dt" sz="half" idx="10"/>
          </p:nvPr>
        </p:nvSpPr>
        <p:spPr/>
        <p:txBody>
          <a:bodyPr/>
          <a:lstStyle/>
          <a:p>
            <a:fld id="{4C45825E-71A0-474D-A187-C452677D68D6}" type="datetimeFigureOut">
              <a:rPr lang="en-GB" smtClean="0"/>
              <a:t>19/10/2026</a:t>
            </a:fld>
            <a:endParaRPr lang="en-GB"/>
          </a:p>
        </p:txBody>
      </p:sp>
      <p:sp>
        <p:nvSpPr>
          <p:cNvPr id="5" name="Footer Placeholder 4">
            <a:extLst>
              <a:ext uri="{FF2B5EF4-FFF2-40B4-BE49-F238E27FC236}">
                <a16:creationId xmlns:a16="http://schemas.microsoft.com/office/drawing/2014/main" id="{537058FF-FE9A-6245-C6AC-F7CE33501D82}"/>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551C336B-1CD3-BCBD-88D0-7858711D27D9}"/>
              </a:ext>
            </a:extLst>
          </p:cNvPr>
          <p:cNvSpPr>
            <a:spLocks noGrp="1"/>
          </p:cNvSpPr>
          <p:nvPr>
            <p:ph type="sldNum" sz="quarter" idx="12"/>
          </p:nvPr>
        </p:nvSpPr>
        <p:spPr/>
        <p:txBody>
          <a:bodyPr/>
          <a:lstStyle/>
          <a:p>
            <a:fld id="{11F6ECA5-7E08-415A-A5BB-4883B899E998}" type="slidenum">
              <a:rPr lang="en-GB" smtClean="0"/>
              <a:t>‹#›</a:t>
            </a:fld>
            <a:endParaRPr lang="en-GB"/>
          </a:p>
        </p:txBody>
      </p:sp>
    </p:spTree>
    <p:extLst>
      <p:ext uri="{BB962C8B-B14F-4D97-AF65-F5344CB8AC3E}">
        <p14:creationId xmlns:p14="http://schemas.microsoft.com/office/powerpoint/2010/main" val="31254526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1AB529-D273-BE17-4BFA-329002FD9B34}"/>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254C6C53-CB1A-1C15-AEEA-82887112C3C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295961FE-49EF-A1B4-1F2B-4704778B74FF}"/>
              </a:ext>
            </a:extLst>
          </p:cNvPr>
          <p:cNvSpPr>
            <a:spLocks noGrp="1"/>
          </p:cNvSpPr>
          <p:nvPr>
            <p:ph type="dt" sz="half" idx="10"/>
          </p:nvPr>
        </p:nvSpPr>
        <p:spPr/>
        <p:txBody>
          <a:bodyPr/>
          <a:lstStyle/>
          <a:p>
            <a:fld id="{4C45825E-71A0-474D-A187-C452677D68D6}" type="datetimeFigureOut">
              <a:rPr lang="en-GB" smtClean="0"/>
              <a:t>19/10/2026</a:t>
            </a:fld>
            <a:endParaRPr lang="en-GB"/>
          </a:p>
        </p:txBody>
      </p:sp>
      <p:sp>
        <p:nvSpPr>
          <p:cNvPr id="5" name="Footer Placeholder 4">
            <a:extLst>
              <a:ext uri="{FF2B5EF4-FFF2-40B4-BE49-F238E27FC236}">
                <a16:creationId xmlns:a16="http://schemas.microsoft.com/office/drawing/2014/main" id="{23F9F587-A47D-B349-736D-91CF31578B6A}"/>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3D61F12F-4446-FC6F-F6F5-EA06AB238610}"/>
              </a:ext>
            </a:extLst>
          </p:cNvPr>
          <p:cNvSpPr>
            <a:spLocks noGrp="1"/>
          </p:cNvSpPr>
          <p:nvPr>
            <p:ph type="sldNum" sz="quarter" idx="12"/>
          </p:nvPr>
        </p:nvSpPr>
        <p:spPr/>
        <p:txBody>
          <a:bodyPr/>
          <a:lstStyle/>
          <a:p>
            <a:fld id="{11F6ECA5-7E08-415A-A5BB-4883B899E998}" type="slidenum">
              <a:rPr lang="en-GB" smtClean="0"/>
              <a:t>‹#›</a:t>
            </a:fld>
            <a:endParaRPr lang="en-GB"/>
          </a:p>
        </p:txBody>
      </p:sp>
    </p:spTree>
    <p:extLst>
      <p:ext uri="{BB962C8B-B14F-4D97-AF65-F5344CB8AC3E}">
        <p14:creationId xmlns:p14="http://schemas.microsoft.com/office/powerpoint/2010/main" val="30149143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2B1321-330E-0706-E5BD-96E1451520A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EE786009-9FA4-7C37-F2C9-5F254AE0151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3D09930-E55A-6DC8-2684-BEA50A17F33A}"/>
              </a:ext>
            </a:extLst>
          </p:cNvPr>
          <p:cNvSpPr>
            <a:spLocks noGrp="1"/>
          </p:cNvSpPr>
          <p:nvPr>
            <p:ph type="dt" sz="half" idx="10"/>
          </p:nvPr>
        </p:nvSpPr>
        <p:spPr/>
        <p:txBody>
          <a:bodyPr/>
          <a:lstStyle/>
          <a:p>
            <a:fld id="{4C45825E-71A0-474D-A187-C452677D68D6}" type="datetimeFigureOut">
              <a:rPr lang="en-GB" smtClean="0"/>
              <a:t>19/10/2026</a:t>
            </a:fld>
            <a:endParaRPr lang="en-GB"/>
          </a:p>
        </p:txBody>
      </p:sp>
      <p:sp>
        <p:nvSpPr>
          <p:cNvPr id="5" name="Footer Placeholder 4">
            <a:extLst>
              <a:ext uri="{FF2B5EF4-FFF2-40B4-BE49-F238E27FC236}">
                <a16:creationId xmlns:a16="http://schemas.microsoft.com/office/drawing/2014/main" id="{22D52228-FA67-D65D-9260-C7DFED6A7CDC}"/>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4707F417-2830-017E-337E-2338FFC631BD}"/>
              </a:ext>
            </a:extLst>
          </p:cNvPr>
          <p:cNvSpPr>
            <a:spLocks noGrp="1"/>
          </p:cNvSpPr>
          <p:nvPr>
            <p:ph type="sldNum" sz="quarter" idx="12"/>
          </p:nvPr>
        </p:nvSpPr>
        <p:spPr/>
        <p:txBody>
          <a:bodyPr/>
          <a:lstStyle/>
          <a:p>
            <a:fld id="{11F6ECA5-7E08-415A-A5BB-4883B899E998}" type="slidenum">
              <a:rPr lang="en-GB" smtClean="0"/>
              <a:t>‹#›</a:t>
            </a:fld>
            <a:endParaRPr lang="en-GB"/>
          </a:p>
        </p:txBody>
      </p:sp>
    </p:spTree>
    <p:extLst>
      <p:ext uri="{BB962C8B-B14F-4D97-AF65-F5344CB8AC3E}">
        <p14:creationId xmlns:p14="http://schemas.microsoft.com/office/powerpoint/2010/main" val="37080438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AB1DBA-4BF7-D7ED-2BA3-4ABB63D39C6E}"/>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092CFF8F-F5D7-B97D-DF2A-B217F627F21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E1D5C5A6-062B-A38F-3995-18FB28CD0DA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E54E88FA-9A00-930E-0148-459B26821689}"/>
              </a:ext>
            </a:extLst>
          </p:cNvPr>
          <p:cNvSpPr>
            <a:spLocks noGrp="1"/>
          </p:cNvSpPr>
          <p:nvPr>
            <p:ph type="dt" sz="half" idx="10"/>
          </p:nvPr>
        </p:nvSpPr>
        <p:spPr/>
        <p:txBody>
          <a:bodyPr/>
          <a:lstStyle/>
          <a:p>
            <a:fld id="{4C45825E-71A0-474D-A187-C452677D68D6}" type="datetimeFigureOut">
              <a:rPr lang="en-GB" smtClean="0"/>
              <a:t>19/10/2026</a:t>
            </a:fld>
            <a:endParaRPr lang="en-GB"/>
          </a:p>
        </p:txBody>
      </p:sp>
      <p:sp>
        <p:nvSpPr>
          <p:cNvPr id="6" name="Footer Placeholder 5">
            <a:extLst>
              <a:ext uri="{FF2B5EF4-FFF2-40B4-BE49-F238E27FC236}">
                <a16:creationId xmlns:a16="http://schemas.microsoft.com/office/drawing/2014/main" id="{52AB5F8A-C8C8-3C94-C7E1-FFE6349903E6}"/>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A13F2016-F1AB-EEA3-2CEA-9DBD9B53A9B1}"/>
              </a:ext>
            </a:extLst>
          </p:cNvPr>
          <p:cNvSpPr>
            <a:spLocks noGrp="1"/>
          </p:cNvSpPr>
          <p:nvPr>
            <p:ph type="sldNum" sz="quarter" idx="12"/>
          </p:nvPr>
        </p:nvSpPr>
        <p:spPr/>
        <p:txBody>
          <a:bodyPr/>
          <a:lstStyle/>
          <a:p>
            <a:fld id="{11F6ECA5-7E08-415A-A5BB-4883B899E998}" type="slidenum">
              <a:rPr lang="en-GB" smtClean="0"/>
              <a:t>‹#›</a:t>
            </a:fld>
            <a:endParaRPr lang="en-GB"/>
          </a:p>
        </p:txBody>
      </p:sp>
    </p:spTree>
    <p:extLst>
      <p:ext uri="{BB962C8B-B14F-4D97-AF65-F5344CB8AC3E}">
        <p14:creationId xmlns:p14="http://schemas.microsoft.com/office/powerpoint/2010/main" val="7182909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4F64CA-2BA6-0763-B123-6237D4BC413E}"/>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A3E9956D-F9EE-1DFC-C854-923ACECD942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E528A36-0689-9DCB-1A3D-FF3DBC098A3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0212CD20-8A7F-8F8F-43E0-774C4D1B39D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555E3B9-C792-63D7-DC64-D10F367BE88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A623038F-B145-DA88-2815-6F275F683FB7}"/>
              </a:ext>
            </a:extLst>
          </p:cNvPr>
          <p:cNvSpPr>
            <a:spLocks noGrp="1"/>
          </p:cNvSpPr>
          <p:nvPr>
            <p:ph type="dt" sz="half" idx="10"/>
          </p:nvPr>
        </p:nvSpPr>
        <p:spPr/>
        <p:txBody>
          <a:bodyPr/>
          <a:lstStyle/>
          <a:p>
            <a:fld id="{4C45825E-71A0-474D-A187-C452677D68D6}" type="datetimeFigureOut">
              <a:rPr lang="en-GB" smtClean="0"/>
              <a:t>19/10/2026</a:t>
            </a:fld>
            <a:endParaRPr lang="en-GB"/>
          </a:p>
        </p:txBody>
      </p:sp>
      <p:sp>
        <p:nvSpPr>
          <p:cNvPr id="8" name="Footer Placeholder 7">
            <a:extLst>
              <a:ext uri="{FF2B5EF4-FFF2-40B4-BE49-F238E27FC236}">
                <a16:creationId xmlns:a16="http://schemas.microsoft.com/office/drawing/2014/main" id="{C1C7C021-824D-0ACD-0EDB-FE460CF17E8D}"/>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D9180BB4-0073-D41B-95BB-6BB94B6C9D25}"/>
              </a:ext>
            </a:extLst>
          </p:cNvPr>
          <p:cNvSpPr>
            <a:spLocks noGrp="1"/>
          </p:cNvSpPr>
          <p:nvPr>
            <p:ph type="sldNum" sz="quarter" idx="12"/>
          </p:nvPr>
        </p:nvSpPr>
        <p:spPr/>
        <p:txBody>
          <a:bodyPr/>
          <a:lstStyle/>
          <a:p>
            <a:fld id="{11F6ECA5-7E08-415A-A5BB-4883B899E998}" type="slidenum">
              <a:rPr lang="en-GB" smtClean="0"/>
              <a:t>‹#›</a:t>
            </a:fld>
            <a:endParaRPr lang="en-GB"/>
          </a:p>
        </p:txBody>
      </p:sp>
    </p:spTree>
    <p:extLst>
      <p:ext uri="{BB962C8B-B14F-4D97-AF65-F5344CB8AC3E}">
        <p14:creationId xmlns:p14="http://schemas.microsoft.com/office/powerpoint/2010/main" val="12511666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20DB16-BF3C-B4DD-92F0-0FACDF3D92B1}"/>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98CD796E-3DF5-D50A-C176-262D8038CC23}"/>
              </a:ext>
            </a:extLst>
          </p:cNvPr>
          <p:cNvSpPr>
            <a:spLocks noGrp="1"/>
          </p:cNvSpPr>
          <p:nvPr>
            <p:ph type="dt" sz="half" idx="10"/>
          </p:nvPr>
        </p:nvSpPr>
        <p:spPr/>
        <p:txBody>
          <a:bodyPr/>
          <a:lstStyle/>
          <a:p>
            <a:fld id="{4C45825E-71A0-474D-A187-C452677D68D6}" type="datetimeFigureOut">
              <a:rPr lang="en-GB" smtClean="0"/>
              <a:t>19/10/2026</a:t>
            </a:fld>
            <a:endParaRPr lang="en-GB"/>
          </a:p>
        </p:txBody>
      </p:sp>
      <p:sp>
        <p:nvSpPr>
          <p:cNvPr id="4" name="Footer Placeholder 3">
            <a:extLst>
              <a:ext uri="{FF2B5EF4-FFF2-40B4-BE49-F238E27FC236}">
                <a16:creationId xmlns:a16="http://schemas.microsoft.com/office/drawing/2014/main" id="{398283D3-6708-7708-F1FE-DD8C80BC54D8}"/>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56975533-3D95-EBCD-229B-254303DAD6EF}"/>
              </a:ext>
            </a:extLst>
          </p:cNvPr>
          <p:cNvSpPr>
            <a:spLocks noGrp="1"/>
          </p:cNvSpPr>
          <p:nvPr>
            <p:ph type="sldNum" sz="quarter" idx="12"/>
          </p:nvPr>
        </p:nvSpPr>
        <p:spPr/>
        <p:txBody>
          <a:bodyPr/>
          <a:lstStyle/>
          <a:p>
            <a:fld id="{11F6ECA5-7E08-415A-A5BB-4883B899E998}" type="slidenum">
              <a:rPr lang="en-GB" smtClean="0"/>
              <a:t>‹#›</a:t>
            </a:fld>
            <a:endParaRPr lang="en-GB"/>
          </a:p>
        </p:txBody>
      </p:sp>
    </p:spTree>
    <p:extLst>
      <p:ext uri="{BB962C8B-B14F-4D97-AF65-F5344CB8AC3E}">
        <p14:creationId xmlns:p14="http://schemas.microsoft.com/office/powerpoint/2010/main" val="31568004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235B3B5-05C2-2F9E-3261-91283AEFA722}"/>
              </a:ext>
            </a:extLst>
          </p:cNvPr>
          <p:cNvSpPr>
            <a:spLocks noGrp="1"/>
          </p:cNvSpPr>
          <p:nvPr>
            <p:ph type="dt" sz="half" idx="10"/>
          </p:nvPr>
        </p:nvSpPr>
        <p:spPr/>
        <p:txBody>
          <a:bodyPr/>
          <a:lstStyle/>
          <a:p>
            <a:fld id="{4C45825E-71A0-474D-A187-C452677D68D6}" type="datetimeFigureOut">
              <a:rPr lang="en-GB" smtClean="0"/>
              <a:t>19/10/2026</a:t>
            </a:fld>
            <a:endParaRPr lang="en-GB"/>
          </a:p>
        </p:txBody>
      </p:sp>
      <p:sp>
        <p:nvSpPr>
          <p:cNvPr id="3" name="Footer Placeholder 2">
            <a:extLst>
              <a:ext uri="{FF2B5EF4-FFF2-40B4-BE49-F238E27FC236}">
                <a16:creationId xmlns:a16="http://schemas.microsoft.com/office/drawing/2014/main" id="{0F14A04D-9274-AF55-2B05-C1A25F594826}"/>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AED69B06-1F25-CC24-2452-7A896B5EE185}"/>
              </a:ext>
            </a:extLst>
          </p:cNvPr>
          <p:cNvSpPr>
            <a:spLocks noGrp="1"/>
          </p:cNvSpPr>
          <p:nvPr>
            <p:ph type="sldNum" sz="quarter" idx="12"/>
          </p:nvPr>
        </p:nvSpPr>
        <p:spPr/>
        <p:txBody>
          <a:bodyPr/>
          <a:lstStyle/>
          <a:p>
            <a:fld id="{11F6ECA5-7E08-415A-A5BB-4883B899E998}" type="slidenum">
              <a:rPr lang="en-GB" smtClean="0"/>
              <a:t>‹#›</a:t>
            </a:fld>
            <a:endParaRPr lang="en-GB"/>
          </a:p>
        </p:txBody>
      </p:sp>
    </p:spTree>
    <p:extLst>
      <p:ext uri="{BB962C8B-B14F-4D97-AF65-F5344CB8AC3E}">
        <p14:creationId xmlns:p14="http://schemas.microsoft.com/office/powerpoint/2010/main" val="8185540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FA6A49-BD1F-03C2-E77B-F794B5CA61F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1557CE6F-3849-6F31-DFAC-742FC75AE58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2A9CFE1E-F00E-773A-11AB-F53372B944B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88325F2-97D7-C471-A7D1-08BF6989F5A0}"/>
              </a:ext>
            </a:extLst>
          </p:cNvPr>
          <p:cNvSpPr>
            <a:spLocks noGrp="1"/>
          </p:cNvSpPr>
          <p:nvPr>
            <p:ph type="dt" sz="half" idx="10"/>
          </p:nvPr>
        </p:nvSpPr>
        <p:spPr/>
        <p:txBody>
          <a:bodyPr/>
          <a:lstStyle/>
          <a:p>
            <a:fld id="{4C45825E-71A0-474D-A187-C452677D68D6}" type="datetimeFigureOut">
              <a:rPr lang="en-GB" smtClean="0"/>
              <a:t>19/10/2026</a:t>
            </a:fld>
            <a:endParaRPr lang="en-GB"/>
          </a:p>
        </p:txBody>
      </p:sp>
      <p:sp>
        <p:nvSpPr>
          <p:cNvPr id="6" name="Footer Placeholder 5">
            <a:extLst>
              <a:ext uri="{FF2B5EF4-FFF2-40B4-BE49-F238E27FC236}">
                <a16:creationId xmlns:a16="http://schemas.microsoft.com/office/drawing/2014/main" id="{8AC5AA70-5B90-663B-7D21-9D3CDC312087}"/>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CF3AC07C-932A-C187-0051-198305CEFD80}"/>
              </a:ext>
            </a:extLst>
          </p:cNvPr>
          <p:cNvSpPr>
            <a:spLocks noGrp="1"/>
          </p:cNvSpPr>
          <p:nvPr>
            <p:ph type="sldNum" sz="quarter" idx="12"/>
          </p:nvPr>
        </p:nvSpPr>
        <p:spPr/>
        <p:txBody>
          <a:bodyPr/>
          <a:lstStyle/>
          <a:p>
            <a:fld id="{11F6ECA5-7E08-415A-A5BB-4883B899E998}" type="slidenum">
              <a:rPr lang="en-GB" smtClean="0"/>
              <a:t>‹#›</a:t>
            </a:fld>
            <a:endParaRPr lang="en-GB"/>
          </a:p>
        </p:txBody>
      </p:sp>
    </p:spTree>
    <p:extLst>
      <p:ext uri="{BB962C8B-B14F-4D97-AF65-F5344CB8AC3E}">
        <p14:creationId xmlns:p14="http://schemas.microsoft.com/office/powerpoint/2010/main" val="42465565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7BA54B-E20D-4E6D-F014-558F95AC5FE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7CCEE320-6639-AB55-AE09-F09AD2296D2E}"/>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5F879CC9-DE54-2542-78BF-5BE0E3F299E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AD3D56C-8908-E30B-54C6-7EC981E75FEE}"/>
              </a:ext>
            </a:extLst>
          </p:cNvPr>
          <p:cNvSpPr>
            <a:spLocks noGrp="1"/>
          </p:cNvSpPr>
          <p:nvPr>
            <p:ph type="dt" sz="half" idx="10"/>
          </p:nvPr>
        </p:nvSpPr>
        <p:spPr/>
        <p:txBody>
          <a:bodyPr/>
          <a:lstStyle/>
          <a:p>
            <a:fld id="{4C45825E-71A0-474D-A187-C452677D68D6}" type="datetimeFigureOut">
              <a:rPr lang="en-GB" smtClean="0"/>
              <a:t>19/10/2026</a:t>
            </a:fld>
            <a:endParaRPr lang="en-GB"/>
          </a:p>
        </p:txBody>
      </p:sp>
      <p:sp>
        <p:nvSpPr>
          <p:cNvPr id="6" name="Footer Placeholder 5">
            <a:extLst>
              <a:ext uri="{FF2B5EF4-FFF2-40B4-BE49-F238E27FC236}">
                <a16:creationId xmlns:a16="http://schemas.microsoft.com/office/drawing/2014/main" id="{2A73D3ED-ADCB-3FFA-8BD6-279BB3297613}"/>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22F6CE84-51F0-AA99-C71C-2E581CA107CB}"/>
              </a:ext>
            </a:extLst>
          </p:cNvPr>
          <p:cNvSpPr>
            <a:spLocks noGrp="1"/>
          </p:cNvSpPr>
          <p:nvPr>
            <p:ph type="sldNum" sz="quarter" idx="12"/>
          </p:nvPr>
        </p:nvSpPr>
        <p:spPr/>
        <p:txBody>
          <a:bodyPr/>
          <a:lstStyle/>
          <a:p>
            <a:fld id="{11F6ECA5-7E08-415A-A5BB-4883B899E998}" type="slidenum">
              <a:rPr lang="en-GB" smtClean="0"/>
              <a:t>‹#›</a:t>
            </a:fld>
            <a:endParaRPr lang="en-GB"/>
          </a:p>
        </p:txBody>
      </p:sp>
    </p:spTree>
    <p:extLst>
      <p:ext uri="{BB962C8B-B14F-4D97-AF65-F5344CB8AC3E}">
        <p14:creationId xmlns:p14="http://schemas.microsoft.com/office/powerpoint/2010/main" val="18407213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0B37F5-C805-E310-4C2C-F7C9BD99577F}"/>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BC3780A1-23F7-B936-F013-64B0BB5DB44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F0F135E6-D6EA-FF57-2D15-88806DED07DF}"/>
              </a:ext>
            </a:extLst>
          </p:cNvPr>
          <p:cNvSpPr>
            <a:spLocks noGrp="1"/>
          </p:cNvSpPr>
          <p:nvPr>
            <p:ph type="dt" sz="half" idx="10"/>
          </p:nvPr>
        </p:nvSpPr>
        <p:spPr/>
        <p:txBody>
          <a:bodyPr/>
          <a:lstStyle/>
          <a:p>
            <a:fld id="{4C45825E-71A0-474D-A187-C452677D68D6}" type="datetimeFigureOut">
              <a:rPr lang="en-GB" smtClean="0"/>
              <a:t>19/10/2026</a:t>
            </a:fld>
            <a:endParaRPr lang="en-GB"/>
          </a:p>
        </p:txBody>
      </p:sp>
      <p:sp>
        <p:nvSpPr>
          <p:cNvPr id="5" name="Footer Placeholder 4">
            <a:extLst>
              <a:ext uri="{FF2B5EF4-FFF2-40B4-BE49-F238E27FC236}">
                <a16:creationId xmlns:a16="http://schemas.microsoft.com/office/drawing/2014/main" id="{5E2742F8-A237-1C95-A560-D0C6AE3CC985}"/>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601B6FDB-8032-23A9-2BA2-12DA6662C0E9}"/>
              </a:ext>
            </a:extLst>
          </p:cNvPr>
          <p:cNvSpPr>
            <a:spLocks noGrp="1"/>
          </p:cNvSpPr>
          <p:nvPr>
            <p:ph type="sldNum" sz="quarter" idx="12"/>
          </p:nvPr>
        </p:nvSpPr>
        <p:spPr/>
        <p:txBody>
          <a:bodyPr/>
          <a:lstStyle/>
          <a:p>
            <a:fld id="{11F6ECA5-7E08-415A-A5BB-4883B899E998}" type="slidenum">
              <a:rPr lang="en-GB" smtClean="0"/>
              <a:t>‹#›</a:t>
            </a:fld>
            <a:endParaRPr lang="en-GB"/>
          </a:p>
        </p:txBody>
      </p:sp>
    </p:spTree>
    <p:extLst>
      <p:ext uri="{BB962C8B-B14F-4D97-AF65-F5344CB8AC3E}">
        <p14:creationId xmlns:p14="http://schemas.microsoft.com/office/powerpoint/2010/main" val="260160400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183AD67-D2F7-B4CA-1C9E-9E6ADC20E53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A2B9EF92-687D-9E1D-3764-4646AC201C9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6899E178-1302-879E-7E66-A8607C4F7929}"/>
              </a:ext>
            </a:extLst>
          </p:cNvPr>
          <p:cNvSpPr>
            <a:spLocks noGrp="1"/>
          </p:cNvSpPr>
          <p:nvPr>
            <p:ph type="dt" sz="half" idx="10"/>
          </p:nvPr>
        </p:nvSpPr>
        <p:spPr/>
        <p:txBody>
          <a:bodyPr/>
          <a:lstStyle/>
          <a:p>
            <a:fld id="{4C45825E-71A0-474D-A187-C452677D68D6}" type="datetimeFigureOut">
              <a:rPr lang="en-GB" smtClean="0"/>
              <a:t>19/10/2026</a:t>
            </a:fld>
            <a:endParaRPr lang="en-GB"/>
          </a:p>
        </p:txBody>
      </p:sp>
      <p:sp>
        <p:nvSpPr>
          <p:cNvPr id="5" name="Footer Placeholder 4">
            <a:extLst>
              <a:ext uri="{FF2B5EF4-FFF2-40B4-BE49-F238E27FC236}">
                <a16:creationId xmlns:a16="http://schemas.microsoft.com/office/drawing/2014/main" id="{E3F57A02-C366-EB34-5ED4-828B16193D6D}"/>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262005F1-888C-94E1-713B-551D6E9A4FD7}"/>
              </a:ext>
            </a:extLst>
          </p:cNvPr>
          <p:cNvSpPr>
            <a:spLocks noGrp="1"/>
          </p:cNvSpPr>
          <p:nvPr>
            <p:ph type="sldNum" sz="quarter" idx="12"/>
          </p:nvPr>
        </p:nvSpPr>
        <p:spPr/>
        <p:txBody>
          <a:bodyPr/>
          <a:lstStyle/>
          <a:p>
            <a:fld id="{11F6ECA5-7E08-415A-A5BB-4883B899E998}" type="slidenum">
              <a:rPr lang="en-GB" smtClean="0"/>
              <a:t>‹#›</a:t>
            </a:fld>
            <a:endParaRPr lang="en-GB"/>
          </a:p>
        </p:txBody>
      </p:sp>
    </p:spTree>
    <p:extLst>
      <p:ext uri="{BB962C8B-B14F-4D97-AF65-F5344CB8AC3E}">
        <p14:creationId xmlns:p14="http://schemas.microsoft.com/office/powerpoint/2010/main" val="139003092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TEAL">
    <p:bg>
      <p:bgPr>
        <a:solidFill>
          <a:srgbClr val="0F7F7F"/>
        </a:solidFill>
        <a:effectLst/>
      </p:bgPr>
    </p:bg>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731520" y="1706880"/>
            <a:ext cx="10728960" cy="609600"/>
          </a:xfrm>
          <a:prstGeom prst="rect">
            <a:avLst/>
          </a:prstGeom>
          <a:noFill/>
          <a:ln/>
        </p:spPr>
        <p:txBody>
          <a:bodyPr wrap="square" rtlCol="0"/>
          <a:lstStyle>
            <a:lvl1pPr marL="0" indent="0" algn="l">
              <a:buNone/>
              <a:defRPr lang="en-US" sz="2133" dirty="0">
                <a:solidFill>
                  <a:srgbClr val="B5DEDE"/>
                </a:solidFill>
              </a:defRPr>
            </a:lvl1pPr>
          </a:lstStyle>
          <a:p>
            <a:pPr marL="0" indent="0" algn="l">
              <a:buNone/>
            </a:pPr>
            <a:endParaRPr lang="en-US" sz="2133" dirty="0"/>
          </a:p>
        </p:txBody>
      </p:sp>
      <p:sp>
        <p:nvSpPr>
          <p:cNvPr id="3" name="Text 0"/>
          <p:cNvSpPr>
            <a:spLocks noGrp="1"/>
          </p:cNvSpPr>
          <p:nvPr>
            <p:ph type="title" idx="101" hasCustomPrompt="1"/>
          </p:nvPr>
        </p:nvSpPr>
        <p:spPr>
          <a:xfrm>
            <a:off x="731520" y="2316480"/>
            <a:ext cx="10728960" cy="2194560"/>
          </a:xfrm>
          <a:prstGeom prst="rect">
            <a:avLst/>
          </a:prstGeom>
          <a:noFill/>
          <a:ln/>
        </p:spPr>
        <p:txBody>
          <a:bodyPr wrap="square" rtlCol="0"/>
          <a:lstStyle>
            <a:lvl1pPr marL="0" indent="0" algn="l">
              <a:buNone/>
              <a:defRPr lang="en-US" sz="4533" b="1" dirty="0">
                <a:solidFill>
                  <a:schemeClr val="bg1"/>
                </a:solidFill>
              </a:defRPr>
            </a:lvl1pPr>
          </a:lstStyle>
          <a:p>
            <a:pPr marL="0" indent="0" algn="l">
              <a:buNone/>
            </a:pPr>
            <a:endParaRPr lang="en-US" sz="4533" dirty="0"/>
          </a:p>
        </p:txBody>
      </p:sp>
      <p:sp>
        <p:nvSpPr>
          <p:cNvPr id="4" name="Text 0"/>
          <p:cNvSpPr>
            <a:spLocks noGrp="1"/>
          </p:cNvSpPr>
          <p:nvPr>
            <p:ph type="body" idx="102" hasCustomPrompt="1"/>
          </p:nvPr>
        </p:nvSpPr>
        <p:spPr>
          <a:xfrm>
            <a:off x="731520" y="4754880"/>
            <a:ext cx="10728960" cy="1097280"/>
          </a:xfrm>
          <a:prstGeom prst="rect">
            <a:avLst/>
          </a:prstGeom>
          <a:noFill/>
          <a:ln/>
        </p:spPr>
        <p:txBody>
          <a:bodyPr wrap="square" rtlCol="0"/>
          <a:lstStyle>
            <a:lvl1pPr marL="0" indent="0" algn="l">
              <a:buNone/>
              <a:defRPr lang="en-US" sz="2267" dirty="0">
                <a:solidFill>
                  <a:srgbClr val="E6F2F2"/>
                </a:solidFill>
              </a:defRPr>
            </a:lvl1pPr>
          </a:lstStyle>
          <a:p>
            <a:pPr marL="0" indent="0" algn="l">
              <a:buNone/>
            </a:pPr>
            <a:endParaRPr lang="en-US" sz="2267" dirty="0"/>
          </a:p>
        </p:txBody>
      </p:sp>
    </p:spTree>
    <p:extLst>
      <p:ext uri="{BB962C8B-B14F-4D97-AF65-F5344CB8AC3E}">
        <p14:creationId xmlns:p14="http://schemas.microsoft.com/office/powerpoint/2010/main" val="65352604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CONTENT">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09600" y="426720"/>
            <a:ext cx="10972800" cy="914400"/>
          </a:xfrm>
          <a:prstGeom prst="rect">
            <a:avLst/>
          </a:prstGeom>
          <a:noFill/>
          <a:ln/>
        </p:spPr>
        <p:txBody>
          <a:bodyPr wrap="square" rtlCol="0"/>
          <a:lstStyle>
            <a:lvl1pPr marL="0" indent="0" algn="l">
              <a:buNone/>
              <a:defRPr lang="en-US" sz="3467" b="1" dirty="0">
                <a:solidFill>
                  <a:schemeClr val="tx1"/>
                </a:solidFill>
              </a:defRPr>
            </a:lvl1pPr>
          </a:lstStyle>
          <a:p>
            <a:pPr marL="0" indent="0" algn="l">
              <a:buNone/>
            </a:pPr>
            <a:endParaRPr lang="en-US" sz="3467" dirty="0"/>
          </a:p>
        </p:txBody>
      </p:sp>
      <p:sp>
        <p:nvSpPr>
          <p:cNvPr id="3" name="Text 0"/>
          <p:cNvSpPr txBox="1"/>
          <p:nvPr/>
        </p:nvSpPr>
        <p:spPr>
          <a:xfrm>
            <a:off x="609600" y="6339840"/>
            <a:ext cx="7315200" cy="365760"/>
          </a:xfrm>
          <a:prstGeom prst="rect">
            <a:avLst/>
          </a:prstGeom>
          <a:noFill/>
          <a:ln/>
        </p:spPr>
        <p:txBody>
          <a:bodyPr wrap="square" lIns="0" tIns="0" rIns="0" bIns="0" rtlCol="0" anchor="ctr"/>
          <a:lstStyle/>
          <a:p>
            <a:pPr marL="0" indent="0">
              <a:buNone/>
            </a:pPr>
            <a:r>
              <a:rPr lang="en-US" sz="1200" dirty="0">
                <a:solidFill>
                  <a:srgbClr val="6B6B6B"/>
                </a:solidFill>
              </a:rPr>
              <a:t>Monte Carlo Analysis · Social Science Simulations · University of Tartu</a:t>
            </a:r>
            <a:endParaRPr lang="en-US" sz="1200" dirty="0"/>
          </a:p>
        </p:txBody>
      </p:sp>
      <p:sp>
        <p:nvSpPr>
          <p:cNvPr id="25" name="Slide Number Placeholder 0"/>
          <p:cNvSpPr>
            <a:spLocks noGrp="1"/>
          </p:cNvSpPr>
          <p:nvPr>
            <p:ph type="sldNum" sz="quarter" idx="4294967295"/>
          </p:nvPr>
        </p:nvSpPr>
        <p:spPr>
          <a:xfrm>
            <a:off x="10972800" y="6339840"/>
            <a:ext cx="609600" cy="365760"/>
          </a:xfrm>
          <a:prstGeom prst="rect">
            <a:avLst/>
          </a:prstGeom>
          <a:extLst>
            <a:ext uri="{C572A759-6A51-4108-AA02-DFA0A04FC94B}">
              <ma14:wrappingTextBoxFlag xmlns="" xmlns:ma14="http://schemas.microsoft.com/office/mac/drawingml/2011/main" val="0"/>
            </a:ext>
          </a:extLst>
        </p:spPr>
        <p:txBody>
          <a:bodyPr/>
          <a:lstStyle>
            <a:lvl1pPr>
              <a:defRPr sz="1200">
                <a:solidFill>
                  <a:srgbClr val="6B6B6B"/>
                </a:solidFill>
              </a:defRPr>
            </a:lvl1pPr>
          </a:lstStyle>
          <a:p>
            <a:pPr algn="r"/>
            <a:fld id="{F7021451-1387-4CA6-816F-3879F97B5CBC}" type="slidenum">
              <a:rPr lang="en-US" b="0"/>
              <a:t>‹#›</a:t>
            </a:fld>
            <a:endParaRPr lang="en-US"/>
          </a:p>
        </p:txBody>
      </p:sp>
    </p:spTree>
    <p:extLst>
      <p:ext uri="{BB962C8B-B14F-4D97-AF65-F5344CB8AC3E}">
        <p14:creationId xmlns:p14="http://schemas.microsoft.com/office/powerpoint/2010/main" val="13507805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B2F7728-58BB-4E9E-1D2A-25727A735F8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CC0D1A8A-4E21-D355-0DF7-A8CDCDF119A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6DB14DBE-8EDF-C661-A3E1-FCBDFCFDA27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C45825E-71A0-474D-A187-C452677D68D6}" type="datetimeFigureOut">
              <a:rPr lang="en-GB" smtClean="0"/>
              <a:t>19/10/2026</a:t>
            </a:fld>
            <a:endParaRPr lang="en-GB"/>
          </a:p>
        </p:txBody>
      </p:sp>
      <p:sp>
        <p:nvSpPr>
          <p:cNvPr id="5" name="Footer Placeholder 4">
            <a:extLst>
              <a:ext uri="{FF2B5EF4-FFF2-40B4-BE49-F238E27FC236}">
                <a16:creationId xmlns:a16="http://schemas.microsoft.com/office/drawing/2014/main" id="{AFF61E42-D7A6-C3D4-10A5-C53ADC4ED79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a:extLst>
              <a:ext uri="{FF2B5EF4-FFF2-40B4-BE49-F238E27FC236}">
                <a16:creationId xmlns:a16="http://schemas.microsoft.com/office/drawing/2014/main" id="{FE725FDF-7888-98C6-7790-2B45B97E3D5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1F6ECA5-7E08-415A-A5BB-4883B899E998}" type="slidenum">
              <a:rPr lang="en-GB" smtClean="0"/>
              <a:t>‹#›</a:t>
            </a:fld>
            <a:endParaRPr lang="en-GB"/>
          </a:p>
        </p:txBody>
      </p:sp>
    </p:spTree>
    <p:extLst>
      <p:ext uri="{BB962C8B-B14F-4D97-AF65-F5344CB8AC3E}">
        <p14:creationId xmlns:p14="http://schemas.microsoft.com/office/powerpoint/2010/main" val="109356716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3.xml"/><Relationship Id="rId4" Type="http://schemas.openxmlformats.org/officeDocument/2006/relationships/image" Target="../media/image3.jpeg"/></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3.xml"/><Relationship Id="rId4" Type="http://schemas.openxmlformats.org/officeDocument/2006/relationships/image" Target="../media/image5.jpe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8.xml"/><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2.xml"/><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3.xml"/><Relationship Id="rId1" Type="http://schemas.openxmlformats.org/officeDocument/2006/relationships/slideLayout" Target="../slideLayouts/slideLayout13.xml"/><Relationship Id="rId4" Type="http://schemas.openxmlformats.org/officeDocument/2006/relationships/image" Target="../media/image12.jpe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8.xml"/><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4.xml"/><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38.xml"/><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9.xml"/><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40.xml"/><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3.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3.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3.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3.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3.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731520" y="1706880"/>
            <a:ext cx="10728960" cy="609600"/>
          </a:xfrm>
          <a:prstGeom prst="rect">
            <a:avLst/>
          </a:prstGeom>
          <a:noFill/>
          <a:ln/>
        </p:spPr>
        <p:txBody>
          <a:bodyPr vert="horz" wrap="square" lIns="0" tIns="0" rIns="0" bIns="0" rtlCol="0">
            <a:normAutofit/>
          </a:bodyPr>
          <a:lstStyle/>
          <a:p>
            <a:r>
              <a:rPr lang="en-US" dirty="0"/>
              <a:t>Social Science Simulations (SVUH.00.300) · Seminar 6</a:t>
            </a:r>
          </a:p>
        </p:txBody>
      </p:sp>
      <p:sp>
        <p:nvSpPr>
          <p:cNvPr id="3" name="Text 0"/>
          <p:cNvSpPr>
            <a:spLocks noGrp="1"/>
          </p:cNvSpPr>
          <p:nvPr>
            <p:ph type="title" idx="101" hasCustomPrompt="1"/>
          </p:nvPr>
        </p:nvSpPr>
        <p:spPr>
          <a:xfrm>
            <a:off x="731520" y="2316480"/>
            <a:ext cx="10728960" cy="2194560"/>
          </a:xfrm>
          <a:prstGeom prst="rect">
            <a:avLst/>
          </a:prstGeom>
          <a:noFill/>
          <a:ln/>
        </p:spPr>
        <p:txBody>
          <a:bodyPr vert="horz" wrap="square" lIns="0" tIns="0" rIns="0" bIns="0" rtlCol="0" anchor="ctr">
            <a:normAutofit/>
          </a:bodyPr>
          <a:lstStyle/>
          <a:p>
            <a:r>
              <a:rPr lang="en-US" dirty="0"/>
              <a:t>Monte Carlo Analysis and Python-based Simulations</a:t>
            </a:r>
          </a:p>
        </p:txBody>
      </p:sp>
      <p:sp>
        <p:nvSpPr>
          <p:cNvPr id="4" name="Text 0"/>
          <p:cNvSpPr>
            <a:spLocks noGrp="1"/>
          </p:cNvSpPr>
          <p:nvPr>
            <p:ph type="body" idx="102" hasCustomPrompt="1"/>
          </p:nvPr>
        </p:nvSpPr>
        <p:spPr>
          <a:xfrm>
            <a:off x="731520" y="4754880"/>
            <a:ext cx="10728960" cy="1097280"/>
          </a:xfrm>
          <a:prstGeom prst="rect">
            <a:avLst/>
          </a:prstGeom>
          <a:noFill/>
          <a:ln/>
        </p:spPr>
        <p:txBody>
          <a:bodyPr vert="horz" wrap="square" lIns="0" tIns="0" rIns="0" bIns="0" rtlCol="0">
            <a:normAutofit/>
          </a:bodyPr>
          <a:lstStyle/>
          <a:p>
            <a:r>
              <a:rPr lang="en-US" dirty="0"/>
              <a:t>Kishor Acharya · Institute of Social Studies, University of Tartu</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09600" y="426720"/>
            <a:ext cx="10972800" cy="914400"/>
          </a:xfrm>
          <a:prstGeom prst="rect">
            <a:avLst/>
          </a:prstGeom>
          <a:noFill/>
          <a:ln/>
        </p:spPr>
        <p:txBody>
          <a:bodyPr vert="horz" wrap="square" lIns="0" tIns="0" rIns="0" bIns="0" rtlCol="0" anchor="ctr">
            <a:normAutofit/>
          </a:bodyPr>
          <a:lstStyle/>
          <a:p>
            <a:r>
              <a:rPr lang="en-US" dirty="0"/>
              <a:t>Three questions that are hard with pen and paper</a:t>
            </a:r>
          </a:p>
        </p:txBody>
      </p:sp>
      <p:sp>
        <p:nvSpPr>
          <p:cNvPr id="3" name="Shape 1"/>
          <p:cNvSpPr/>
          <p:nvPr/>
        </p:nvSpPr>
        <p:spPr>
          <a:xfrm>
            <a:off x="609600" y="1584960"/>
            <a:ext cx="3535680" cy="4023360"/>
          </a:xfrm>
          <a:prstGeom prst="roundRect">
            <a:avLst>
              <a:gd name="adj" fmla="val 3448"/>
            </a:avLst>
          </a:prstGeom>
          <a:solidFill>
            <a:srgbClr val="E6F2F2"/>
          </a:solidFill>
          <a:ln w="12700">
            <a:solidFill>
              <a:srgbClr val="E6F2F2"/>
            </a:solidFill>
            <a:prstDash val="solid"/>
          </a:ln>
        </p:spPr>
        <p:txBody>
          <a:bodyPr/>
          <a:lstStyle/>
          <a:p>
            <a:endParaRPr lang="en-GB" sz="2400"/>
          </a:p>
        </p:txBody>
      </p:sp>
      <p:sp>
        <p:nvSpPr>
          <p:cNvPr id="4" name="Text 2"/>
          <p:cNvSpPr txBox="1"/>
          <p:nvPr/>
        </p:nvSpPr>
        <p:spPr>
          <a:xfrm>
            <a:off x="853440" y="1767840"/>
            <a:ext cx="3048000" cy="487680"/>
          </a:xfrm>
          <a:prstGeom prst="rect">
            <a:avLst/>
          </a:prstGeom>
          <a:noFill/>
          <a:ln/>
        </p:spPr>
        <p:txBody>
          <a:bodyPr wrap="square" lIns="0" tIns="0" rIns="0" bIns="0" rtlCol="0" anchor="ctr"/>
          <a:lstStyle/>
          <a:p>
            <a:r>
              <a:rPr lang="en-US" sz="2000" b="1" dirty="0">
                <a:solidFill>
                  <a:srgbClr val="0A5C5C"/>
                </a:solidFill>
              </a:rPr>
              <a:t>A referendum</a:t>
            </a:r>
            <a:endParaRPr lang="en-US" sz="2000" dirty="0"/>
          </a:p>
        </p:txBody>
      </p:sp>
      <p:sp>
        <p:nvSpPr>
          <p:cNvPr id="5" name="Text 3"/>
          <p:cNvSpPr txBox="1"/>
          <p:nvPr/>
        </p:nvSpPr>
        <p:spPr>
          <a:xfrm>
            <a:off x="853440" y="2316480"/>
            <a:ext cx="3048000" cy="3108960"/>
          </a:xfrm>
          <a:prstGeom prst="rect">
            <a:avLst/>
          </a:prstGeom>
          <a:noFill/>
          <a:ln/>
        </p:spPr>
        <p:txBody>
          <a:bodyPr wrap="square" lIns="0" tIns="0" rIns="0" bIns="0" rtlCol="0" anchor="t"/>
          <a:lstStyle/>
          <a:p>
            <a:r>
              <a:rPr lang="en-US" sz="1733" dirty="0">
                <a:solidFill>
                  <a:srgbClr val="3D3D3D"/>
                </a:solidFill>
              </a:rPr>
              <a:t>Polls say 52% yes, but polls are never exact and turnout is uncertain. How likely is it to pass?</a:t>
            </a:r>
            <a:endParaRPr lang="en-US" sz="1733" dirty="0"/>
          </a:p>
        </p:txBody>
      </p:sp>
      <p:sp>
        <p:nvSpPr>
          <p:cNvPr id="6" name="Shape 4"/>
          <p:cNvSpPr/>
          <p:nvPr/>
        </p:nvSpPr>
        <p:spPr>
          <a:xfrm>
            <a:off x="4328160" y="1584960"/>
            <a:ext cx="3535680" cy="4023360"/>
          </a:xfrm>
          <a:prstGeom prst="roundRect">
            <a:avLst>
              <a:gd name="adj" fmla="val 3448"/>
            </a:avLst>
          </a:prstGeom>
          <a:solidFill>
            <a:srgbClr val="FBEBDD"/>
          </a:solidFill>
          <a:ln w="12700">
            <a:solidFill>
              <a:srgbClr val="FBEBDD"/>
            </a:solidFill>
            <a:prstDash val="solid"/>
          </a:ln>
        </p:spPr>
        <p:txBody>
          <a:bodyPr/>
          <a:lstStyle/>
          <a:p>
            <a:endParaRPr lang="en-GB" sz="2400"/>
          </a:p>
        </p:txBody>
      </p:sp>
      <p:sp>
        <p:nvSpPr>
          <p:cNvPr id="7" name="Text 5"/>
          <p:cNvSpPr txBox="1"/>
          <p:nvPr/>
        </p:nvSpPr>
        <p:spPr>
          <a:xfrm>
            <a:off x="4572000" y="1767840"/>
            <a:ext cx="3048000" cy="487680"/>
          </a:xfrm>
          <a:prstGeom prst="rect">
            <a:avLst/>
          </a:prstGeom>
          <a:noFill/>
          <a:ln/>
        </p:spPr>
        <p:txBody>
          <a:bodyPr wrap="square" lIns="0" tIns="0" rIns="0" bIns="0" rtlCol="0" anchor="ctr"/>
          <a:lstStyle/>
          <a:p>
            <a:r>
              <a:rPr lang="en-US" sz="2000" b="1" dirty="0">
                <a:solidFill>
                  <a:srgbClr val="7A4A1E"/>
                </a:solidFill>
              </a:rPr>
              <a:t>A survey</a:t>
            </a:r>
            <a:endParaRPr lang="en-US" sz="2000" dirty="0"/>
          </a:p>
        </p:txBody>
      </p:sp>
      <p:sp>
        <p:nvSpPr>
          <p:cNvPr id="8" name="Text 6"/>
          <p:cNvSpPr txBox="1"/>
          <p:nvPr/>
        </p:nvSpPr>
        <p:spPr>
          <a:xfrm>
            <a:off x="4572000" y="2316480"/>
            <a:ext cx="3048000" cy="3108960"/>
          </a:xfrm>
          <a:prstGeom prst="rect">
            <a:avLst/>
          </a:prstGeom>
          <a:noFill/>
          <a:ln/>
        </p:spPr>
        <p:txBody>
          <a:bodyPr wrap="square" lIns="0" tIns="0" rIns="0" bIns="0" rtlCol="0" anchor="t"/>
          <a:lstStyle/>
          <a:p>
            <a:r>
              <a:rPr lang="en-US" sz="1733" dirty="0">
                <a:solidFill>
                  <a:srgbClr val="3D3D3D"/>
                </a:solidFill>
              </a:rPr>
              <a:t>You expect a modest difference between two groups. How many people must you interview to detect it?</a:t>
            </a:r>
            <a:endParaRPr lang="en-US" sz="1733" dirty="0"/>
          </a:p>
        </p:txBody>
      </p:sp>
      <p:sp>
        <p:nvSpPr>
          <p:cNvPr id="9" name="Shape 7"/>
          <p:cNvSpPr/>
          <p:nvPr/>
        </p:nvSpPr>
        <p:spPr>
          <a:xfrm>
            <a:off x="8046720" y="1584960"/>
            <a:ext cx="3535680" cy="4023360"/>
          </a:xfrm>
          <a:prstGeom prst="roundRect">
            <a:avLst>
              <a:gd name="adj" fmla="val 3448"/>
            </a:avLst>
          </a:prstGeom>
          <a:solidFill>
            <a:srgbClr val="FAECE7"/>
          </a:solidFill>
          <a:ln w="12700">
            <a:solidFill>
              <a:srgbClr val="FAECE7"/>
            </a:solidFill>
            <a:prstDash val="solid"/>
          </a:ln>
        </p:spPr>
        <p:txBody>
          <a:bodyPr/>
          <a:lstStyle/>
          <a:p>
            <a:endParaRPr lang="en-GB" sz="2400"/>
          </a:p>
        </p:txBody>
      </p:sp>
      <p:sp>
        <p:nvSpPr>
          <p:cNvPr id="10" name="Text 8"/>
          <p:cNvSpPr txBox="1"/>
          <p:nvPr/>
        </p:nvSpPr>
        <p:spPr>
          <a:xfrm>
            <a:off x="8290560" y="1767840"/>
            <a:ext cx="3048000" cy="487680"/>
          </a:xfrm>
          <a:prstGeom prst="rect">
            <a:avLst/>
          </a:prstGeom>
          <a:noFill/>
          <a:ln/>
        </p:spPr>
        <p:txBody>
          <a:bodyPr wrap="square" lIns="0" tIns="0" rIns="0" bIns="0" rtlCol="0" anchor="ctr"/>
          <a:lstStyle/>
          <a:p>
            <a:r>
              <a:rPr lang="en-US" sz="2000" b="1" dirty="0">
                <a:solidFill>
                  <a:srgbClr val="712B13"/>
                </a:solidFill>
              </a:rPr>
              <a:t>A city</a:t>
            </a:r>
            <a:endParaRPr lang="en-US" sz="2000" dirty="0"/>
          </a:p>
        </p:txBody>
      </p:sp>
      <p:sp>
        <p:nvSpPr>
          <p:cNvPr id="11" name="Text 9"/>
          <p:cNvSpPr txBox="1"/>
          <p:nvPr/>
        </p:nvSpPr>
        <p:spPr>
          <a:xfrm>
            <a:off x="8290560" y="2316480"/>
            <a:ext cx="3048000" cy="3108960"/>
          </a:xfrm>
          <a:prstGeom prst="rect">
            <a:avLst/>
          </a:prstGeom>
          <a:noFill/>
          <a:ln/>
        </p:spPr>
        <p:txBody>
          <a:bodyPr wrap="square" lIns="0" tIns="0" rIns="0" bIns="0" rtlCol="0" anchor="t"/>
          <a:lstStyle/>
          <a:p>
            <a:r>
              <a:rPr lang="en-US" sz="1733" dirty="0">
                <a:solidFill>
                  <a:srgbClr val="3D3D3D"/>
                </a:solidFill>
              </a:rPr>
              <a:t>Each resident has only a mild preference for similar neighbours. Does the city become segregated?</a:t>
            </a:r>
            <a:endParaRPr lang="en-US" sz="1733" dirty="0"/>
          </a:p>
        </p:txBody>
      </p:sp>
      <p:sp>
        <p:nvSpPr>
          <p:cNvPr id="25" name="Slide Number Placeholder 0"/>
          <p:cNvSpPr>
            <a:spLocks noGrp="1"/>
          </p:cNvSpPr>
          <p:nvPr>
            <p:ph type="sldNum" sz="quarter" idx="4294967295"/>
          </p:nvPr>
        </p:nvSpPr>
        <p:spPr>
          <a:xfrm>
            <a:off x="10972800" y="6339840"/>
            <a:ext cx="609600" cy="365760"/>
          </a:xfrm>
          <a:prstGeom prst="rect">
            <a:avLst/>
          </a:prstGeom>
          <a:extLst>
            <a:ext uri="{C572A759-6A51-4108-AA02-DFA0A04FC94B}">
              <ma14:wrappingTextBoxFlag xmlns="" xmlns:ma14="http://schemas.microsoft.com/office/mac/drawingml/2011/main" val="0"/>
            </a:ext>
          </a:extLst>
        </p:spPr>
        <p:txBody>
          <a:bodyPr/>
          <a:lstStyle>
            <a:lvl1pPr>
              <a:defRPr sz="1200">
                <a:solidFill>
                  <a:srgbClr val="6B6B6B"/>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09600" y="426720"/>
            <a:ext cx="10972800" cy="914400"/>
          </a:xfrm>
          <a:prstGeom prst="rect">
            <a:avLst/>
          </a:prstGeom>
          <a:noFill/>
          <a:ln/>
        </p:spPr>
        <p:txBody>
          <a:bodyPr vert="horz" wrap="square" lIns="0" tIns="0" rIns="0" bIns="0" rtlCol="0" anchor="ctr">
            <a:normAutofit/>
          </a:bodyPr>
          <a:lstStyle/>
          <a:p>
            <a:r>
              <a:rPr lang="en-US" dirty="0"/>
              <a:t>Today: a ladder of six stops, and two tabs to keep open</a:t>
            </a:r>
          </a:p>
        </p:txBody>
      </p:sp>
      <p:sp>
        <p:nvSpPr>
          <p:cNvPr id="3" name="Shape 1"/>
          <p:cNvSpPr/>
          <p:nvPr/>
        </p:nvSpPr>
        <p:spPr>
          <a:xfrm>
            <a:off x="609600" y="1706880"/>
            <a:ext cx="670560" cy="670560"/>
          </a:xfrm>
          <a:prstGeom prst="ellipse">
            <a:avLst/>
          </a:prstGeom>
          <a:solidFill>
            <a:srgbClr val="0F7F7F"/>
          </a:solidFill>
          <a:ln w="12700">
            <a:solidFill>
              <a:srgbClr val="0F7F7F"/>
            </a:solidFill>
            <a:prstDash val="solid"/>
          </a:ln>
        </p:spPr>
        <p:txBody>
          <a:bodyPr/>
          <a:lstStyle/>
          <a:p>
            <a:endParaRPr lang="en-GB" sz="2400"/>
          </a:p>
        </p:txBody>
      </p:sp>
      <p:sp>
        <p:nvSpPr>
          <p:cNvPr id="4" name="Text 2"/>
          <p:cNvSpPr txBox="1"/>
          <p:nvPr/>
        </p:nvSpPr>
        <p:spPr>
          <a:xfrm>
            <a:off x="609600" y="1706880"/>
            <a:ext cx="670560" cy="670560"/>
          </a:xfrm>
          <a:prstGeom prst="rect">
            <a:avLst/>
          </a:prstGeom>
          <a:noFill/>
          <a:ln/>
        </p:spPr>
        <p:txBody>
          <a:bodyPr wrap="square" lIns="0" tIns="0" rIns="0" bIns="0" rtlCol="0" anchor="ctr"/>
          <a:lstStyle/>
          <a:p>
            <a:pPr algn="ctr"/>
            <a:r>
              <a:rPr lang="en-US" sz="2133" b="1" dirty="0">
                <a:solidFill>
                  <a:srgbClr val="FFFFFF"/>
                </a:solidFill>
              </a:rPr>
              <a:t>1</a:t>
            </a:r>
            <a:endParaRPr lang="en-US" sz="2133" dirty="0"/>
          </a:p>
        </p:txBody>
      </p:sp>
      <p:sp>
        <p:nvSpPr>
          <p:cNvPr id="5" name="Text 3"/>
          <p:cNvSpPr txBox="1"/>
          <p:nvPr/>
        </p:nvSpPr>
        <p:spPr>
          <a:xfrm>
            <a:off x="1463040" y="1524000"/>
            <a:ext cx="2926080" cy="1036320"/>
          </a:xfrm>
          <a:prstGeom prst="rect">
            <a:avLst/>
          </a:prstGeom>
          <a:noFill/>
          <a:ln/>
        </p:spPr>
        <p:txBody>
          <a:bodyPr wrap="square" lIns="0" tIns="0" rIns="0" bIns="0" rtlCol="0" anchor="ctr"/>
          <a:lstStyle/>
          <a:p>
            <a:r>
              <a:rPr lang="en-US" sz="1867" b="1" dirty="0">
                <a:solidFill>
                  <a:srgbClr val="0A5C5C"/>
                </a:solidFill>
              </a:rPr>
              <a:t>Two dice
</a:t>
            </a:r>
            <a:r>
              <a:rPr lang="en-US" sz="1467" dirty="0">
                <a:solidFill>
                  <a:srgbClr val="6B6B6B"/>
                </a:solidFill>
              </a:rPr>
              <a:t>estimate a probability by counting</a:t>
            </a:r>
            <a:endParaRPr lang="en-US" sz="1867" dirty="0"/>
          </a:p>
        </p:txBody>
      </p:sp>
      <p:sp>
        <p:nvSpPr>
          <p:cNvPr id="6" name="Shape 4"/>
          <p:cNvSpPr/>
          <p:nvPr/>
        </p:nvSpPr>
        <p:spPr>
          <a:xfrm>
            <a:off x="4511040" y="1706880"/>
            <a:ext cx="670560" cy="670560"/>
          </a:xfrm>
          <a:prstGeom prst="ellipse">
            <a:avLst/>
          </a:prstGeom>
          <a:solidFill>
            <a:srgbClr val="0F7F7F"/>
          </a:solidFill>
          <a:ln w="12700">
            <a:solidFill>
              <a:srgbClr val="0F7F7F"/>
            </a:solidFill>
            <a:prstDash val="solid"/>
          </a:ln>
        </p:spPr>
        <p:txBody>
          <a:bodyPr/>
          <a:lstStyle/>
          <a:p>
            <a:endParaRPr lang="en-GB" sz="2400"/>
          </a:p>
        </p:txBody>
      </p:sp>
      <p:sp>
        <p:nvSpPr>
          <p:cNvPr id="7" name="Text 5"/>
          <p:cNvSpPr txBox="1"/>
          <p:nvPr/>
        </p:nvSpPr>
        <p:spPr>
          <a:xfrm>
            <a:off x="4511040" y="1706880"/>
            <a:ext cx="670560" cy="670560"/>
          </a:xfrm>
          <a:prstGeom prst="rect">
            <a:avLst/>
          </a:prstGeom>
          <a:noFill/>
          <a:ln/>
        </p:spPr>
        <p:txBody>
          <a:bodyPr wrap="square" lIns="0" tIns="0" rIns="0" bIns="0" rtlCol="0" anchor="ctr"/>
          <a:lstStyle/>
          <a:p>
            <a:pPr algn="ctr"/>
            <a:r>
              <a:rPr lang="en-US" sz="2133" b="1" dirty="0">
                <a:solidFill>
                  <a:srgbClr val="FFFFFF"/>
                </a:solidFill>
              </a:rPr>
              <a:t>2</a:t>
            </a:r>
            <a:endParaRPr lang="en-US" sz="2133" dirty="0"/>
          </a:p>
        </p:txBody>
      </p:sp>
      <p:sp>
        <p:nvSpPr>
          <p:cNvPr id="8" name="Text 6"/>
          <p:cNvSpPr txBox="1"/>
          <p:nvPr/>
        </p:nvSpPr>
        <p:spPr>
          <a:xfrm>
            <a:off x="5364480" y="1524000"/>
            <a:ext cx="2926080" cy="1036320"/>
          </a:xfrm>
          <a:prstGeom prst="rect">
            <a:avLst/>
          </a:prstGeom>
          <a:noFill/>
          <a:ln/>
        </p:spPr>
        <p:txBody>
          <a:bodyPr wrap="square" lIns="0" tIns="0" rIns="0" bIns="0" rtlCol="0" anchor="ctr"/>
          <a:lstStyle/>
          <a:p>
            <a:r>
              <a:rPr lang="en-US" sz="1867" b="1" dirty="0">
                <a:solidFill>
                  <a:srgbClr val="0A5C5C"/>
                </a:solidFill>
              </a:rPr>
              <a:t>Darts and π
</a:t>
            </a:r>
            <a:r>
              <a:rPr lang="en-US" sz="1467" dirty="0">
                <a:solidFill>
                  <a:srgbClr val="6B6B6B"/>
                </a:solidFill>
              </a:rPr>
              <a:t>measure a number with randomness</a:t>
            </a:r>
            <a:endParaRPr lang="en-US" sz="1867" dirty="0"/>
          </a:p>
        </p:txBody>
      </p:sp>
      <p:sp>
        <p:nvSpPr>
          <p:cNvPr id="9" name="Shape 7"/>
          <p:cNvSpPr/>
          <p:nvPr/>
        </p:nvSpPr>
        <p:spPr>
          <a:xfrm>
            <a:off x="609600" y="2987040"/>
            <a:ext cx="670560" cy="670560"/>
          </a:xfrm>
          <a:prstGeom prst="ellipse">
            <a:avLst/>
          </a:prstGeom>
          <a:solidFill>
            <a:srgbClr val="0F7F7F"/>
          </a:solidFill>
          <a:ln w="12700">
            <a:solidFill>
              <a:srgbClr val="0F7F7F"/>
            </a:solidFill>
            <a:prstDash val="solid"/>
          </a:ln>
        </p:spPr>
        <p:txBody>
          <a:bodyPr/>
          <a:lstStyle/>
          <a:p>
            <a:endParaRPr lang="en-GB" sz="2400"/>
          </a:p>
        </p:txBody>
      </p:sp>
      <p:sp>
        <p:nvSpPr>
          <p:cNvPr id="10" name="Text 8"/>
          <p:cNvSpPr txBox="1"/>
          <p:nvPr/>
        </p:nvSpPr>
        <p:spPr>
          <a:xfrm>
            <a:off x="609600" y="2987040"/>
            <a:ext cx="670560" cy="670560"/>
          </a:xfrm>
          <a:prstGeom prst="rect">
            <a:avLst/>
          </a:prstGeom>
          <a:noFill/>
          <a:ln/>
        </p:spPr>
        <p:txBody>
          <a:bodyPr wrap="square" lIns="0" tIns="0" rIns="0" bIns="0" rtlCol="0" anchor="ctr"/>
          <a:lstStyle/>
          <a:p>
            <a:pPr algn="ctr"/>
            <a:r>
              <a:rPr lang="en-US" sz="2133" b="1" dirty="0">
                <a:solidFill>
                  <a:srgbClr val="FFFFFF"/>
                </a:solidFill>
              </a:rPr>
              <a:t>3</a:t>
            </a:r>
            <a:endParaRPr lang="en-US" sz="2133" dirty="0"/>
          </a:p>
        </p:txBody>
      </p:sp>
      <p:sp>
        <p:nvSpPr>
          <p:cNvPr id="11" name="Text 9"/>
          <p:cNvSpPr txBox="1"/>
          <p:nvPr/>
        </p:nvSpPr>
        <p:spPr>
          <a:xfrm>
            <a:off x="1463040" y="2804160"/>
            <a:ext cx="2926080" cy="1036320"/>
          </a:xfrm>
          <a:prstGeom prst="rect">
            <a:avLst/>
          </a:prstGeom>
          <a:noFill/>
          <a:ln/>
        </p:spPr>
        <p:txBody>
          <a:bodyPr wrap="square" lIns="0" tIns="0" rIns="0" bIns="0" rtlCol="0" anchor="ctr"/>
          <a:lstStyle/>
          <a:p>
            <a:r>
              <a:rPr lang="en-US" sz="1867" b="1" dirty="0">
                <a:solidFill>
                  <a:srgbClr val="0A5C5C"/>
                </a:solidFill>
              </a:rPr>
              <a:t>A referendum
</a:t>
            </a:r>
            <a:r>
              <a:rPr lang="en-US" sz="1467" dirty="0">
                <a:solidFill>
                  <a:srgbClr val="6B6B6B"/>
                </a:solidFill>
              </a:rPr>
              <a:t>uncertainty in, a range of outcomes out</a:t>
            </a:r>
            <a:endParaRPr lang="en-US" sz="1867" dirty="0"/>
          </a:p>
        </p:txBody>
      </p:sp>
      <p:sp>
        <p:nvSpPr>
          <p:cNvPr id="12" name="Shape 10"/>
          <p:cNvSpPr/>
          <p:nvPr/>
        </p:nvSpPr>
        <p:spPr>
          <a:xfrm>
            <a:off x="4511040" y="2987040"/>
            <a:ext cx="670560" cy="670560"/>
          </a:xfrm>
          <a:prstGeom prst="ellipse">
            <a:avLst/>
          </a:prstGeom>
          <a:solidFill>
            <a:srgbClr val="0F7F7F"/>
          </a:solidFill>
          <a:ln w="12700">
            <a:solidFill>
              <a:srgbClr val="0F7F7F"/>
            </a:solidFill>
            <a:prstDash val="solid"/>
          </a:ln>
        </p:spPr>
        <p:txBody>
          <a:bodyPr/>
          <a:lstStyle/>
          <a:p>
            <a:endParaRPr lang="en-GB" sz="2400"/>
          </a:p>
        </p:txBody>
      </p:sp>
      <p:sp>
        <p:nvSpPr>
          <p:cNvPr id="13" name="Text 11"/>
          <p:cNvSpPr txBox="1"/>
          <p:nvPr/>
        </p:nvSpPr>
        <p:spPr>
          <a:xfrm>
            <a:off x="4511040" y="2987040"/>
            <a:ext cx="670560" cy="670560"/>
          </a:xfrm>
          <a:prstGeom prst="rect">
            <a:avLst/>
          </a:prstGeom>
          <a:noFill/>
          <a:ln/>
        </p:spPr>
        <p:txBody>
          <a:bodyPr wrap="square" lIns="0" tIns="0" rIns="0" bIns="0" rtlCol="0" anchor="ctr"/>
          <a:lstStyle/>
          <a:p>
            <a:pPr algn="ctr"/>
            <a:r>
              <a:rPr lang="en-US" sz="2133" b="1" dirty="0">
                <a:solidFill>
                  <a:srgbClr val="FFFFFF"/>
                </a:solidFill>
              </a:rPr>
              <a:t>4</a:t>
            </a:r>
            <a:endParaRPr lang="en-US" sz="2133" dirty="0"/>
          </a:p>
        </p:txBody>
      </p:sp>
      <p:sp>
        <p:nvSpPr>
          <p:cNvPr id="14" name="Text 12"/>
          <p:cNvSpPr txBox="1"/>
          <p:nvPr/>
        </p:nvSpPr>
        <p:spPr>
          <a:xfrm>
            <a:off x="5364480" y="2804160"/>
            <a:ext cx="2926080" cy="1036320"/>
          </a:xfrm>
          <a:prstGeom prst="rect">
            <a:avLst/>
          </a:prstGeom>
          <a:noFill/>
          <a:ln/>
        </p:spPr>
        <p:txBody>
          <a:bodyPr wrap="square" lIns="0" tIns="0" rIns="0" bIns="0" rtlCol="0" anchor="ctr"/>
          <a:lstStyle/>
          <a:p>
            <a:r>
              <a:rPr lang="en-US" sz="1867" b="1" dirty="0">
                <a:solidFill>
                  <a:srgbClr val="0A5C5C"/>
                </a:solidFill>
              </a:rPr>
              <a:t>Planning a survey
</a:t>
            </a:r>
            <a:r>
              <a:rPr lang="en-US" sz="1467" dirty="0">
                <a:solidFill>
                  <a:srgbClr val="6B6B6B"/>
                </a:solidFill>
              </a:rPr>
              <a:t>test a study design on fake data</a:t>
            </a:r>
            <a:endParaRPr lang="en-US" sz="1867" dirty="0"/>
          </a:p>
        </p:txBody>
      </p:sp>
      <p:sp>
        <p:nvSpPr>
          <p:cNvPr id="15" name="Shape 13"/>
          <p:cNvSpPr/>
          <p:nvPr/>
        </p:nvSpPr>
        <p:spPr>
          <a:xfrm>
            <a:off x="609600" y="4267200"/>
            <a:ext cx="670560" cy="670560"/>
          </a:xfrm>
          <a:prstGeom prst="ellipse">
            <a:avLst/>
          </a:prstGeom>
          <a:solidFill>
            <a:srgbClr val="0F7F7F"/>
          </a:solidFill>
          <a:ln w="12700">
            <a:solidFill>
              <a:srgbClr val="0F7F7F"/>
            </a:solidFill>
            <a:prstDash val="solid"/>
          </a:ln>
        </p:spPr>
        <p:txBody>
          <a:bodyPr/>
          <a:lstStyle/>
          <a:p>
            <a:endParaRPr lang="en-GB" sz="2400"/>
          </a:p>
        </p:txBody>
      </p:sp>
      <p:sp>
        <p:nvSpPr>
          <p:cNvPr id="16" name="Text 14"/>
          <p:cNvSpPr txBox="1"/>
          <p:nvPr/>
        </p:nvSpPr>
        <p:spPr>
          <a:xfrm>
            <a:off x="609600" y="4267200"/>
            <a:ext cx="670560" cy="670560"/>
          </a:xfrm>
          <a:prstGeom prst="rect">
            <a:avLst/>
          </a:prstGeom>
          <a:noFill/>
          <a:ln/>
        </p:spPr>
        <p:txBody>
          <a:bodyPr wrap="square" lIns="0" tIns="0" rIns="0" bIns="0" rtlCol="0" anchor="ctr"/>
          <a:lstStyle/>
          <a:p>
            <a:pPr algn="ctr"/>
            <a:r>
              <a:rPr lang="en-US" sz="2133" b="1" dirty="0">
                <a:solidFill>
                  <a:srgbClr val="FFFFFF"/>
                </a:solidFill>
              </a:rPr>
              <a:t>5</a:t>
            </a:r>
            <a:endParaRPr lang="en-US" sz="2133" dirty="0"/>
          </a:p>
        </p:txBody>
      </p:sp>
      <p:sp>
        <p:nvSpPr>
          <p:cNvPr id="17" name="Text 15"/>
          <p:cNvSpPr txBox="1"/>
          <p:nvPr/>
        </p:nvSpPr>
        <p:spPr>
          <a:xfrm>
            <a:off x="1463040" y="4084320"/>
            <a:ext cx="2926080" cy="1036320"/>
          </a:xfrm>
          <a:prstGeom prst="rect">
            <a:avLst/>
          </a:prstGeom>
          <a:noFill/>
          <a:ln/>
        </p:spPr>
        <p:txBody>
          <a:bodyPr wrap="square" lIns="0" tIns="0" rIns="0" bIns="0" rtlCol="0" anchor="ctr"/>
          <a:lstStyle/>
          <a:p>
            <a:r>
              <a:rPr lang="en-US" sz="1867" b="1" dirty="0">
                <a:solidFill>
                  <a:srgbClr val="0A5C5C"/>
                </a:solidFill>
              </a:rPr>
              <a:t>Schelling's city
</a:t>
            </a:r>
            <a:r>
              <a:rPr lang="en-US" sz="1467" dirty="0">
                <a:solidFill>
                  <a:srgbClr val="6B6B6B"/>
                </a:solidFill>
              </a:rPr>
              <a:t>run an agent-based model many times</a:t>
            </a:r>
            <a:endParaRPr lang="en-US" sz="1867" dirty="0"/>
          </a:p>
        </p:txBody>
      </p:sp>
      <p:sp>
        <p:nvSpPr>
          <p:cNvPr id="18" name="Shape 16"/>
          <p:cNvSpPr/>
          <p:nvPr/>
        </p:nvSpPr>
        <p:spPr>
          <a:xfrm>
            <a:off x="4511040" y="4267200"/>
            <a:ext cx="670560" cy="670560"/>
          </a:xfrm>
          <a:prstGeom prst="ellipse">
            <a:avLst/>
          </a:prstGeom>
          <a:solidFill>
            <a:srgbClr val="0F7F7F"/>
          </a:solidFill>
          <a:ln w="12700">
            <a:solidFill>
              <a:srgbClr val="0F7F7F"/>
            </a:solidFill>
            <a:prstDash val="solid"/>
          </a:ln>
        </p:spPr>
        <p:txBody>
          <a:bodyPr/>
          <a:lstStyle/>
          <a:p>
            <a:endParaRPr lang="en-GB" sz="2400"/>
          </a:p>
        </p:txBody>
      </p:sp>
      <p:sp>
        <p:nvSpPr>
          <p:cNvPr id="19" name="Text 17"/>
          <p:cNvSpPr txBox="1"/>
          <p:nvPr/>
        </p:nvSpPr>
        <p:spPr>
          <a:xfrm>
            <a:off x="4511040" y="4267200"/>
            <a:ext cx="670560" cy="670560"/>
          </a:xfrm>
          <a:prstGeom prst="rect">
            <a:avLst/>
          </a:prstGeom>
          <a:noFill/>
          <a:ln/>
        </p:spPr>
        <p:txBody>
          <a:bodyPr wrap="square" lIns="0" tIns="0" rIns="0" bIns="0" rtlCol="0" anchor="ctr"/>
          <a:lstStyle/>
          <a:p>
            <a:pPr algn="ctr"/>
            <a:r>
              <a:rPr lang="en-US" sz="2133" b="1" dirty="0">
                <a:solidFill>
                  <a:srgbClr val="FFFFFF"/>
                </a:solidFill>
              </a:rPr>
              <a:t>6</a:t>
            </a:r>
            <a:endParaRPr lang="en-US" sz="2133" dirty="0"/>
          </a:p>
        </p:txBody>
      </p:sp>
      <p:sp>
        <p:nvSpPr>
          <p:cNvPr id="20" name="Text 18"/>
          <p:cNvSpPr txBox="1"/>
          <p:nvPr/>
        </p:nvSpPr>
        <p:spPr>
          <a:xfrm>
            <a:off x="5364480" y="4084320"/>
            <a:ext cx="2926080" cy="1036320"/>
          </a:xfrm>
          <a:prstGeom prst="rect">
            <a:avLst/>
          </a:prstGeom>
          <a:noFill/>
          <a:ln/>
        </p:spPr>
        <p:txBody>
          <a:bodyPr wrap="square" lIns="0" tIns="0" rIns="0" bIns="0" rtlCol="0" anchor="ctr"/>
          <a:lstStyle/>
          <a:p>
            <a:r>
              <a:rPr lang="en-US" sz="1867" b="1" dirty="0">
                <a:solidFill>
                  <a:srgbClr val="0A5C5C"/>
                </a:solidFill>
              </a:rPr>
              <a:t>Where this leads
</a:t>
            </a:r>
            <a:r>
              <a:rPr lang="en-US" sz="1467" dirty="0">
                <a:solidFill>
                  <a:srgbClr val="6B6B6B"/>
                </a:solidFill>
              </a:rPr>
              <a:t>bootstrap, sensitivity, MCMC</a:t>
            </a:r>
            <a:endParaRPr lang="en-US" sz="1867" dirty="0"/>
          </a:p>
        </p:txBody>
      </p:sp>
      <p:sp>
        <p:nvSpPr>
          <p:cNvPr id="21" name="Shape 19"/>
          <p:cNvSpPr/>
          <p:nvPr/>
        </p:nvSpPr>
        <p:spPr>
          <a:xfrm>
            <a:off x="8534400" y="1524000"/>
            <a:ext cx="3048000" cy="1828800"/>
          </a:xfrm>
          <a:prstGeom prst="roundRect">
            <a:avLst>
              <a:gd name="adj" fmla="val 6667"/>
            </a:avLst>
          </a:prstGeom>
          <a:solidFill>
            <a:srgbClr val="E6F2F2"/>
          </a:solidFill>
          <a:ln w="12700">
            <a:solidFill>
              <a:srgbClr val="E6F2F2"/>
            </a:solidFill>
            <a:prstDash val="solid"/>
          </a:ln>
        </p:spPr>
        <p:txBody>
          <a:bodyPr/>
          <a:lstStyle/>
          <a:p>
            <a:endParaRPr lang="en-GB" sz="2400"/>
          </a:p>
        </p:txBody>
      </p:sp>
      <p:sp>
        <p:nvSpPr>
          <p:cNvPr id="22" name="Text 20"/>
          <p:cNvSpPr txBox="1"/>
          <p:nvPr/>
        </p:nvSpPr>
        <p:spPr>
          <a:xfrm>
            <a:off x="8778240" y="1706880"/>
            <a:ext cx="2560320" cy="487680"/>
          </a:xfrm>
          <a:prstGeom prst="rect">
            <a:avLst/>
          </a:prstGeom>
          <a:noFill/>
          <a:ln/>
        </p:spPr>
        <p:txBody>
          <a:bodyPr wrap="square" lIns="0" tIns="0" rIns="0" bIns="0" rtlCol="0" anchor="ctr"/>
          <a:lstStyle/>
          <a:p>
            <a:r>
              <a:rPr lang="en-US" sz="2000" b="1" dirty="0">
                <a:solidFill>
                  <a:srgbClr val="0A5C5C"/>
                </a:solidFill>
              </a:rPr>
              <a:t>Tab 1: animations</a:t>
            </a:r>
            <a:endParaRPr lang="en-US" sz="2000" dirty="0"/>
          </a:p>
        </p:txBody>
      </p:sp>
      <p:sp>
        <p:nvSpPr>
          <p:cNvPr id="23" name="Text 21"/>
          <p:cNvSpPr txBox="1"/>
          <p:nvPr/>
        </p:nvSpPr>
        <p:spPr>
          <a:xfrm>
            <a:off x="8778240" y="2255520"/>
            <a:ext cx="2560320" cy="914400"/>
          </a:xfrm>
          <a:prstGeom prst="rect">
            <a:avLst/>
          </a:prstGeom>
          <a:noFill/>
          <a:ln/>
        </p:spPr>
        <p:txBody>
          <a:bodyPr wrap="square" lIns="0" tIns="0" rIns="0" bIns="0" rtlCol="0" anchor="t"/>
          <a:lstStyle/>
          <a:p>
            <a:r>
              <a:rPr lang="en-US" sz="1467" dirty="0">
                <a:solidFill>
                  <a:srgbClr val="3D3D3D"/>
                </a:solidFill>
              </a:rPr>
              <a:t>acharyakishor.com/simulations</a:t>
            </a:r>
            <a:endParaRPr lang="en-US" sz="1467" dirty="0"/>
          </a:p>
          <a:p>
            <a:r>
              <a:rPr lang="en-US" sz="1467" dirty="0">
                <a:solidFill>
                  <a:srgbClr val="3D3D3D"/>
                </a:solidFill>
              </a:rPr>
              <a:t>Drag sliders, no code.</a:t>
            </a:r>
            <a:endParaRPr lang="en-US" sz="1467" dirty="0"/>
          </a:p>
        </p:txBody>
      </p:sp>
      <p:sp>
        <p:nvSpPr>
          <p:cNvPr id="24" name="Shape 22"/>
          <p:cNvSpPr/>
          <p:nvPr/>
        </p:nvSpPr>
        <p:spPr>
          <a:xfrm>
            <a:off x="8534400" y="3535680"/>
            <a:ext cx="3048000" cy="1828800"/>
          </a:xfrm>
          <a:prstGeom prst="roundRect">
            <a:avLst>
              <a:gd name="adj" fmla="val 6667"/>
            </a:avLst>
          </a:prstGeom>
          <a:solidFill>
            <a:srgbClr val="FBEBDD"/>
          </a:solidFill>
          <a:ln w="12700">
            <a:solidFill>
              <a:srgbClr val="FBEBDD"/>
            </a:solidFill>
            <a:prstDash val="solid"/>
          </a:ln>
        </p:spPr>
        <p:txBody>
          <a:bodyPr/>
          <a:lstStyle/>
          <a:p>
            <a:endParaRPr lang="en-GB" sz="2400"/>
          </a:p>
        </p:txBody>
      </p:sp>
      <p:sp>
        <p:nvSpPr>
          <p:cNvPr id="25" name="Text 23"/>
          <p:cNvSpPr txBox="1"/>
          <p:nvPr/>
        </p:nvSpPr>
        <p:spPr>
          <a:xfrm>
            <a:off x="8778240" y="3718560"/>
            <a:ext cx="2560320" cy="487680"/>
          </a:xfrm>
          <a:prstGeom prst="rect">
            <a:avLst/>
          </a:prstGeom>
          <a:noFill/>
          <a:ln/>
        </p:spPr>
        <p:txBody>
          <a:bodyPr wrap="square" lIns="0" tIns="0" rIns="0" bIns="0" rtlCol="0" anchor="ctr"/>
          <a:lstStyle/>
          <a:p>
            <a:r>
              <a:rPr lang="en-US" sz="2000" b="1" dirty="0">
                <a:solidFill>
                  <a:srgbClr val="7A4A1E"/>
                </a:solidFill>
              </a:rPr>
              <a:t>Tab 2: notebook</a:t>
            </a:r>
            <a:endParaRPr lang="en-US" sz="2000" dirty="0"/>
          </a:p>
        </p:txBody>
      </p:sp>
      <p:sp>
        <p:nvSpPr>
          <p:cNvPr id="26" name="Text 24"/>
          <p:cNvSpPr txBox="1"/>
          <p:nvPr/>
        </p:nvSpPr>
        <p:spPr>
          <a:xfrm>
            <a:off x="8778240" y="4267200"/>
            <a:ext cx="2560320" cy="914400"/>
          </a:xfrm>
          <a:prstGeom prst="rect">
            <a:avLst/>
          </a:prstGeom>
          <a:noFill/>
          <a:ln/>
        </p:spPr>
        <p:txBody>
          <a:bodyPr wrap="square" lIns="0" tIns="0" rIns="0" bIns="0" rtlCol="0" anchor="t"/>
          <a:lstStyle/>
          <a:p>
            <a:r>
              <a:rPr lang="en-US" sz="1467" dirty="0">
                <a:solidFill>
                  <a:srgbClr val="3D3D3D"/>
                </a:solidFill>
              </a:rPr>
              <a:t>Colab link on the course page.</a:t>
            </a:r>
            <a:endParaRPr lang="en-US" sz="1467" dirty="0"/>
          </a:p>
          <a:p>
            <a:r>
              <a:rPr lang="en-US" sz="1467" dirty="0">
                <a:solidFill>
                  <a:srgbClr val="3D3D3D"/>
                </a:solidFill>
              </a:rPr>
              <a:t>Same experiments, with the code.</a:t>
            </a:r>
            <a:endParaRPr lang="en-US" sz="1467" dirty="0"/>
          </a:p>
        </p:txBody>
      </p:sp>
      <p:sp>
        <p:nvSpPr>
          <p:cNvPr id="27" name="Text 25"/>
          <p:cNvSpPr txBox="1"/>
          <p:nvPr/>
        </p:nvSpPr>
        <p:spPr>
          <a:xfrm>
            <a:off x="609600" y="5425440"/>
            <a:ext cx="7680960" cy="731520"/>
          </a:xfrm>
          <a:prstGeom prst="rect">
            <a:avLst/>
          </a:prstGeom>
          <a:noFill/>
          <a:ln/>
        </p:spPr>
        <p:txBody>
          <a:bodyPr wrap="square" lIns="0" tIns="0" rIns="0" bIns="0" rtlCol="0" anchor="t"/>
          <a:lstStyle/>
          <a:p>
            <a:r>
              <a:rPr lang="en-US" sz="1600" i="1" dirty="0">
                <a:solidFill>
                  <a:srgbClr val="0F7F7F"/>
                </a:solidFill>
              </a:rPr>
              <a:t>At every stop an “On your screen” slide tells you which animation and which notebook section to open, what each slider means, and what to look for.</a:t>
            </a:r>
            <a:endParaRPr lang="en-US" sz="1600" dirty="0"/>
          </a:p>
        </p:txBody>
      </p:sp>
      <p:sp>
        <p:nvSpPr>
          <p:cNvPr id="28" name="Slide Number Placeholder 0"/>
          <p:cNvSpPr>
            <a:spLocks noGrp="1"/>
          </p:cNvSpPr>
          <p:nvPr>
            <p:ph type="sldNum" sz="quarter" idx="4294967295"/>
          </p:nvPr>
        </p:nvSpPr>
        <p:spPr>
          <a:xfrm>
            <a:off x="10972800" y="6339840"/>
            <a:ext cx="609600" cy="365760"/>
          </a:xfrm>
          <a:prstGeom prst="rect">
            <a:avLst/>
          </a:prstGeom>
          <a:extLst>
            <a:ext uri="{C572A759-6A51-4108-AA02-DFA0A04FC94B}">
              <ma14:wrappingTextBoxFlag xmlns="" xmlns:ma14="http://schemas.microsoft.com/office/mac/drawingml/2011/main" val="0"/>
            </a:ext>
          </a:extLst>
        </p:spPr>
        <p:txBody>
          <a:bodyPr/>
          <a:lstStyle>
            <a:lvl1pPr>
              <a:defRPr sz="1200">
                <a:solidFill>
                  <a:srgbClr val="6B6B6B"/>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731520" y="1706880"/>
            <a:ext cx="10728960" cy="609600"/>
          </a:xfrm>
          <a:prstGeom prst="rect">
            <a:avLst/>
          </a:prstGeom>
          <a:noFill/>
          <a:ln/>
        </p:spPr>
        <p:txBody>
          <a:bodyPr vert="horz" wrap="square" lIns="0" tIns="0" rIns="0" bIns="0" rtlCol="0">
            <a:normAutofit/>
          </a:bodyPr>
          <a:lstStyle/>
          <a:p>
            <a:r>
              <a:rPr lang="en-US" dirty="0"/>
              <a:t>Where the name comes from</a:t>
            </a:r>
          </a:p>
        </p:txBody>
      </p:sp>
      <p:sp>
        <p:nvSpPr>
          <p:cNvPr id="3" name="Text 0"/>
          <p:cNvSpPr>
            <a:spLocks noGrp="1"/>
          </p:cNvSpPr>
          <p:nvPr>
            <p:ph type="title" idx="101" hasCustomPrompt="1"/>
          </p:nvPr>
        </p:nvSpPr>
        <p:spPr>
          <a:xfrm>
            <a:off x="731520" y="2316480"/>
            <a:ext cx="10728960" cy="2194560"/>
          </a:xfrm>
          <a:prstGeom prst="rect">
            <a:avLst/>
          </a:prstGeom>
          <a:noFill/>
          <a:ln/>
        </p:spPr>
        <p:txBody>
          <a:bodyPr vert="horz" wrap="square" lIns="0" tIns="0" rIns="0" bIns="0" rtlCol="0" anchor="ctr">
            <a:normAutofit/>
          </a:bodyPr>
          <a:lstStyle/>
          <a:p>
            <a:r>
              <a:rPr lang="en-US" dirty="0"/>
              <a:t>Solitaire, a casino, and a secret project</a:t>
            </a:r>
          </a:p>
        </p:txBody>
      </p:sp>
      <p:sp>
        <p:nvSpPr>
          <p:cNvPr id="4" name="Text 0"/>
          <p:cNvSpPr>
            <a:spLocks noGrp="1"/>
          </p:cNvSpPr>
          <p:nvPr>
            <p:ph type="body" idx="102" hasCustomPrompt="1"/>
          </p:nvPr>
        </p:nvSpPr>
        <p:spPr>
          <a:xfrm>
            <a:off x="731520" y="4754880"/>
            <a:ext cx="10728960" cy="1097280"/>
          </a:xfrm>
          <a:prstGeom prst="rect">
            <a:avLst/>
          </a:prstGeom>
          <a:noFill/>
          <a:ln/>
        </p:spPr>
        <p:txBody>
          <a:bodyPr vert="horz" wrap="square" lIns="0" tIns="0" rIns="0" bIns="0" rtlCol="0">
            <a:normAutofit/>
          </a:bodyPr>
          <a:lstStyle/>
          <a:p>
            <a:r>
              <a:rPr lang="en-US" dirty="0"/>
              <a:t>Los Alamos, 1946</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09600" y="426720"/>
            <a:ext cx="10972800" cy="914400"/>
          </a:xfrm>
          <a:prstGeom prst="rect">
            <a:avLst/>
          </a:prstGeom>
          <a:noFill/>
          <a:ln/>
        </p:spPr>
        <p:txBody>
          <a:bodyPr vert="horz" wrap="square" lIns="0" tIns="0" rIns="0" bIns="0" rtlCol="0" anchor="ctr">
            <a:normAutofit/>
          </a:bodyPr>
          <a:lstStyle/>
          <a:p>
            <a:r>
              <a:rPr lang="en-US" dirty="0"/>
              <a:t>1946: a sickbed and a deck of cards</a:t>
            </a:r>
          </a:p>
        </p:txBody>
      </p:sp>
      <p:sp>
        <p:nvSpPr>
          <p:cNvPr id="3" name="Shape 1"/>
          <p:cNvSpPr/>
          <p:nvPr/>
        </p:nvSpPr>
        <p:spPr>
          <a:xfrm>
            <a:off x="609600" y="1584960"/>
            <a:ext cx="2560320" cy="3169920"/>
          </a:xfrm>
          <a:prstGeom prst="rect">
            <a:avLst/>
          </a:prstGeom>
          <a:solidFill>
            <a:srgbClr val="F3F9F9"/>
          </a:solidFill>
          <a:ln w="12700">
            <a:solidFill>
              <a:srgbClr val="9FCFCF"/>
            </a:solidFill>
            <a:prstDash val="dash"/>
          </a:ln>
        </p:spPr>
        <p:txBody>
          <a:bodyPr/>
          <a:lstStyle/>
          <a:p>
            <a:endParaRPr lang="en-GB" sz="2400"/>
          </a:p>
        </p:txBody>
      </p:sp>
      <p:sp>
        <p:nvSpPr>
          <p:cNvPr id="4" name="Text 2"/>
          <p:cNvSpPr txBox="1"/>
          <p:nvPr/>
        </p:nvSpPr>
        <p:spPr>
          <a:xfrm>
            <a:off x="670560" y="1091184"/>
            <a:ext cx="2499360" cy="475488"/>
          </a:xfrm>
          <a:prstGeom prst="rect">
            <a:avLst/>
          </a:prstGeom>
          <a:noFill/>
          <a:ln/>
        </p:spPr>
        <p:txBody>
          <a:bodyPr wrap="square" lIns="0" tIns="0" rIns="0" bIns="0" rtlCol="0" anchor="ctr"/>
          <a:lstStyle/>
          <a:p>
            <a:pPr algn="ctr"/>
            <a:r>
              <a:rPr lang="en-US" sz="1333" dirty="0">
                <a:solidFill>
                  <a:srgbClr val="6B6B6B"/>
                </a:solidFill>
              </a:rPr>
              <a:t>
</a:t>
            </a:r>
            <a:r>
              <a:rPr lang="en-US" sz="1600" b="1" dirty="0">
                <a:solidFill>
                  <a:srgbClr val="0A5C5C"/>
                </a:solidFill>
              </a:rPr>
              <a:t>Stanisław Ulam</a:t>
            </a:r>
            <a:endParaRPr lang="en-US" sz="1333" dirty="0"/>
          </a:p>
        </p:txBody>
      </p:sp>
      <p:sp>
        <p:nvSpPr>
          <p:cNvPr id="5" name="Text 3"/>
          <p:cNvSpPr txBox="1"/>
          <p:nvPr/>
        </p:nvSpPr>
        <p:spPr>
          <a:xfrm>
            <a:off x="487680" y="4791456"/>
            <a:ext cx="2804160" cy="609600"/>
          </a:xfrm>
          <a:prstGeom prst="rect">
            <a:avLst/>
          </a:prstGeom>
          <a:noFill/>
          <a:ln/>
        </p:spPr>
        <p:txBody>
          <a:bodyPr wrap="square" lIns="0" tIns="0" rIns="0" bIns="0" rtlCol="0" anchor="t"/>
          <a:lstStyle/>
          <a:p>
            <a:pPr algn="ctr"/>
            <a:r>
              <a:rPr lang="en-US" sz="1067" dirty="0">
                <a:solidFill>
                  <a:srgbClr val="6B6B6B"/>
                </a:solidFill>
              </a:rPr>
              <a:t>Los Alamos National Laboratory, 1940s · public domain</a:t>
            </a:r>
            <a:endParaRPr lang="en-US" sz="1067" dirty="0"/>
          </a:p>
        </p:txBody>
      </p:sp>
      <p:sp>
        <p:nvSpPr>
          <p:cNvPr id="6" name="Text 4"/>
          <p:cNvSpPr txBox="1"/>
          <p:nvPr/>
        </p:nvSpPr>
        <p:spPr>
          <a:xfrm>
            <a:off x="3657600" y="1584960"/>
            <a:ext cx="7924800" cy="4389120"/>
          </a:xfrm>
          <a:prstGeom prst="rect">
            <a:avLst/>
          </a:prstGeom>
          <a:noFill/>
          <a:ln/>
        </p:spPr>
        <p:txBody>
          <a:bodyPr wrap="square" lIns="0" tIns="0" rIns="0" bIns="0" rtlCol="0" anchor="t"/>
          <a:lstStyle/>
          <a:p>
            <a:pPr marL="457189" indent="-457189">
              <a:spcAft>
                <a:spcPts val="1067"/>
              </a:spcAft>
              <a:buSzPct val="100000"/>
              <a:buChar char="•"/>
            </a:pPr>
            <a:r>
              <a:rPr lang="en-US" sz="2000" dirty="0">
                <a:solidFill>
                  <a:srgbClr val="3D3D3D"/>
                </a:solidFill>
              </a:rPr>
              <a:t>Stanisław Ulam, recovering from a serious illness, plays Canfield solitaire to pass the time.</a:t>
            </a:r>
            <a:endParaRPr lang="en-US" sz="2000" dirty="0"/>
          </a:p>
          <a:p>
            <a:pPr marL="457189" indent="-457189">
              <a:spcAft>
                <a:spcPts val="1067"/>
              </a:spcAft>
              <a:buSzPct val="100000"/>
              <a:buChar char="•"/>
            </a:pPr>
            <a:r>
              <a:rPr lang="en-US" sz="2000" dirty="0">
                <a:solidFill>
                  <a:srgbClr val="3D3D3D"/>
                </a:solidFill>
              </a:rPr>
              <a:t>He wonders: what is the chance that a randomly dealt layout can be won?</a:t>
            </a:r>
            <a:endParaRPr lang="en-US" sz="2000" dirty="0"/>
          </a:p>
          <a:p>
            <a:pPr marL="457189" indent="-457189">
              <a:spcAft>
                <a:spcPts val="1067"/>
              </a:spcAft>
              <a:buSzPct val="100000"/>
              <a:buChar char="•"/>
            </a:pPr>
            <a:r>
              <a:rPr lang="en-US" sz="2000" dirty="0">
                <a:solidFill>
                  <a:srgbClr val="3D3D3D"/>
                </a:solidFill>
              </a:rPr>
              <a:t>He tries to calculate it by pure combinatorics. Hopeless.</a:t>
            </a:r>
            <a:endParaRPr lang="en-US" sz="2000" dirty="0"/>
          </a:p>
          <a:p>
            <a:pPr marL="457189" indent="-457189">
              <a:spcAft>
                <a:spcPts val="1067"/>
              </a:spcAft>
              <a:buSzPct val="100000"/>
              <a:buChar char="•"/>
            </a:pPr>
            <a:r>
              <a:rPr lang="en-US" sz="2000" dirty="0">
                <a:solidFill>
                  <a:srgbClr val="3D3D3D"/>
                </a:solidFill>
              </a:rPr>
              <a:t>Then a simpler idea: lay the cards out a hundred times, count how many games come out, and take the proportion as the answer.</a:t>
            </a:r>
            <a:endParaRPr lang="en-US" sz="2000" dirty="0"/>
          </a:p>
        </p:txBody>
      </p:sp>
      <p:sp>
        <p:nvSpPr>
          <p:cNvPr id="7" name="Text 5"/>
          <p:cNvSpPr txBox="1"/>
          <p:nvPr/>
        </p:nvSpPr>
        <p:spPr>
          <a:xfrm>
            <a:off x="609600" y="5913120"/>
            <a:ext cx="10241280" cy="365760"/>
          </a:xfrm>
          <a:prstGeom prst="rect">
            <a:avLst/>
          </a:prstGeom>
          <a:noFill/>
          <a:ln/>
        </p:spPr>
        <p:txBody>
          <a:bodyPr wrap="square" lIns="0" tIns="0" rIns="0" bIns="0" rtlCol="0" anchor="t"/>
          <a:lstStyle/>
          <a:p>
            <a:r>
              <a:rPr lang="en-US" sz="1200" i="1" dirty="0">
                <a:solidFill>
                  <a:srgbClr val="6B6B6B"/>
                </a:solidFill>
              </a:rPr>
              <a:t>Metropolis, N. (1987). The beginning of the Monte Carlo method. Los Alamos Science, 15, 125–130.</a:t>
            </a:r>
            <a:endParaRPr lang="en-US" sz="1200" dirty="0"/>
          </a:p>
        </p:txBody>
      </p:sp>
      <p:sp>
        <p:nvSpPr>
          <p:cNvPr id="25" name="Slide Number Placeholder 0"/>
          <p:cNvSpPr>
            <a:spLocks noGrp="1"/>
          </p:cNvSpPr>
          <p:nvPr>
            <p:ph type="sldNum" sz="quarter" idx="4294967295"/>
          </p:nvPr>
        </p:nvSpPr>
        <p:spPr>
          <a:xfrm>
            <a:off x="10972800" y="6339840"/>
            <a:ext cx="609600" cy="365760"/>
          </a:xfrm>
          <a:prstGeom prst="rect">
            <a:avLst/>
          </a:prstGeom>
          <a:extLst>
            <a:ext uri="{C572A759-6A51-4108-AA02-DFA0A04FC94B}">
              <ma14:wrappingTextBoxFlag xmlns="" xmlns:ma14="http://schemas.microsoft.com/office/mac/drawingml/2011/main" val="0"/>
            </a:ext>
          </a:extLst>
        </p:spPr>
        <p:txBody>
          <a:bodyPr/>
          <a:lstStyle>
            <a:lvl1pPr>
              <a:defRPr sz="1200">
                <a:solidFill>
                  <a:srgbClr val="6B6B6B"/>
                </a:solidFill>
              </a:defRPr>
            </a:lvl1pPr>
          </a:lstStyle>
          <a:p>
            <a:pPr algn="r"/>
            <a:fld id="{F7021451-1387-4CA6-816F-3879F97B5CBC}" type="slidenum">
              <a:rPr lang="en-US" b="0"/>
              <a:t>5</a:t>
            </a:fld>
            <a:endParaRPr lang="en-US"/>
          </a:p>
        </p:txBody>
      </p:sp>
      <p:pic>
        <p:nvPicPr>
          <p:cNvPr id="9" name="Picture 8" descr="File:Stanislaw Ulam ID badge.png">
            <a:extLst>
              <a:ext uri="{FF2B5EF4-FFF2-40B4-BE49-F238E27FC236}">
                <a16:creationId xmlns:a16="http://schemas.microsoft.com/office/drawing/2014/main" id="{78BC53CE-8EB6-06E2-6C2E-03B4C7CD1675}"/>
              </a:ext>
            </a:extLst>
          </p:cNvPr>
          <p:cNvPicPr>
            <a:picLocks noChangeAspect="1"/>
          </p:cNvPicPr>
          <p:nvPr/>
        </p:nvPicPr>
        <p:blipFill>
          <a:blip r:embed="rId3"/>
          <a:stretch>
            <a:fillRect/>
          </a:stretch>
        </p:blipFill>
        <p:spPr>
          <a:xfrm>
            <a:off x="651510" y="1810512"/>
            <a:ext cx="2476500" cy="25908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09600" y="426720"/>
            <a:ext cx="10972800" cy="914400"/>
          </a:xfrm>
          <a:prstGeom prst="rect">
            <a:avLst/>
          </a:prstGeom>
          <a:noFill/>
          <a:ln/>
        </p:spPr>
        <p:txBody>
          <a:bodyPr vert="horz" wrap="square" lIns="0" tIns="0" rIns="0" bIns="0" rtlCol="0" anchor="ctr">
            <a:normAutofit/>
          </a:bodyPr>
          <a:lstStyle/>
          <a:p>
            <a:r>
              <a:rPr lang="en-US" dirty="0"/>
              <a:t>The same trick for a much harder problem</a:t>
            </a:r>
          </a:p>
        </p:txBody>
      </p:sp>
      <p:sp>
        <p:nvSpPr>
          <p:cNvPr id="3" name="Shape 1"/>
          <p:cNvSpPr/>
          <p:nvPr/>
        </p:nvSpPr>
        <p:spPr>
          <a:xfrm>
            <a:off x="609600" y="1584960"/>
            <a:ext cx="2316480" cy="2926080"/>
          </a:xfrm>
          <a:prstGeom prst="rect">
            <a:avLst/>
          </a:prstGeom>
          <a:solidFill>
            <a:srgbClr val="F3F9F9"/>
          </a:solidFill>
          <a:ln w="12700">
            <a:solidFill>
              <a:srgbClr val="9FCFCF"/>
            </a:solidFill>
            <a:prstDash val="dash"/>
          </a:ln>
        </p:spPr>
        <p:txBody>
          <a:bodyPr/>
          <a:lstStyle/>
          <a:p>
            <a:endParaRPr lang="en-GB" sz="2400"/>
          </a:p>
        </p:txBody>
      </p:sp>
      <p:sp>
        <p:nvSpPr>
          <p:cNvPr id="4" name="Text 2"/>
          <p:cNvSpPr txBox="1"/>
          <p:nvPr/>
        </p:nvSpPr>
        <p:spPr>
          <a:xfrm>
            <a:off x="640080" y="1108292"/>
            <a:ext cx="2255520" cy="538808"/>
          </a:xfrm>
          <a:prstGeom prst="rect">
            <a:avLst/>
          </a:prstGeom>
          <a:noFill/>
          <a:ln/>
        </p:spPr>
        <p:txBody>
          <a:bodyPr wrap="square" lIns="0" tIns="0" rIns="0" bIns="0" rtlCol="0" anchor="ctr"/>
          <a:lstStyle/>
          <a:p>
            <a:pPr algn="ctr"/>
            <a:r>
              <a:rPr lang="en-US" sz="1333" dirty="0">
                <a:solidFill>
                  <a:srgbClr val="6B6B6B"/>
                </a:solidFill>
              </a:rPr>
              <a:t>
</a:t>
            </a:r>
            <a:r>
              <a:rPr lang="en-US" sz="1600" b="1" dirty="0">
                <a:solidFill>
                  <a:srgbClr val="0A5C5C"/>
                </a:solidFill>
              </a:rPr>
              <a:t>John von Neumann</a:t>
            </a:r>
            <a:endParaRPr lang="en-US" sz="1333" dirty="0"/>
          </a:p>
        </p:txBody>
      </p:sp>
      <p:sp>
        <p:nvSpPr>
          <p:cNvPr id="5" name="Text 3"/>
          <p:cNvSpPr txBox="1"/>
          <p:nvPr/>
        </p:nvSpPr>
        <p:spPr>
          <a:xfrm>
            <a:off x="487680" y="4547616"/>
            <a:ext cx="2560320" cy="609600"/>
          </a:xfrm>
          <a:prstGeom prst="rect">
            <a:avLst/>
          </a:prstGeom>
          <a:noFill/>
          <a:ln/>
        </p:spPr>
        <p:txBody>
          <a:bodyPr wrap="square" lIns="0" tIns="0" rIns="0" bIns="0" rtlCol="0" anchor="t"/>
          <a:lstStyle/>
          <a:p>
            <a:pPr algn="ctr"/>
            <a:r>
              <a:rPr lang="en-US" sz="1067" dirty="0">
                <a:solidFill>
                  <a:srgbClr val="6B6B6B"/>
                </a:solidFill>
              </a:rPr>
              <a:t>Los Alamos National Laboratory · public domain</a:t>
            </a:r>
            <a:endParaRPr lang="en-US" sz="1067" dirty="0"/>
          </a:p>
        </p:txBody>
      </p:sp>
      <p:sp>
        <p:nvSpPr>
          <p:cNvPr id="6" name="Shape 4"/>
          <p:cNvSpPr/>
          <p:nvPr/>
        </p:nvSpPr>
        <p:spPr>
          <a:xfrm>
            <a:off x="3291840" y="1584960"/>
            <a:ext cx="2316480" cy="2926080"/>
          </a:xfrm>
          <a:prstGeom prst="rect">
            <a:avLst/>
          </a:prstGeom>
          <a:solidFill>
            <a:srgbClr val="F3F9F9"/>
          </a:solidFill>
          <a:ln w="12700">
            <a:solidFill>
              <a:srgbClr val="9FCFCF"/>
            </a:solidFill>
            <a:prstDash val="dash"/>
          </a:ln>
        </p:spPr>
        <p:txBody>
          <a:bodyPr/>
          <a:lstStyle/>
          <a:p>
            <a:endParaRPr lang="en-GB" sz="2400"/>
          </a:p>
        </p:txBody>
      </p:sp>
      <p:sp>
        <p:nvSpPr>
          <p:cNvPr id="7" name="Text 5"/>
          <p:cNvSpPr txBox="1"/>
          <p:nvPr/>
        </p:nvSpPr>
        <p:spPr>
          <a:xfrm>
            <a:off x="3352800" y="1169645"/>
            <a:ext cx="2255520" cy="342163"/>
          </a:xfrm>
          <a:prstGeom prst="rect">
            <a:avLst/>
          </a:prstGeom>
          <a:noFill/>
          <a:ln/>
        </p:spPr>
        <p:txBody>
          <a:bodyPr wrap="square" lIns="0" tIns="0" rIns="0" bIns="0" rtlCol="0" anchor="ctr"/>
          <a:lstStyle/>
          <a:p>
            <a:pPr algn="ctr"/>
            <a:r>
              <a:rPr lang="en-US" sz="1333" dirty="0">
                <a:solidFill>
                  <a:srgbClr val="6B6B6B"/>
                </a:solidFill>
              </a:rPr>
              <a:t>
</a:t>
            </a:r>
            <a:r>
              <a:rPr lang="en-US" sz="1600" b="1" dirty="0">
                <a:solidFill>
                  <a:srgbClr val="0A5C5C"/>
                </a:solidFill>
              </a:rPr>
              <a:t>ENIAC (1947)</a:t>
            </a:r>
            <a:endParaRPr lang="en-US" sz="1333" dirty="0"/>
          </a:p>
        </p:txBody>
      </p:sp>
      <p:sp>
        <p:nvSpPr>
          <p:cNvPr id="8" name="Text 6"/>
          <p:cNvSpPr txBox="1"/>
          <p:nvPr/>
        </p:nvSpPr>
        <p:spPr>
          <a:xfrm>
            <a:off x="3169920" y="4547616"/>
            <a:ext cx="2560320" cy="609600"/>
          </a:xfrm>
          <a:prstGeom prst="rect">
            <a:avLst/>
          </a:prstGeom>
          <a:noFill/>
          <a:ln/>
        </p:spPr>
        <p:txBody>
          <a:bodyPr wrap="square" lIns="0" tIns="0" rIns="0" bIns="0" rtlCol="0" anchor="t"/>
          <a:lstStyle/>
          <a:p>
            <a:pPr algn="ctr"/>
            <a:r>
              <a:rPr lang="en-US" sz="1067" dirty="0">
                <a:solidFill>
                  <a:srgbClr val="6B6B6B"/>
                </a:solidFill>
              </a:rPr>
              <a:t>U.S. Army photo · public domain</a:t>
            </a:r>
            <a:endParaRPr lang="en-US" sz="1067" dirty="0"/>
          </a:p>
        </p:txBody>
      </p:sp>
      <p:sp>
        <p:nvSpPr>
          <p:cNvPr id="9" name="Text 7"/>
          <p:cNvSpPr txBox="1"/>
          <p:nvPr/>
        </p:nvSpPr>
        <p:spPr>
          <a:xfrm>
            <a:off x="6096000" y="1584960"/>
            <a:ext cx="5486400" cy="4389120"/>
          </a:xfrm>
          <a:prstGeom prst="rect">
            <a:avLst/>
          </a:prstGeom>
          <a:noFill/>
          <a:ln/>
        </p:spPr>
        <p:txBody>
          <a:bodyPr wrap="square" lIns="0" tIns="0" rIns="0" bIns="0" rtlCol="0" anchor="t"/>
          <a:lstStyle/>
          <a:p>
            <a:pPr marL="457189" indent="-457189">
              <a:spcAft>
                <a:spcPts val="1067"/>
              </a:spcAft>
              <a:buSzPct val="100000"/>
              <a:buChar char="•"/>
            </a:pPr>
            <a:r>
              <a:rPr lang="en-US" sz="1733" dirty="0">
                <a:solidFill>
                  <a:srgbClr val="3D3D3D"/>
                </a:solidFill>
              </a:rPr>
              <a:t>At Los Alamos, physicists could not solve the equations for how neutrons travel through material.</a:t>
            </a:r>
            <a:endParaRPr lang="en-US" sz="1733" dirty="0"/>
          </a:p>
          <a:p>
            <a:pPr marL="457189" indent="-457189">
              <a:spcAft>
                <a:spcPts val="1067"/>
              </a:spcAft>
              <a:buSzPct val="100000"/>
              <a:buChar char="•"/>
            </a:pPr>
            <a:r>
              <a:rPr lang="en-US" sz="1733" dirty="0">
                <a:solidFill>
                  <a:srgbClr val="3D3D3D"/>
                </a:solidFill>
              </a:rPr>
              <a:t>But following one neutron on its random path is easy: how far it goes, whether it is absorbed or scattered.</a:t>
            </a:r>
            <a:endParaRPr lang="en-US" sz="1733" dirty="0"/>
          </a:p>
          <a:p>
            <a:pPr marL="457189" indent="-457189">
              <a:spcAft>
                <a:spcPts val="1067"/>
              </a:spcAft>
              <a:buSzPct val="100000"/>
              <a:buChar char="•"/>
            </a:pPr>
            <a:r>
              <a:rPr lang="en-US" sz="1733" dirty="0">
                <a:solidFill>
                  <a:srgbClr val="3D3D3D"/>
                </a:solidFill>
              </a:rPr>
              <a:t>Follow thousands of neutrons and count: the answer the equations could not give.</a:t>
            </a:r>
            <a:endParaRPr lang="en-US" sz="1733" dirty="0"/>
          </a:p>
          <a:p>
            <a:pPr marL="457189" indent="-457189">
              <a:spcAft>
                <a:spcPts val="1067"/>
              </a:spcAft>
              <a:buSzPct val="100000"/>
              <a:buChar char="•"/>
            </a:pPr>
            <a:r>
              <a:rPr lang="en-US" sz="1733" dirty="0">
                <a:solidFill>
                  <a:srgbClr val="3D3D3D"/>
                </a:solidFill>
              </a:rPr>
              <a:t>John von Neumann worked out how to run it on ENIAC, the first electronic computer, in 1947.</a:t>
            </a:r>
            <a:endParaRPr lang="en-US" sz="1733" dirty="0"/>
          </a:p>
        </p:txBody>
      </p:sp>
      <p:sp>
        <p:nvSpPr>
          <p:cNvPr id="10" name="Text 8"/>
          <p:cNvSpPr txBox="1"/>
          <p:nvPr/>
        </p:nvSpPr>
        <p:spPr>
          <a:xfrm>
            <a:off x="609600" y="5303520"/>
            <a:ext cx="5120640" cy="487680"/>
          </a:xfrm>
          <a:prstGeom prst="rect">
            <a:avLst/>
          </a:prstGeom>
          <a:noFill/>
          <a:ln/>
        </p:spPr>
        <p:txBody>
          <a:bodyPr wrap="square" lIns="0" tIns="0" rIns="0" bIns="0" rtlCol="0" anchor="t"/>
          <a:lstStyle/>
          <a:p>
            <a:r>
              <a:rPr lang="en-US" sz="2133" b="1" i="1" dirty="0">
                <a:solidFill>
                  <a:srgbClr val="0F7F7F"/>
                </a:solidFill>
              </a:rPr>
              <a:t>Trade thinking for computing</a:t>
            </a:r>
            <a:endParaRPr lang="en-US" sz="2133" dirty="0"/>
          </a:p>
        </p:txBody>
      </p:sp>
      <p:sp>
        <p:nvSpPr>
          <p:cNvPr id="25" name="Slide Number Placeholder 0"/>
          <p:cNvSpPr>
            <a:spLocks noGrp="1"/>
          </p:cNvSpPr>
          <p:nvPr>
            <p:ph type="sldNum" sz="quarter" idx="4294967295"/>
          </p:nvPr>
        </p:nvSpPr>
        <p:spPr>
          <a:xfrm>
            <a:off x="10972800" y="6339840"/>
            <a:ext cx="609600" cy="365760"/>
          </a:xfrm>
          <a:prstGeom prst="rect">
            <a:avLst/>
          </a:prstGeom>
          <a:extLst>
            <a:ext uri="{C572A759-6A51-4108-AA02-DFA0A04FC94B}">
              <ma14:wrappingTextBoxFlag xmlns="" xmlns:ma14="http://schemas.microsoft.com/office/mac/drawingml/2011/main" val="0"/>
            </a:ext>
          </a:extLst>
        </p:spPr>
        <p:txBody>
          <a:bodyPr/>
          <a:lstStyle>
            <a:lvl1pPr>
              <a:defRPr sz="1200">
                <a:solidFill>
                  <a:srgbClr val="6B6B6B"/>
                </a:solidFill>
              </a:defRPr>
            </a:lvl1pPr>
          </a:lstStyle>
          <a:p>
            <a:pPr algn="r"/>
            <a:fld id="{F7021451-1387-4CA6-816F-3879F97B5CBC}" type="slidenum">
              <a:rPr lang="en-US" b="0"/>
              <a:t>6</a:t>
            </a:fld>
            <a:endParaRPr lang="en-US"/>
          </a:p>
        </p:txBody>
      </p:sp>
      <p:pic>
        <p:nvPicPr>
          <p:cNvPr id="12" name="Picture 11" descr="File:John von Neumann ID badge.png">
            <a:extLst>
              <a:ext uri="{FF2B5EF4-FFF2-40B4-BE49-F238E27FC236}">
                <a16:creationId xmlns:a16="http://schemas.microsoft.com/office/drawing/2014/main" id="{C8B90BEE-0D51-8C17-8310-B858E2B4EA98}"/>
              </a:ext>
            </a:extLst>
          </p:cNvPr>
          <p:cNvPicPr>
            <a:picLocks noChangeAspect="1"/>
          </p:cNvPicPr>
          <p:nvPr/>
        </p:nvPicPr>
        <p:blipFill>
          <a:blip r:embed="rId3"/>
          <a:stretch>
            <a:fillRect/>
          </a:stretch>
        </p:blipFill>
        <p:spPr>
          <a:xfrm>
            <a:off x="617988" y="1890940"/>
            <a:ext cx="2277612" cy="2418702"/>
          </a:xfrm>
          <a:prstGeom prst="rect">
            <a:avLst/>
          </a:prstGeom>
        </p:spPr>
      </p:pic>
      <p:pic>
        <p:nvPicPr>
          <p:cNvPr id="13" name="Picture 12" descr="File:Glen Beck and Betty Snyder program the ENIAC in building 328 at the Ballistic Research Laboratory.jpg">
            <a:extLst>
              <a:ext uri="{FF2B5EF4-FFF2-40B4-BE49-F238E27FC236}">
                <a16:creationId xmlns:a16="http://schemas.microsoft.com/office/drawing/2014/main" id="{B4D23078-4FA5-3C2E-4110-58E1C4D0C217}"/>
              </a:ext>
            </a:extLst>
          </p:cNvPr>
          <p:cNvPicPr>
            <a:picLocks noChangeAspect="1"/>
          </p:cNvPicPr>
          <p:nvPr/>
        </p:nvPicPr>
        <p:blipFill>
          <a:blip r:embed="rId4"/>
          <a:stretch>
            <a:fillRect/>
          </a:stretch>
        </p:blipFill>
        <p:spPr>
          <a:xfrm>
            <a:off x="3291840" y="2151133"/>
            <a:ext cx="2346027" cy="1793733"/>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09600" y="426720"/>
            <a:ext cx="10972800" cy="914400"/>
          </a:xfrm>
          <a:prstGeom prst="rect">
            <a:avLst/>
          </a:prstGeom>
          <a:noFill/>
          <a:ln/>
        </p:spPr>
        <p:txBody>
          <a:bodyPr vert="horz" wrap="square" lIns="0" tIns="0" rIns="0" bIns="0" rtlCol="0" anchor="ctr">
            <a:normAutofit/>
          </a:bodyPr>
          <a:lstStyle/>
          <a:p>
            <a:r>
              <a:rPr lang="en-US" dirty="0"/>
              <a:t>Why it is called Monte Carlo</a:t>
            </a:r>
          </a:p>
        </p:txBody>
      </p:sp>
      <p:sp>
        <p:nvSpPr>
          <p:cNvPr id="3" name="Shape 1"/>
          <p:cNvSpPr/>
          <p:nvPr/>
        </p:nvSpPr>
        <p:spPr>
          <a:xfrm>
            <a:off x="609600" y="1584960"/>
            <a:ext cx="2316480" cy="2926080"/>
          </a:xfrm>
          <a:prstGeom prst="rect">
            <a:avLst/>
          </a:prstGeom>
          <a:solidFill>
            <a:srgbClr val="F3F9F9"/>
          </a:solidFill>
          <a:ln w="12700">
            <a:solidFill>
              <a:srgbClr val="9FCFCF"/>
            </a:solidFill>
            <a:prstDash val="dash"/>
          </a:ln>
        </p:spPr>
        <p:txBody>
          <a:bodyPr/>
          <a:lstStyle/>
          <a:p>
            <a:endParaRPr lang="en-GB" sz="2400"/>
          </a:p>
        </p:txBody>
      </p:sp>
      <p:sp>
        <p:nvSpPr>
          <p:cNvPr id="4" name="Text 2"/>
          <p:cNvSpPr txBox="1"/>
          <p:nvPr/>
        </p:nvSpPr>
        <p:spPr>
          <a:xfrm>
            <a:off x="670560" y="1085088"/>
            <a:ext cx="2255520" cy="512064"/>
          </a:xfrm>
          <a:prstGeom prst="rect">
            <a:avLst/>
          </a:prstGeom>
          <a:noFill/>
          <a:ln/>
        </p:spPr>
        <p:txBody>
          <a:bodyPr wrap="square" lIns="0" tIns="0" rIns="0" bIns="0" rtlCol="0" anchor="ctr"/>
          <a:lstStyle/>
          <a:p>
            <a:pPr algn="ctr"/>
            <a:r>
              <a:rPr lang="en-US" sz="1333" dirty="0">
                <a:solidFill>
                  <a:srgbClr val="6B6B6B"/>
                </a:solidFill>
              </a:rPr>
              <a:t>
</a:t>
            </a:r>
            <a:r>
              <a:rPr lang="en-US" sz="1600" b="1" dirty="0">
                <a:solidFill>
                  <a:srgbClr val="0A5C5C"/>
                </a:solidFill>
              </a:rPr>
              <a:t>Nicholas Metropolis</a:t>
            </a:r>
            <a:endParaRPr lang="en-US" sz="1333" dirty="0"/>
          </a:p>
        </p:txBody>
      </p:sp>
      <p:sp>
        <p:nvSpPr>
          <p:cNvPr id="6" name="Shape 4"/>
          <p:cNvSpPr/>
          <p:nvPr/>
        </p:nvSpPr>
        <p:spPr>
          <a:xfrm>
            <a:off x="3291840" y="1584960"/>
            <a:ext cx="3169920" cy="2926080"/>
          </a:xfrm>
          <a:prstGeom prst="rect">
            <a:avLst/>
          </a:prstGeom>
          <a:solidFill>
            <a:srgbClr val="F3F9F9"/>
          </a:solidFill>
          <a:ln w="12700">
            <a:solidFill>
              <a:srgbClr val="9FCFCF"/>
            </a:solidFill>
            <a:prstDash val="dash"/>
          </a:ln>
        </p:spPr>
        <p:txBody>
          <a:bodyPr/>
          <a:lstStyle/>
          <a:p>
            <a:endParaRPr lang="en-GB" sz="2400"/>
          </a:p>
        </p:txBody>
      </p:sp>
      <p:sp>
        <p:nvSpPr>
          <p:cNvPr id="7" name="Text 5"/>
          <p:cNvSpPr txBox="1"/>
          <p:nvPr/>
        </p:nvSpPr>
        <p:spPr>
          <a:xfrm>
            <a:off x="3441290" y="1158240"/>
            <a:ext cx="2871019" cy="365760"/>
          </a:xfrm>
          <a:prstGeom prst="rect">
            <a:avLst/>
          </a:prstGeom>
          <a:noFill/>
          <a:ln/>
        </p:spPr>
        <p:txBody>
          <a:bodyPr wrap="square" lIns="0" tIns="0" rIns="0" bIns="0" rtlCol="0" anchor="ctr"/>
          <a:lstStyle/>
          <a:p>
            <a:pPr algn="ctr"/>
            <a:r>
              <a:rPr lang="en-US" sz="1333" dirty="0">
                <a:solidFill>
                  <a:srgbClr val="6B6B6B"/>
                </a:solidFill>
              </a:rPr>
              <a:t>
</a:t>
            </a:r>
            <a:r>
              <a:rPr lang="en-US" sz="1600" b="1" dirty="0">
                <a:solidFill>
                  <a:srgbClr val="0A5C5C"/>
                </a:solidFill>
              </a:rPr>
              <a:t>Casino de Monte-Carlo</a:t>
            </a:r>
            <a:endParaRPr lang="en-US" sz="1333" dirty="0"/>
          </a:p>
        </p:txBody>
      </p:sp>
      <p:sp>
        <p:nvSpPr>
          <p:cNvPr id="9" name="Text 7"/>
          <p:cNvSpPr txBox="1"/>
          <p:nvPr/>
        </p:nvSpPr>
        <p:spPr>
          <a:xfrm>
            <a:off x="6949440" y="1584960"/>
            <a:ext cx="4632960" cy="4389120"/>
          </a:xfrm>
          <a:prstGeom prst="rect">
            <a:avLst/>
          </a:prstGeom>
          <a:noFill/>
          <a:ln/>
        </p:spPr>
        <p:txBody>
          <a:bodyPr wrap="square" lIns="0" tIns="0" rIns="0" bIns="0" rtlCol="0" anchor="t"/>
          <a:lstStyle/>
          <a:p>
            <a:pPr marL="457189" indent="-457189">
              <a:spcAft>
                <a:spcPts val="1067"/>
              </a:spcAft>
              <a:buSzPct val="100000"/>
              <a:buChar char="•"/>
            </a:pPr>
            <a:r>
              <a:rPr lang="en-US" sz="1733" dirty="0">
                <a:solidFill>
                  <a:srgbClr val="3D3D3D"/>
                </a:solidFill>
              </a:rPr>
              <a:t>The work was secret and needed a code name.</a:t>
            </a:r>
            <a:endParaRPr lang="en-US" sz="1733" dirty="0"/>
          </a:p>
          <a:p>
            <a:pPr marL="457189" indent="-457189">
              <a:spcAft>
                <a:spcPts val="1067"/>
              </a:spcAft>
              <a:buSzPct val="100000"/>
              <a:buChar char="•"/>
            </a:pPr>
            <a:r>
              <a:rPr lang="en-US" sz="1733" dirty="0">
                <a:solidFill>
                  <a:srgbClr val="3D3D3D"/>
                </a:solidFill>
              </a:rPr>
              <a:t>Nicholas Metropolis proposed “Monte Carlo”: the casino in Monaco where Ulam's uncle used to borrow money from relatives to gamble.</a:t>
            </a:r>
            <a:endParaRPr lang="en-US" sz="1733" dirty="0"/>
          </a:p>
          <a:p>
            <a:pPr marL="457189" indent="-457189">
              <a:spcAft>
                <a:spcPts val="1067"/>
              </a:spcAft>
              <a:buSzPct val="100000"/>
              <a:buChar char="•"/>
            </a:pPr>
            <a:r>
              <a:rPr lang="en-US" sz="1733" dirty="0">
                <a:solidFill>
                  <a:srgbClr val="3D3D3D"/>
                </a:solidFill>
              </a:rPr>
              <a:t>First public description: Metropolis &amp; Ulam (1949).</a:t>
            </a:r>
            <a:endParaRPr lang="en-US" sz="1733" dirty="0"/>
          </a:p>
        </p:txBody>
      </p:sp>
      <p:sp>
        <p:nvSpPr>
          <p:cNvPr id="10" name="Text 8"/>
          <p:cNvSpPr txBox="1"/>
          <p:nvPr/>
        </p:nvSpPr>
        <p:spPr>
          <a:xfrm>
            <a:off x="609600" y="5913120"/>
            <a:ext cx="10241280" cy="365760"/>
          </a:xfrm>
          <a:prstGeom prst="rect">
            <a:avLst/>
          </a:prstGeom>
          <a:noFill/>
          <a:ln/>
        </p:spPr>
        <p:txBody>
          <a:bodyPr wrap="square" lIns="0" tIns="0" rIns="0" bIns="0" rtlCol="0" anchor="t"/>
          <a:lstStyle/>
          <a:p>
            <a:r>
              <a:rPr lang="en-US" sz="1200" i="1" dirty="0">
                <a:solidFill>
                  <a:srgbClr val="6B6B6B"/>
                </a:solidFill>
              </a:rPr>
              <a:t>Metropolis, N., &amp; Ulam, S. (1949). The Monte Carlo method. Journal of the American Statistical Association, 44(247), 335–341.</a:t>
            </a:r>
            <a:endParaRPr lang="en-US" sz="1200" dirty="0"/>
          </a:p>
        </p:txBody>
      </p:sp>
      <p:sp>
        <p:nvSpPr>
          <p:cNvPr id="25" name="Slide Number Placeholder 0"/>
          <p:cNvSpPr>
            <a:spLocks noGrp="1"/>
          </p:cNvSpPr>
          <p:nvPr>
            <p:ph type="sldNum" sz="quarter" idx="4294967295"/>
          </p:nvPr>
        </p:nvSpPr>
        <p:spPr>
          <a:xfrm>
            <a:off x="10972800" y="6339840"/>
            <a:ext cx="609600" cy="365760"/>
          </a:xfrm>
          <a:prstGeom prst="rect">
            <a:avLst/>
          </a:prstGeom>
          <a:extLst>
            <a:ext uri="{C572A759-6A51-4108-AA02-DFA0A04FC94B}">
              <ma14:wrappingTextBoxFlag xmlns="" xmlns:ma14="http://schemas.microsoft.com/office/mac/drawingml/2011/main" val="0"/>
            </a:ext>
          </a:extLst>
        </p:spPr>
        <p:txBody>
          <a:bodyPr/>
          <a:lstStyle>
            <a:lvl1pPr>
              <a:defRPr sz="1200">
                <a:solidFill>
                  <a:srgbClr val="6B6B6B"/>
                </a:solidFill>
              </a:defRPr>
            </a:lvl1pPr>
          </a:lstStyle>
          <a:p>
            <a:pPr algn="r"/>
            <a:fld id="{F7021451-1387-4CA6-816F-3879F97B5CBC}" type="slidenum">
              <a:rPr lang="en-US" b="0"/>
              <a:t>7</a:t>
            </a:fld>
            <a:endParaRPr lang="en-US"/>
          </a:p>
        </p:txBody>
      </p:sp>
      <p:pic>
        <p:nvPicPr>
          <p:cNvPr id="11" name="Picture 10">
            <a:extLst>
              <a:ext uri="{FF2B5EF4-FFF2-40B4-BE49-F238E27FC236}">
                <a16:creationId xmlns:a16="http://schemas.microsoft.com/office/drawing/2014/main" id="{A62A145D-1295-34B4-8B75-10BB73EBB2A8}"/>
              </a:ext>
            </a:extLst>
          </p:cNvPr>
          <p:cNvPicPr>
            <a:picLocks noChangeAspect="1"/>
          </p:cNvPicPr>
          <p:nvPr/>
        </p:nvPicPr>
        <p:blipFill>
          <a:blip r:embed="rId3"/>
          <a:stretch>
            <a:fillRect/>
          </a:stretch>
        </p:blipFill>
        <p:spPr>
          <a:xfrm>
            <a:off x="754502" y="1584959"/>
            <a:ext cx="1919871" cy="2941079"/>
          </a:xfrm>
          <a:prstGeom prst="rect">
            <a:avLst/>
          </a:prstGeom>
        </p:spPr>
      </p:pic>
      <p:pic>
        <p:nvPicPr>
          <p:cNvPr id="12" name="Picture 11">
            <a:extLst>
              <a:ext uri="{FF2B5EF4-FFF2-40B4-BE49-F238E27FC236}">
                <a16:creationId xmlns:a16="http://schemas.microsoft.com/office/drawing/2014/main" id="{69579260-8AF1-ABEF-1C67-E4451FFCBD00}"/>
              </a:ext>
            </a:extLst>
          </p:cNvPr>
          <p:cNvPicPr>
            <a:picLocks noChangeAspect="1"/>
          </p:cNvPicPr>
          <p:nvPr/>
        </p:nvPicPr>
        <p:blipFill>
          <a:blip r:embed="rId4"/>
          <a:stretch>
            <a:fillRect/>
          </a:stretch>
        </p:blipFill>
        <p:spPr>
          <a:xfrm>
            <a:off x="3291840" y="2072640"/>
            <a:ext cx="3199332" cy="1929294"/>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09600" y="426720"/>
            <a:ext cx="10972800" cy="914400"/>
          </a:xfrm>
          <a:prstGeom prst="rect">
            <a:avLst/>
          </a:prstGeom>
          <a:noFill/>
          <a:ln/>
        </p:spPr>
        <p:txBody>
          <a:bodyPr vert="horz" wrap="square" lIns="0" tIns="0" rIns="0" bIns="0" rtlCol="0" anchor="ctr">
            <a:normAutofit/>
          </a:bodyPr>
          <a:lstStyle/>
          <a:p>
            <a:r>
              <a:rPr lang="en-US" dirty="0"/>
              <a:t>Three things to keep from the story</a:t>
            </a:r>
          </a:p>
        </p:txBody>
      </p:sp>
      <p:sp>
        <p:nvSpPr>
          <p:cNvPr id="3" name="Shape 1"/>
          <p:cNvSpPr/>
          <p:nvPr/>
        </p:nvSpPr>
        <p:spPr>
          <a:xfrm>
            <a:off x="609600" y="1584960"/>
            <a:ext cx="3535680" cy="4023360"/>
          </a:xfrm>
          <a:prstGeom prst="roundRect">
            <a:avLst>
              <a:gd name="adj" fmla="val 3448"/>
            </a:avLst>
          </a:prstGeom>
          <a:solidFill>
            <a:srgbClr val="E6F2F2"/>
          </a:solidFill>
          <a:ln w="12700">
            <a:solidFill>
              <a:srgbClr val="E6F2F2"/>
            </a:solidFill>
            <a:prstDash val="solid"/>
          </a:ln>
        </p:spPr>
        <p:txBody>
          <a:bodyPr/>
          <a:lstStyle/>
          <a:p>
            <a:endParaRPr lang="en-GB" sz="2400"/>
          </a:p>
        </p:txBody>
      </p:sp>
      <p:sp>
        <p:nvSpPr>
          <p:cNvPr id="4" name="Text 2"/>
          <p:cNvSpPr txBox="1"/>
          <p:nvPr/>
        </p:nvSpPr>
        <p:spPr>
          <a:xfrm>
            <a:off x="853440" y="1767840"/>
            <a:ext cx="3048000" cy="487680"/>
          </a:xfrm>
          <a:prstGeom prst="rect">
            <a:avLst/>
          </a:prstGeom>
          <a:noFill/>
          <a:ln/>
        </p:spPr>
        <p:txBody>
          <a:bodyPr wrap="square" lIns="0" tIns="0" rIns="0" bIns="0" rtlCol="0" anchor="ctr"/>
          <a:lstStyle/>
          <a:p>
            <a:r>
              <a:rPr lang="en-US" sz="2000" b="1" dirty="0">
                <a:solidFill>
                  <a:srgbClr val="0A5C5C"/>
                </a:solidFill>
              </a:rPr>
              <a:t>Born from gambling</a:t>
            </a:r>
            <a:endParaRPr lang="en-US" sz="2000" dirty="0"/>
          </a:p>
        </p:txBody>
      </p:sp>
      <p:sp>
        <p:nvSpPr>
          <p:cNvPr id="5" name="Text 3"/>
          <p:cNvSpPr txBox="1"/>
          <p:nvPr/>
        </p:nvSpPr>
        <p:spPr>
          <a:xfrm>
            <a:off x="853440" y="2316480"/>
            <a:ext cx="3048000" cy="3108960"/>
          </a:xfrm>
          <a:prstGeom prst="rect">
            <a:avLst/>
          </a:prstGeom>
          <a:noFill/>
          <a:ln/>
        </p:spPr>
        <p:txBody>
          <a:bodyPr wrap="square" lIns="0" tIns="0" rIns="0" bIns="0" rtlCol="0" anchor="t"/>
          <a:lstStyle/>
          <a:p>
            <a:r>
              <a:rPr lang="en-US" sz="1733" dirty="0">
                <a:solidFill>
                  <a:srgbClr val="3D3D3D"/>
                </a:solidFill>
              </a:rPr>
              <a:t>Cards and dice are the simplest random processes. That is why we start with them, and why the vocabulary (odds, draws, runs) comes from the casino.</a:t>
            </a:r>
            <a:endParaRPr lang="en-US" sz="1733" dirty="0"/>
          </a:p>
        </p:txBody>
      </p:sp>
      <p:sp>
        <p:nvSpPr>
          <p:cNvPr id="6" name="Shape 4"/>
          <p:cNvSpPr/>
          <p:nvPr/>
        </p:nvSpPr>
        <p:spPr>
          <a:xfrm>
            <a:off x="4328160" y="1584960"/>
            <a:ext cx="3535680" cy="4023360"/>
          </a:xfrm>
          <a:prstGeom prst="roundRect">
            <a:avLst>
              <a:gd name="adj" fmla="val 3448"/>
            </a:avLst>
          </a:prstGeom>
          <a:solidFill>
            <a:srgbClr val="FBEBDD"/>
          </a:solidFill>
          <a:ln w="12700">
            <a:solidFill>
              <a:srgbClr val="FBEBDD"/>
            </a:solidFill>
            <a:prstDash val="solid"/>
          </a:ln>
        </p:spPr>
        <p:txBody>
          <a:bodyPr/>
          <a:lstStyle/>
          <a:p>
            <a:endParaRPr lang="en-GB" sz="2400"/>
          </a:p>
        </p:txBody>
      </p:sp>
      <p:sp>
        <p:nvSpPr>
          <p:cNvPr id="7" name="Text 5"/>
          <p:cNvSpPr txBox="1"/>
          <p:nvPr/>
        </p:nvSpPr>
        <p:spPr>
          <a:xfrm>
            <a:off x="4572000" y="1767840"/>
            <a:ext cx="3048000" cy="487680"/>
          </a:xfrm>
          <a:prstGeom prst="rect">
            <a:avLst/>
          </a:prstGeom>
          <a:noFill/>
          <a:ln/>
        </p:spPr>
        <p:txBody>
          <a:bodyPr wrap="square" lIns="0" tIns="0" rIns="0" bIns="0" rtlCol="0" anchor="ctr"/>
          <a:lstStyle/>
          <a:p>
            <a:r>
              <a:rPr lang="en-US" sz="2000" b="1" dirty="0">
                <a:solidFill>
                  <a:srgbClr val="7A4A1E"/>
                </a:solidFill>
              </a:rPr>
              <a:t>Thinking for computing</a:t>
            </a:r>
            <a:endParaRPr lang="en-US" sz="2000" dirty="0"/>
          </a:p>
        </p:txBody>
      </p:sp>
      <p:sp>
        <p:nvSpPr>
          <p:cNvPr id="8" name="Text 6"/>
          <p:cNvSpPr txBox="1"/>
          <p:nvPr/>
        </p:nvSpPr>
        <p:spPr>
          <a:xfrm>
            <a:off x="4572000" y="2316480"/>
            <a:ext cx="3048000" cy="3108960"/>
          </a:xfrm>
          <a:prstGeom prst="rect">
            <a:avLst/>
          </a:prstGeom>
          <a:noFill/>
          <a:ln/>
        </p:spPr>
        <p:txBody>
          <a:bodyPr wrap="square" lIns="0" tIns="0" rIns="0" bIns="0" rtlCol="0" anchor="t"/>
          <a:lstStyle/>
          <a:p>
            <a:r>
              <a:rPr lang="en-US" sz="1733" dirty="0">
                <a:solidFill>
                  <a:srgbClr val="3D3D3D"/>
                </a:solidFill>
              </a:rPr>
              <a:t>When the formula is out of reach, simulate the process and let the machine count. Patience is something a computer has in unlimited supply.</a:t>
            </a:r>
            <a:endParaRPr lang="en-US" sz="1733" dirty="0"/>
          </a:p>
        </p:txBody>
      </p:sp>
      <p:sp>
        <p:nvSpPr>
          <p:cNvPr id="9" name="Shape 7"/>
          <p:cNvSpPr/>
          <p:nvPr/>
        </p:nvSpPr>
        <p:spPr>
          <a:xfrm>
            <a:off x="8046720" y="1584960"/>
            <a:ext cx="3535680" cy="4023360"/>
          </a:xfrm>
          <a:prstGeom prst="roundRect">
            <a:avLst>
              <a:gd name="adj" fmla="val 3448"/>
            </a:avLst>
          </a:prstGeom>
          <a:solidFill>
            <a:srgbClr val="FAECE7"/>
          </a:solidFill>
          <a:ln w="12700">
            <a:solidFill>
              <a:srgbClr val="FAECE7"/>
            </a:solidFill>
            <a:prstDash val="solid"/>
          </a:ln>
        </p:spPr>
        <p:txBody>
          <a:bodyPr/>
          <a:lstStyle/>
          <a:p>
            <a:endParaRPr lang="en-GB" sz="2400"/>
          </a:p>
        </p:txBody>
      </p:sp>
      <p:sp>
        <p:nvSpPr>
          <p:cNvPr id="10" name="Text 8"/>
          <p:cNvSpPr txBox="1"/>
          <p:nvPr/>
        </p:nvSpPr>
        <p:spPr>
          <a:xfrm>
            <a:off x="8290560" y="1767840"/>
            <a:ext cx="3048000" cy="487680"/>
          </a:xfrm>
          <a:prstGeom prst="rect">
            <a:avLst/>
          </a:prstGeom>
          <a:noFill/>
          <a:ln/>
        </p:spPr>
        <p:txBody>
          <a:bodyPr wrap="square" lIns="0" tIns="0" rIns="0" bIns="0" rtlCol="0" anchor="ctr"/>
          <a:lstStyle/>
          <a:p>
            <a:r>
              <a:rPr lang="en-US" sz="2000" b="1" dirty="0">
                <a:solidFill>
                  <a:srgbClr val="712B13"/>
                </a:solidFill>
              </a:rPr>
              <a:t>Impossible before computers</a:t>
            </a:r>
            <a:endParaRPr lang="en-US" sz="2000" dirty="0"/>
          </a:p>
        </p:txBody>
      </p:sp>
      <p:sp>
        <p:nvSpPr>
          <p:cNvPr id="11" name="Text 9"/>
          <p:cNvSpPr txBox="1"/>
          <p:nvPr/>
        </p:nvSpPr>
        <p:spPr>
          <a:xfrm>
            <a:off x="8290560" y="2316480"/>
            <a:ext cx="3048000" cy="3108960"/>
          </a:xfrm>
          <a:prstGeom prst="rect">
            <a:avLst/>
          </a:prstGeom>
          <a:noFill/>
          <a:ln/>
        </p:spPr>
        <p:txBody>
          <a:bodyPr wrap="square" lIns="0" tIns="0" rIns="0" bIns="0" rtlCol="0" anchor="t"/>
          <a:lstStyle/>
          <a:p>
            <a:r>
              <a:rPr lang="en-US" sz="1733" dirty="0">
                <a:solidFill>
                  <a:srgbClr val="3D3D3D"/>
                </a:solidFill>
              </a:rPr>
              <a:t>Buffon dropped needles by hand in 1777 to estimate π. What was new in 1946 was scale, and the realisation that almost any problem with randomness in it can be attacked this way.</a:t>
            </a:r>
            <a:endParaRPr lang="en-US" sz="1733" dirty="0"/>
          </a:p>
        </p:txBody>
      </p:sp>
      <p:sp>
        <p:nvSpPr>
          <p:cNvPr id="25" name="Slide Number Placeholder 0"/>
          <p:cNvSpPr>
            <a:spLocks noGrp="1"/>
          </p:cNvSpPr>
          <p:nvPr>
            <p:ph type="sldNum" sz="quarter" idx="4294967295"/>
          </p:nvPr>
        </p:nvSpPr>
        <p:spPr>
          <a:xfrm>
            <a:off x="10972800" y="6339840"/>
            <a:ext cx="609600" cy="365760"/>
          </a:xfrm>
          <a:prstGeom prst="rect">
            <a:avLst/>
          </a:prstGeom>
          <a:extLst>
            <a:ext uri="{C572A759-6A51-4108-AA02-DFA0A04FC94B}">
              <ma14:wrappingTextBoxFlag xmlns="" xmlns:ma14="http://schemas.microsoft.com/office/mac/drawingml/2011/main" val="0"/>
            </a:ext>
          </a:extLst>
        </p:spPr>
        <p:txBody>
          <a:bodyPr/>
          <a:lstStyle>
            <a:lvl1pPr>
              <a:defRPr sz="1200">
                <a:solidFill>
                  <a:srgbClr val="6B6B6B"/>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731520" y="1706880"/>
            <a:ext cx="10728960" cy="609600"/>
          </a:xfrm>
          <a:prstGeom prst="rect">
            <a:avLst/>
          </a:prstGeom>
          <a:noFill/>
          <a:ln/>
        </p:spPr>
        <p:txBody>
          <a:bodyPr vert="horz" wrap="square" lIns="0" tIns="0" rIns="0" bIns="0" rtlCol="0">
            <a:normAutofit/>
          </a:bodyPr>
          <a:lstStyle/>
          <a:p>
            <a:r>
              <a:rPr lang="en-US" dirty="0"/>
              <a:t>Part A · Four ideas the method rests on</a:t>
            </a:r>
          </a:p>
        </p:txBody>
      </p:sp>
      <p:sp>
        <p:nvSpPr>
          <p:cNvPr id="3" name="Text 0"/>
          <p:cNvSpPr>
            <a:spLocks noGrp="1"/>
          </p:cNvSpPr>
          <p:nvPr>
            <p:ph type="title" idx="101" hasCustomPrompt="1"/>
          </p:nvPr>
        </p:nvSpPr>
        <p:spPr>
          <a:xfrm>
            <a:off x="731520" y="2316480"/>
            <a:ext cx="10728960" cy="2194560"/>
          </a:xfrm>
          <a:prstGeom prst="rect">
            <a:avLst/>
          </a:prstGeom>
          <a:noFill/>
          <a:ln/>
        </p:spPr>
        <p:txBody>
          <a:bodyPr vert="horz" wrap="square" lIns="0" tIns="0" rIns="0" bIns="0" rtlCol="0" anchor="ctr">
            <a:normAutofit/>
          </a:bodyPr>
          <a:lstStyle/>
          <a:p>
            <a:r>
              <a:rPr lang="en-US" dirty="0"/>
              <a:t>Probability, random numbers, distributions, and the law of large numbers</a:t>
            </a:r>
          </a:p>
        </p:txBody>
      </p:sp>
      <p:sp>
        <p:nvSpPr>
          <p:cNvPr id="4" name="Text 0"/>
          <p:cNvSpPr>
            <a:spLocks noGrp="1"/>
          </p:cNvSpPr>
          <p:nvPr>
            <p:ph type="body" idx="102" hasCustomPrompt="1"/>
          </p:nvPr>
        </p:nvSpPr>
        <p:spPr>
          <a:xfrm>
            <a:off x="731520" y="4754880"/>
            <a:ext cx="10728960" cy="1097280"/>
          </a:xfrm>
          <a:prstGeom prst="rect">
            <a:avLst/>
          </a:prstGeom>
          <a:noFill/>
          <a:ln/>
        </p:spPr>
        <p:txBody>
          <a:bodyPr vert="horz" wrap="square" lIns="0" tIns="0" rIns="0" bIns="0" rtlCol="0">
            <a:normAutofit/>
          </a:bodyPr>
          <a:lstStyle/>
          <a:p>
            <a:r>
              <a:rPr lang="en-US" dirty="0"/>
              <a:t>Notebook Part A follows the same four headings.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09600" y="426720"/>
            <a:ext cx="10972800" cy="914400"/>
          </a:xfrm>
          <a:prstGeom prst="rect">
            <a:avLst/>
          </a:prstGeom>
          <a:noFill/>
          <a:ln/>
        </p:spPr>
        <p:txBody>
          <a:bodyPr vert="horz" wrap="square" lIns="0" tIns="0" rIns="0" bIns="0" rtlCol="0" anchor="ctr">
            <a:normAutofit/>
          </a:bodyPr>
          <a:lstStyle/>
          <a:p>
            <a:r>
              <a:rPr lang="en-US" dirty="0"/>
              <a:t>Probability is a long-run share</a:t>
            </a:r>
          </a:p>
        </p:txBody>
      </p:sp>
      <p:pic>
        <p:nvPicPr>
          <p:cNvPr id="3" name="Image 0" descr="figs/fig1_coin.png"/>
          <p:cNvPicPr>
            <a:picLocks noChangeAspect="1"/>
          </p:cNvPicPr>
          <p:nvPr/>
        </p:nvPicPr>
        <p:blipFill>
          <a:blip r:embed="rId3"/>
          <a:stretch>
            <a:fillRect/>
          </a:stretch>
        </p:blipFill>
        <p:spPr>
          <a:xfrm>
            <a:off x="609600" y="1698752"/>
            <a:ext cx="6827520" cy="3186176"/>
          </a:xfrm>
          <a:prstGeom prst="rect">
            <a:avLst/>
          </a:prstGeom>
        </p:spPr>
      </p:pic>
      <p:sp>
        <p:nvSpPr>
          <p:cNvPr id="4" name="Text 1"/>
          <p:cNvSpPr txBox="1"/>
          <p:nvPr/>
        </p:nvSpPr>
        <p:spPr>
          <a:xfrm>
            <a:off x="7680960" y="1706880"/>
            <a:ext cx="3901440" cy="4389120"/>
          </a:xfrm>
          <a:prstGeom prst="rect">
            <a:avLst/>
          </a:prstGeom>
          <a:noFill/>
          <a:ln/>
        </p:spPr>
        <p:txBody>
          <a:bodyPr wrap="square" lIns="0" tIns="0" rIns="0" bIns="0" rtlCol="0" anchor="t"/>
          <a:lstStyle/>
          <a:p>
            <a:pPr marL="457189" indent="-457189">
              <a:spcAft>
                <a:spcPts val="1067"/>
              </a:spcAft>
              <a:buSzPct val="100000"/>
              <a:buChar char="•"/>
            </a:pPr>
            <a:r>
              <a:rPr lang="en-US" sz="1733" dirty="0">
                <a:solidFill>
                  <a:srgbClr val="3D3D3D"/>
                </a:solidFill>
              </a:rPr>
              <a:t>“Probability of heads is ½” means: in an enormous number of flips, about half are heads.</a:t>
            </a:r>
            <a:endParaRPr lang="en-US" sz="1733" dirty="0"/>
          </a:p>
          <a:p>
            <a:pPr marL="457189" indent="-457189">
              <a:spcAft>
                <a:spcPts val="1067"/>
              </a:spcAft>
              <a:buSzPct val="100000"/>
              <a:buChar char="•"/>
            </a:pPr>
            <a:r>
              <a:rPr lang="en-US" sz="1733" dirty="0">
                <a:solidFill>
                  <a:srgbClr val="3D3D3D"/>
                </a:solidFill>
              </a:rPr>
              <a:t>After 10 flips the share might be 0.3 or 0.7. After 5,000 it is very close to 0.5.</a:t>
            </a:r>
            <a:endParaRPr lang="en-US" sz="1733" dirty="0"/>
          </a:p>
          <a:p>
            <a:pPr marL="457189" indent="-457189">
              <a:spcAft>
                <a:spcPts val="1067"/>
              </a:spcAft>
              <a:buSzPct val="100000"/>
              <a:buChar char="•"/>
            </a:pPr>
            <a:r>
              <a:rPr lang="en-US" sz="1733" dirty="0">
                <a:solidFill>
                  <a:srgbClr val="3D3D3D"/>
                </a:solidFill>
              </a:rPr>
              <a:t>Probability is where the line settles.</a:t>
            </a:r>
            <a:endParaRPr lang="en-US" sz="1733" dirty="0"/>
          </a:p>
        </p:txBody>
      </p:sp>
      <p:sp>
        <p:nvSpPr>
          <p:cNvPr id="5" name="Text 2"/>
          <p:cNvSpPr txBox="1"/>
          <p:nvPr/>
        </p:nvSpPr>
        <p:spPr>
          <a:xfrm>
            <a:off x="609600" y="5242560"/>
            <a:ext cx="10972800" cy="609600"/>
          </a:xfrm>
          <a:prstGeom prst="rect">
            <a:avLst/>
          </a:prstGeom>
          <a:noFill/>
          <a:ln/>
        </p:spPr>
        <p:txBody>
          <a:bodyPr wrap="square" lIns="0" tIns="0" rIns="0" bIns="0" rtlCol="0" anchor="t"/>
          <a:lstStyle/>
          <a:p>
            <a:r>
              <a:rPr lang="en-US" sz="1867" b="1" dirty="0">
                <a:solidFill>
                  <a:srgbClr val="0F7F7F"/>
                </a:solidFill>
              </a:rPr>
              <a:t>So a probability can be measured by repeating the experiment and taking the share. No formula, only patience.</a:t>
            </a:r>
            <a:endParaRPr lang="en-US" sz="1867" dirty="0"/>
          </a:p>
        </p:txBody>
      </p:sp>
      <p:sp>
        <p:nvSpPr>
          <p:cNvPr id="6" name="Text 3"/>
          <p:cNvSpPr txBox="1"/>
          <p:nvPr/>
        </p:nvSpPr>
        <p:spPr>
          <a:xfrm>
            <a:off x="609600" y="5913120"/>
            <a:ext cx="10972800" cy="365760"/>
          </a:xfrm>
          <a:prstGeom prst="rect">
            <a:avLst/>
          </a:prstGeom>
          <a:noFill/>
          <a:ln/>
        </p:spPr>
        <p:txBody>
          <a:bodyPr wrap="square" lIns="0" tIns="0" rIns="0" bIns="0" rtlCol="0" anchor="t"/>
          <a:lstStyle/>
          <a:p>
            <a:r>
              <a:rPr lang="en-US" sz="1333" i="1" dirty="0">
                <a:solidFill>
                  <a:srgbClr val="6B6B6B"/>
                </a:solidFill>
              </a:rPr>
              <a:t>Notebook A.1: drag “Flips” from 10 to 5,000 and watch the swings narrow.</a:t>
            </a:r>
            <a:endParaRPr lang="en-US" sz="1333" dirty="0"/>
          </a:p>
        </p:txBody>
      </p:sp>
      <p:sp>
        <p:nvSpPr>
          <p:cNvPr id="25" name="Slide Number Placeholder 0"/>
          <p:cNvSpPr>
            <a:spLocks noGrp="1"/>
          </p:cNvSpPr>
          <p:nvPr>
            <p:ph type="sldNum" sz="quarter" idx="4294967295"/>
          </p:nvPr>
        </p:nvSpPr>
        <p:spPr>
          <a:xfrm>
            <a:off x="10972800" y="6339840"/>
            <a:ext cx="609600" cy="365760"/>
          </a:xfrm>
          <a:prstGeom prst="rect">
            <a:avLst/>
          </a:prstGeom>
          <a:extLst>
            <a:ext uri="{C572A759-6A51-4108-AA02-DFA0A04FC94B}">
              <ma14:wrappingTextBoxFlag xmlns="" xmlns:ma14="http://schemas.microsoft.com/office/mac/drawingml/2011/main" val="0"/>
            </a:ext>
          </a:extLst>
        </p:spPr>
        <p:txBody>
          <a:bodyPr/>
          <a:lstStyle>
            <a:lvl1pPr>
              <a:defRPr sz="1200">
                <a:solidFill>
                  <a:srgbClr val="6B6B6B"/>
                </a:solidFill>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09600" y="426720"/>
            <a:ext cx="10972800" cy="914400"/>
          </a:xfrm>
          <a:prstGeom prst="rect">
            <a:avLst/>
          </a:prstGeom>
          <a:noFill/>
          <a:ln/>
        </p:spPr>
        <p:txBody>
          <a:bodyPr vert="horz" wrap="square" lIns="0" tIns="0" rIns="0" bIns="0" rtlCol="0" anchor="ctr">
            <a:normAutofit/>
          </a:bodyPr>
          <a:lstStyle/>
          <a:p>
            <a:r>
              <a:rPr lang="en-US" dirty="0"/>
              <a:t>Random numbers from a computer</a:t>
            </a:r>
          </a:p>
        </p:txBody>
      </p:sp>
      <p:graphicFrame>
        <p:nvGraphicFramePr>
          <p:cNvPr id="12" name="Table 0"/>
          <p:cNvGraphicFramePr>
            <a:graphicFrameLocks noGrp="1"/>
          </p:cNvGraphicFramePr>
          <p:nvPr/>
        </p:nvGraphicFramePr>
        <p:xfrm>
          <a:off x="609600" y="1584960"/>
          <a:ext cx="10972800" cy="1755648"/>
        </p:xfrm>
        <a:graphic>
          <a:graphicData uri="http://schemas.openxmlformats.org/drawingml/2006/table">
            <a:tbl>
              <a:tblPr/>
              <a:tblGrid>
                <a:gridCol w="4389120">
                  <a:extLst>
                    <a:ext uri="{9D8B030D-6E8A-4147-A177-3AD203B41FA5}">
                      <a16:colId xmlns:a16="http://schemas.microsoft.com/office/drawing/2014/main" val="20000"/>
                    </a:ext>
                  </a:extLst>
                </a:gridCol>
                <a:gridCol w="3169920">
                  <a:extLst>
                    <a:ext uri="{9D8B030D-6E8A-4147-A177-3AD203B41FA5}">
                      <a16:colId xmlns:a16="http://schemas.microsoft.com/office/drawing/2014/main" val="20001"/>
                    </a:ext>
                  </a:extLst>
                </a:gridCol>
                <a:gridCol w="3413760">
                  <a:extLst>
                    <a:ext uri="{9D8B030D-6E8A-4147-A177-3AD203B41FA5}">
                      <a16:colId xmlns:a16="http://schemas.microsoft.com/office/drawing/2014/main" val="20002"/>
                    </a:ext>
                  </a:extLst>
                </a:gridCol>
              </a:tblGrid>
              <a:tr h="438912">
                <a:tc>
                  <a:txBody>
                    <a:bodyPr/>
                    <a:lstStyle/>
                    <a:p>
                      <a:pPr marL="0" indent="0">
                        <a:buNone/>
                      </a:pPr>
                      <a:r>
                        <a:rPr lang="en-US" sz="1600" b="1" dirty="0">
                          <a:solidFill>
                            <a:srgbClr val="0A5C5C"/>
                          </a:solidFill>
                          <a:latin typeface="Calibri" pitchFamily="34" charset="0"/>
                          <a:ea typeface="Calibri" pitchFamily="34" charset="-122"/>
                          <a:cs typeface="Calibri" pitchFamily="34" charset="-120"/>
                        </a:rPr>
                        <a:t>What you want</a:t>
                      </a:r>
                      <a:endParaRPr lang="en-US" sz="1600" dirty="0">
                        <a:latin typeface="Calibri" charset="0"/>
                        <a:ea typeface="Calibri" charset="0"/>
                        <a:cs typeface="Calibri" charset="0"/>
                      </a:endParaRPr>
                    </a:p>
                  </a:txBody>
                  <a:tcPr marL="97536" marR="97536" marT="97536" marB="97536">
                    <a:lnL w="6350" cap="flat" cmpd="sng" algn="ctr">
                      <a:solidFill>
                        <a:srgbClr val="D9ECEC"/>
                      </a:solidFill>
                      <a:prstDash val="solid"/>
                      <a:round/>
                      <a:headEnd type="none" w="med" len="med"/>
                      <a:tailEnd type="none" w="med" len="med"/>
                    </a:lnL>
                    <a:lnR w="6350" cap="flat" cmpd="sng" algn="ctr">
                      <a:solidFill>
                        <a:srgbClr val="D9ECEC"/>
                      </a:solidFill>
                      <a:prstDash val="solid"/>
                      <a:round/>
                      <a:headEnd type="none" w="med" len="med"/>
                      <a:tailEnd type="none" w="med" len="med"/>
                    </a:lnR>
                    <a:lnT w="6350" cap="flat" cmpd="sng" algn="ctr">
                      <a:solidFill>
                        <a:srgbClr val="D9ECEC"/>
                      </a:solidFill>
                      <a:prstDash val="solid"/>
                      <a:round/>
                      <a:headEnd type="none" w="med" len="med"/>
                      <a:tailEnd type="none" w="med" len="med"/>
                    </a:lnT>
                    <a:lnB w="6350" cap="flat" cmpd="sng" algn="ctr">
                      <a:solidFill>
                        <a:srgbClr val="D9ECEC"/>
                      </a:solidFill>
                      <a:prstDash val="solid"/>
                      <a:round/>
                      <a:headEnd type="none" w="med" len="med"/>
                      <a:tailEnd type="none" w="med" len="med"/>
                    </a:lnB>
                    <a:solidFill>
                      <a:srgbClr val="F3F9F9"/>
                    </a:solidFill>
                  </a:tcPr>
                </a:tc>
                <a:tc>
                  <a:txBody>
                    <a:bodyPr/>
                    <a:lstStyle/>
                    <a:p>
                      <a:pPr marL="0" indent="0">
                        <a:buNone/>
                      </a:pPr>
                      <a:r>
                        <a:rPr lang="en-US" sz="1600" b="1" dirty="0">
                          <a:solidFill>
                            <a:srgbClr val="0A5C5C"/>
                          </a:solidFill>
                          <a:latin typeface="Calibri" pitchFamily="34" charset="0"/>
                          <a:ea typeface="Calibri" pitchFamily="34" charset="-122"/>
                          <a:cs typeface="Calibri" pitchFamily="34" charset="-120"/>
                        </a:rPr>
                        <a:t>Excel</a:t>
                      </a:r>
                      <a:endParaRPr lang="en-US" sz="1600" dirty="0">
                        <a:latin typeface="Calibri" charset="0"/>
                        <a:ea typeface="Calibri" charset="0"/>
                        <a:cs typeface="Calibri" charset="0"/>
                      </a:endParaRPr>
                    </a:p>
                  </a:txBody>
                  <a:tcPr marL="97536" marR="97536" marT="97536" marB="97536">
                    <a:lnL w="6350" cap="flat" cmpd="sng" algn="ctr">
                      <a:solidFill>
                        <a:srgbClr val="D9ECEC"/>
                      </a:solidFill>
                      <a:prstDash val="solid"/>
                      <a:round/>
                      <a:headEnd type="none" w="med" len="med"/>
                      <a:tailEnd type="none" w="med" len="med"/>
                    </a:lnL>
                    <a:lnR w="6350" cap="flat" cmpd="sng" algn="ctr">
                      <a:solidFill>
                        <a:srgbClr val="D9ECEC"/>
                      </a:solidFill>
                      <a:prstDash val="solid"/>
                      <a:round/>
                      <a:headEnd type="none" w="med" len="med"/>
                      <a:tailEnd type="none" w="med" len="med"/>
                    </a:lnR>
                    <a:lnT w="6350" cap="flat" cmpd="sng" algn="ctr">
                      <a:solidFill>
                        <a:srgbClr val="D9ECEC"/>
                      </a:solidFill>
                      <a:prstDash val="solid"/>
                      <a:round/>
                      <a:headEnd type="none" w="med" len="med"/>
                      <a:tailEnd type="none" w="med" len="med"/>
                    </a:lnT>
                    <a:lnB w="6350" cap="flat" cmpd="sng" algn="ctr">
                      <a:solidFill>
                        <a:srgbClr val="D9ECEC"/>
                      </a:solidFill>
                      <a:prstDash val="solid"/>
                      <a:round/>
                      <a:headEnd type="none" w="med" len="med"/>
                      <a:tailEnd type="none" w="med" len="med"/>
                    </a:lnB>
                    <a:solidFill>
                      <a:srgbClr val="F3F9F9"/>
                    </a:solidFill>
                  </a:tcPr>
                </a:tc>
                <a:tc>
                  <a:txBody>
                    <a:bodyPr/>
                    <a:lstStyle/>
                    <a:p>
                      <a:pPr marL="0" indent="0">
                        <a:buNone/>
                      </a:pPr>
                      <a:r>
                        <a:rPr lang="en-US" sz="1600" b="1" dirty="0">
                          <a:solidFill>
                            <a:srgbClr val="0A5C5C"/>
                          </a:solidFill>
                          <a:latin typeface="Calibri" pitchFamily="34" charset="0"/>
                          <a:ea typeface="Calibri" pitchFamily="34" charset="-122"/>
                          <a:cs typeface="Calibri" pitchFamily="34" charset="-120"/>
                        </a:rPr>
                        <a:t>Python (notebook)</a:t>
                      </a:r>
                      <a:endParaRPr lang="en-US" sz="1600" dirty="0">
                        <a:latin typeface="Calibri" charset="0"/>
                        <a:ea typeface="Calibri" charset="0"/>
                        <a:cs typeface="Calibri" charset="0"/>
                      </a:endParaRPr>
                    </a:p>
                  </a:txBody>
                  <a:tcPr marL="97536" marR="97536" marT="97536" marB="97536">
                    <a:lnL w="6350" cap="flat" cmpd="sng" algn="ctr">
                      <a:solidFill>
                        <a:srgbClr val="D9ECEC"/>
                      </a:solidFill>
                      <a:prstDash val="solid"/>
                      <a:round/>
                      <a:headEnd type="none" w="med" len="med"/>
                      <a:tailEnd type="none" w="med" len="med"/>
                    </a:lnL>
                    <a:lnR w="6350" cap="flat" cmpd="sng" algn="ctr">
                      <a:solidFill>
                        <a:srgbClr val="D9ECEC"/>
                      </a:solidFill>
                      <a:prstDash val="solid"/>
                      <a:round/>
                      <a:headEnd type="none" w="med" len="med"/>
                      <a:tailEnd type="none" w="med" len="med"/>
                    </a:lnR>
                    <a:lnT w="6350" cap="flat" cmpd="sng" algn="ctr">
                      <a:solidFill>
                        <a:srgbClr val="D9ECEC"/>
                      </a:solidFill>
                      <a:prstDash val="solid"/>
                      <a:round/>
                      <a:headEnd type="none" w="med" len="med"/>
                      <a:tailEnd type="none" w="med" len="med"/>
                    </a:lnT>
                    <a:lnB w="6350" cap="flat" cmpd="sng" algn="ctr">
                      <a:solidFill>
                        <a:srgbClr val="D9ECEC"/>
                      </a:solidFill>
                      <a:prstDash val="solid"/>
                      <a:round/>
                      <a:headEnd type="none" w="med" len="med"/>
                      <a:tailEnd type="none" w="med" len="med"/>
                    </a:lnB>
                    <a:solidFill>
                      <a:srgbClr val="F3F9F9"/>
                    </a:solidFill>
                  </a:tcPr>
                </a:tc>
                <a:extLst>
                  <a:ext uri="{0D108BD9-81ED-4DB2-BD59-A6C34878D82A}">
                    <a16:rowId xmlns:a16="http://schemas.microsoft.com/office/drawing/2014/main" val="10000"/>
                  </a:ext>
                </a:extLst>
              </a:tr>
              <a:tr h="438912">
                <a:tc>
                  <a:txBody>
                    <a:bodyPr/>
                    <a:lstStyle/>
                    <a:p>
                      <a:pPr marL="0" indent="0">
                        <a:buNone/>
                      </a:pPr>
                      <a:r>
                        <a:rPr lang="en-US" sz="1600" dirty="0">
                          <a:solidFill>
                            <a:srgbClr val="3D3D3D"/>
                          </a:solidFill>
                          <a:latin typeface="Calibri" pitchFamily="34" charset="0"/>
                          <a:ea typeface="Calibri" pitchFamily="34" charset="-122"/>
                          <a:cs typeface="Calibri" pitchFamily="34" charset="-120"/>
                        </a:rPr>
                        <a:t>a number between 0 and 1, all equally likely</a:t>
                      </a:r>
                      <a:endParaRPr lang="en-US" sz="1600" dirty="0">
                        <a:latin typeface="Calibri" charset="0"/>
                        <a:ea typeface="Calibri" charset="0"/>
                        <a:cs typeface="Calibri" charset="0"/>
                      </a:endParaRPr>
                    </a:p>
                  </a:txBody>
                  <a:tcPr marL="97536" marR="97536" marT="97536" marB="97536">
                    <a:lnL w="6350" cap="flat" cmpd="sng" algn="ctr">
                      <a:solidFill>
                        <a:srgbClr val="D9ECEC"/>
                      </a:solidFill>
                      <a:prstDash val="solid"/>
                      <a:round/>
                      <a:headEnd type="none" w="med" len="med"/>
                      <a:tailEnd type="none" w="med" len="med"/>
                    </a:lnL>
                    <a:lnR w="6350" cap="flat" cmpd="sng" algn="ctr">
                      <a:solidFill>
                        <a:srgbClr val="D9ECEC"/>
                      </a:solidFill>
                      <a:prstDash val="solid"/>
                      <a:round/>
                      <a:headEnd type="none" w="med" len="med"/>
                      <a:tailEnd type="none" w="med" len="med"/>
                    </a:lnR>
                    <a:lnT w="6350" cap="flat" cmpd="sng" algn="ctr">
                      <a:solidFill>
                        <a:srgbClr val="D9ECEC"/>
                      </a:solidFill>
                      <a:prstDash val="solid"/>
                      <a:round/>
                      <a:headEnd type="none" w="med" len="med"/>
                      <a:tailEnd type="none" w="med" len="med"/>
                    </a:lnT>
                    <a:lnB w="6350" cap="flat" cmpd="sng" algn="ctr">
                      <a:solidFill>
                        <a:srgbClr val="D9ECEC"/>
                      </a:solidFill>
                      <a:prstDash val="solid"/>
                      <a:round/>
                      <a:headEnd type="none" w="med" len="med"/>
                      <a:tailEnd type="none" w="med" len="med"/>
                    </a:lnB>
                  </a:tcPr>
                </a:tc>
                <a:tc>
                  <a:txBody>
                    <a:bodyPr/>
                    <a:lstStyle/>
                    <a:p>
                      <a:pPr marL="0" indent="0">
                        <a:buNone/>
                      </a:pPr>
                      <a:r>
                        <a:rPr lang="en-US" sz="1600" dirty="0">
                          <a:solidFill>
                            <a:srgbClr val="3D3D3D"/>
                          </a:solidFill>
                          <a:latin typeface="Courier New" pitchFamily="34" charset="0"/>
                          <a:ea typeface="Courier New" pitchFamily="34" charset="-122"/>
                          <a:cs typeface="Courier New" pitchFamily="34" charset="-120"/>
                        </a:rPr>
                        <a:t>=RAND()</a:t>
                      </a:r>
                      <a:endParaRPr lang="en-US" sz="1600" dirty="0">
                        <a:latin typeface="Courier New" charset="0"/>
                        <a:ea typeface="Courier New" charset="0"/>
                        <a:cs typeface="Courier New" charset="0"/>
                      </a:endParaRPr>
                    </a:p>
                  </a:txBody>
                  <a:tcPr marL="97536" marR="97536" marT="97536" marB="97536">
                    <a:lnL w="6350" cap="flat" cmpd="sng" algn="ctr">
                      <a:solidFill>
                        <a:srgbClr val="D9ECEC"/>
                      </a:solidFill>
                      <a:prstDash val="solid"/>
                      <a:round/>
                      <a:headEnd type="none" w="med" len="med"/>
                      <a:tailEnd type="none" w="med" len="med"/>
                    </a:lnL>
                    <a:lnR w="6350" cap="flat" cmpd="sng" algn="ctr">
                      <a:solidFill>
                        <a:srgbClr val="D9ECEC"/>
                      </a:solidFill>
                      <a:prstDash val="solid"/>
                      <a:round/>
                      <a:headEnd type="none" w="med" len="med"/>
                      <a:tailEnd type="none" w="med" len="med"/>
                    </a:lnR>
                    <a:lnT w="6350" cap="flat" cmpd="sng" algn="ctr">
                      <a:solidFill>
                        <a:srgbClr val="D9ECEC"/>
                      </a:solidFill>
                      <a:prstDash val="solid"/>
                      <a:round/>
                      <a:headEnd type="none" w="med" len="med"/>
                      <a:tailEnd type="none" w="med" len="med"/>
                    </a:lnT>
                    <a:lnB w="6350" cap="flat" cmpd="sng" algn="ctr">
                      <a:solidFill>
                        <a:srgbClr val="D9ECEC"/>
                      </a:solidFill>
                      <a:prstDash val="solid"/>
                      <a:round/>
                      <a:headEnd type="none" w="med" len="med"/>
                      <a:tailEnd type="none" w="med" len="med"/>
                    </a:lnB>
                  </a:tcPr>
                </a:tc>
                <a:tc>
                  <a:txBody>
                    <a:bodyPr/>
                    <a:lstStyle/>
                    <a:p>
                      <a:pPr marL="0" indent="0">
                        <a:buNone/>
                      </a:pPr>
                      <a:r>
                        <a:rPr lang="en-US" sz="1600" dirty="0">
                          <a:solidFill>
                            <a:srgbClr val="3D3D3D"/>
                          </a:solidFill>
                          <a:latin typeface="Courier New" pitchFamily="34" charset="0"/>
                          <a:ea typeface="Courier New" pitchFamily="34" charset="-122"/>
                          <a:cs typeface="Courier New" pitchFamily="34" charset="-120"/>
                        </a:rPr>
                        <a:t>rng.random()</a:t>
                      </a:r>
                      <a:endParaRPr lang="en-US" sz="1600" dirty="0">
                        <a:latin typeface="Courier New" charset="0"/>
                        <a:ea typeface="Courier New" charset="0"/>
                        <a:cs typeface="Courier New" charset="0"/>
                      </a:endParaRPr>
                    </a:p>
                  </a:txBody>
                  <a:tcPr marL="97536" marR="97536" marT="97536" marB="97536">
                    <a:lnL w="6350" cap="flat" cmpd="sng" algn="ctr">
                      <a:solidFill>
                        <a:srgbClr val="D9ECEC"/>
                      </a:solidFill>
                      <a:prstDash val="solid"/>
                      <a:round/>
                      <a:headEnd type="none" w="med" len="med"/>
                      <a:tailEnd type="none" w="med" len="med"/>
                    </a:lnL>
                    <a:lnR w="6350" cap="flat" cmpd="sng" algn="ctr">
                      <a:solidFill>
                        <a:srgbClr val="D9ECEC"/>
                      </a:solidFill>
                      <a:prstDash val="solid"/>
                      <a:round/>
                      <a:headEnd type="none" w="med" len="med"/>
                      <a:tailEnd type="none" w="med" len="med"/>
                    </a:lnR>
                    <a:lnT w="6350" cap="flat" cmpd="sng" algn="ctr">
                      <a:solidFill>
                        <a:srgbClr val="D9ECEC"/>
                      </a:solidFill>
                      <a:prstDash val="solid"/>
                      <a:round/>
                      <a:headEnd type="none" w="med" len="med"/>
                      <a:tailEnd type="none" w="med" len="med"/>
                    </a:lnT>
                    <a:lnB w="6350" cap="flat" cmpd="sng" algn="ctr">
                      <a:solidFill>
                        <a:srgbClr val="D9ECEC"/>
                      </a:solidFill>
                      <a:prstDash val="solid"/>
                      <a:round/>
                      <a:headEnd type="none" w="med" len="med"/>
                      <a:tailEnd type="none" w="med" len="med"/>
                    </a:lnB>
                  </a:tcPr>
                </a:tc>
                <a:extLst>
                  <a:ext uri="{0D108BD9-81ED-4DB2-BD59-A6C34878D82A}">
                    <a16:rowId xmlns:a16="http://schemas.microsoft.com/office/drawing/2014/main" val="10001"/>
                  </a:ext>
                </a:extLst>
              </a:tr>
              <a:tr h="438912">
                <a:tc>
                  <a:txBody>
                    <a:bodyPr/>
                    <a:lstStyle/>
                    <a:p>
                      <a:pPr marL="0" indent="0">
                        <a:buNone/>
                      </a:pPr>
                      <a:r>
                        <a:rPr lang="en-US" sz="1600" dirty="0">
                          <a:solidFill>
                            <a:srgbClr val="3D3D3D"/>
                          </a:solidFill>
                          <a:latin typeface="Calibri" pitchFamily="34" charset="0"/>
                          <a:ea typeface="Calibri" pitchFamily="34" charset="-122"/>
                          <a:cs typeface="Calibri" pitchFamily="34" charset="-120"/>
                        </a:rPr>
                        <a:t>a whole number from 1 to 6 (a die)</a:t>
                      </a:r>
                      <a:endParaRPr lang="en-US" sz="1600" dirty="0">
                        <a:latin typeface="Calibri" charset="0"/>
                        <a:ea typeface="Calibri" charset="0"/>
                        <a:cs typeface="Calibri" charset="0"/>
                      </a:endParaRPr>
                    </a:p>
                  </a:txBody>
                  <a:tcPr marL="97536" marR="97536" marT="97536" marB="97536">
                    <a:lnL w="6350" cap="flat" cmpd="sng" algn="ctr">
                      <a:solidFill>
                        <a:srgbClr val="D9ECEC"/>
                      </a:solidFill>
                      <a:prstDash val="solid"/>
                      <a:round/>
                      <a:headEnd type="none" w="med" len="med"/>
                      <a:tailEnd type="none" w="med" len="med"/>
                    </a:lnL>
                    <a:lnR w="6350" cap="flat" cmpd="sng" algn="ctr">
                      <a:solidFill>
                        <a:srgbClr val="D9ECEC"/>
                      </a:solidFill>
                      <a:prstDash val="solid"/>
                      <a:round/>
                      <a:headEnd type="none" w="med" len="med"/>
                      <a:tailEnd type="none" w="med" len="med"/>
                    </a:lnR>
                    <a:lnT w="6350" cap="flat" cmpd="sng" algn="ctr">
                      <a:solidFill>
                        <a:srgbClr val="D9ECEC"/>
                      </a:solidFill>
                      <a:prstDash val="solid"/>
                      <a:round/>
                      <a:headEnd type="none" w="med" len="med"/>
                      <a:tailEnd type="none" w="med" len="med"/>
                    </a:lnT>
                    <a:lnB w="6350" cap="flat" cmpd="sng" algn="ctr">
                      <a:solidFill>
                        <a:srgbClr val="D9ECEC"/>
                      </a:solidFill>
                      <a:prstDash val="solid"/>
                      <a:round/>
                      <a:headEnd type="none" w="med" len="med"/>
                      <a:tailEnd type="none" w="med" len="med"/>
                    </a:lnB>
                  </a:tcPr>
                </a:tc>
                <a:tc>
                  <a:txBody>
                    <a:bodyPr/>
                    <a:lstStyle/>
                    <a:p>
                      <a:pPr marL="0" indent="0">
                        <a:buNone/>
                      </a:pPr>
                      <a:r>
                        <a:rPr lang="en-US" sz="1600" dirty="0">
                          <a:solidFill>
                            <a:srgbClr val="3D3D3D"/>
                          </a:solidFill>
                          <a:latin typeface="Courier New" pitchFamily="34" charset="0"/>
                          <a:ea typeface="Courier New" pitchFamily="34" charset="-122"/>
                          <a:cs typeface="Courier New" pitchFamily="34" charset="-120"/>
                        </a:rPr>
                        <a:t>=RANDBETWEEN(1,6)</a:t>
                      </a:r>
                      <a:endParaRPr lang="en-US" sz="1600" dirty="0">
                        <a:latin typeface="Courier New" charset="0"/>
                        <a:ea typeface="Courier New" charset="0"/>
                        <a:cs typeface="Courier New" charset="0"/>
                      </a:endParaRPr>
                    </a:p>
                  </a:txBody>
                  <a:tcPr marL="97536" marR="97536" marT="97536" marB="97536">
                    <a:lnL w="6350" cap="flat" cmpd="sng" algn="ctr">
                      <a:solidFill>
                        <a:srgbClr val="D9ECEC"/>
                      </a:solidFill>
                      <a:prstDash val="solid"/>
                      <a:round/>
                      <a:headEnd type="none" w="med" len="med"/>
                      <a:tailEnd type="none" w="med" len="med"/>
                    </a:lnL>
                    <a:lnR w="6350" cap="flat" cmpd="sng" algn="ctr">
                      <a:solidFill>
                        <a:srgbClr val="D9ECEC"/>
                      </a:solidFill>
                      <a:prstDash val="solid"/>
                      <a:round/>
                      <a:headEnd type="none" w="med" len="med"/>
                      <a:tailEnd type="none" w="med" len="med"/>
                    </a:lnR>
                    <a:lnT w="6350" cap="flat" cmpd="sng" algn="ctr">
                      <a:solidFill>
                        <a:srgbClr val="D9ECEC"/>
                      </a:solidFill>
                      <a:prstDash val="solid"/>
                      <a:round/>
                      <a:headEnd type="none" w="med" len="med"/>
                      <a:tailEnd type="none" w="med" len="med"/>
                    </a:lnT>
                    <a:lnB w="6350" cap="flat" cmpd="sng" algn="ctr">
                      <a:solidFill>
                        <a:srgbClr val="D9ECEC"/>
                      </a:solidFill>
                      <a:prstDash val="solid"/>
                      <a:round/>
                      <a:headEnd type="none" w="med" len="med"/>
                      <a:tailEnd type="none" w="med" len="med"/>
                    </a:lnB>
                  </a:tcPr>
                </a:tc>
                <a:tc>
                  <a:txBody>
                    <a:bodyPr/>
                    <a:lstStyle/>
                    <a:p>
                      <a:pPr marL="0" indent="0">
                        <a:buNone/>
                      </a:pPr>
                      <a:r>
                        <a:rPr lang="en-US" sz="1600" dirty="0">
                          <a:solidFill>
                            <a:srgbClr val="3D3D3D"/>
                          </a:solidFill>
                          <a:latin typeface="Courier New" pitchFamily="34" charset="0"/>
                          <a:ea typeface="Courier New" pitchFamily="34" charset="-122"/>
                          <a:cs typeface="Courier New" pitchFamily="34" charset="-120"/>
                        </a:rPr>
                        <a:t>rng.integers(1, 7)</a:t>
                      </a:r>
                      <a:endParaRPr lang="en-US" sz="1600" dirty="0">
                        <a:latin typeface="Courier New" charset="0"/>
                        <a:ea typeface="Courier New" charset="0"/>
                        <a:cs typeface="Courier New" charset="0"/>
                      </a:endParaRPr>
                    </a:p>
                  </a:txBody>
                  <a:tcPr marL="97536" marR="97536" marT="97536" marB="97536">
                    <a:lnL w="6350" cap="flat" cmpd="sng" algn="ctr">
                      <a:solidFill>
                        <a:srgbClr val="D9ECEC"/>
                      </a:solidFill>
                      <a:prstDash val="solid"/>
                      <a:round/>
                      <a:headEnd type="none" w="med" len="med"/>
                      <a:tailEnd type="none" w="med" len="med"/>
                    </a:lnL>
                    <a:lnR w="6350" cap="flat" cmpd="sng" algn="ctr">
                      <a:solidFill>
                        <a:srgbClr val="D9ECEC"/>
                      </a:solidFill>
                      <a:prstDash val="solid"/>
                      <a:round/>
                      <a:headEnd type="none" w="med" len="med"/>
                      <a:tailEnd type="none" w="med" len="med"/>
                    </a:lnR>
                    <a:lnT w="6350" cap="flat" cmpd="sng" algn="ctr">
                      <a:solidFill>
                        <a:srgbClr val="D9ECEC"/>
                      </a:solidFill>
                      <a:prstDash val="solid"/>
                      <a:round/>
                      <a:headEnd type="none" w="med" len="med"/>
                      <a:tailEnd type="none" w="med" len="med"/>
                    </a:lnT>
                    <a:lnB w="6350" cap="flat" cmpd="sng" algn="ctr">
                      <a:solidFill>
                        <a:srgbClr val="D9ECEC"/>
                      </a:solidFill>
                      <a:prstDash val="solid"/>
                      <a:round/>
                      <a:headEnd type="none" w="med" len="med"/>
                      <a:tailEnd type="none" w="med" len="med"/>
                    </a:lnB>
                  </a:tcPr>
                </a:tc>
                <a:extLst>
                  <a:ext uri="{0D108BD9-81ED-4DB2-BD59-A6C34878D82A}">
                    <a16:rowId xmlns:a16="http://schemas.microsoft.com/office/drawing/2014/main" val="10002"/>
                  </a:ext>
                </a:extLst>
              </a:tr>
              <a:tr h="438912">
                <a:tc>
                  <a:txBody>
                    <a:bodyPr/>
                    <a:lstStyle/>
                    <a:p>
                      <a:pPr marL="0" indent="0">
                        <a:buNone/>
                      </a:pPr>
                      <a:r>
                        <a:rPr lang="en-US" sz="1600" dirty="0">
                          <a:solidFill>
                            <a:srgbClr val="3D3D3D"/>
                          </a:solidFill>
                          <a:latin typeface="Calibri" pitchFamily="34" charset="0"/>
                          <a:ea typeface="Calibri" pitchFamily="34" charset="-122"/>
                          <a:cs typeface="Calibri" pitchFamily="34" charset="-120"/>
                        </a:rPr>
                        <a:t>a bell-curve number, mean 100, SD 10</a:t>
                      </a:r>
                      <a:endParaRPr lang="en-US" sz="1600" dirty="0">
                        <a:latin typeface="Calibri" charset="0"/>
                        <a:ea typeface="Calibri" charset="0"/>
                        <a:cs typeface="Calibri" charset="0"/>
                      </a:endParaRPr>
                    </a:p>
                  </a:txBody>
                  <a:tcPr marL="97536" marR="97536" marT="97536" marB="97536">
                    <a:lnL w="6350" cap="flat" cmpd="sng" algn="ctr">
                      <a:solidFill>
                        <a:srgbClr val="D9ECEC"/>
                      </a:solidFill>
                      <a:prstDash val="solid"/>
                      <a:round/>
                      <a:headEnd type="none" w="med" len="med"/>
                      <a:tailEnd type="none" w="med" len="med"/>
                    </a:lnL>
                    <a:lnR w="6350" cap="flat" cmpd="sng" algn="ctr">
                      <a:solidFill>
                        <a:srgbClr val="D9ECEC"/>
                      </a:solidFill>
                      <a:prstDash val="solid"/>
                      <a:round/>
                      <a:headEnd type="none" w="med" len="med"/>
                      <a:tailEnd type="none" w="med" len="med"/>
                    </a:lnR>
                    <a:lnT w="6350" cap="flat" cmpd="sng" algn="ctr">
                      <a:solidFill>
                        <a:srgbClr val="D9ECEC"/>
                      </a:solidFill>
                      <a:prstDash val="solid"/>
                      <a:round/>
                      <a:headEnd type="none" w="med" len="med"/>
                      <a:tailEnd type="none" w="med" len="med"/>
                    </a:lnT>
                    <a:lnB w="6350" cap="flat" cmpd="sng" algn="ctr">
                      <a:solidFill>
                        <a:srgbClr val="D9ECEC"/>
                      </a:solidFill>
                      <a:prstDash val="solid"/>
                      <a:round/>
                      <a:headEnd type="none" w="med" len="med"/>
                      <a:tailEnd type="none" w="med" len="med"/>
                    </a:lnB>
                  </a:tcPr>
                </a:tc>
                <a:tc>
                  <a:txBody>
                    <a:bodyPr/>
                    <a:lstStyle/>
                    <a:p>
                      <a:pPr marL="0" indent="0">
                        <a:buNone/>
                      </a:pPr>
                      <a:r>
                        <a:rPr lang="en-US" sz="1600" dirty="0">
                          <a:solidFill>
                            <a:srgbClr val="3D3D3D"/>
                          </a:solidFill>
                          <a:latin typeface="Courier New" pitchFamily="34" charset="0"/>
                          <a:ea typeface="Courier New" pitchFamily="34" charset="-122"/>
                          <a:cs typeface="Courier New" pitchFamily="34" charset="-120"/>
                        </a:rPr>
                        <a:t>=NORMINV(RAND(),100,10)</a:t>
                      </a:r>
                      <a:endParaRPr lang="en-US" sz="1600" dirty="0">
                        <a:latin typeface="Courier New" charset="0"/>
                        <a:ea typeface="Courier New" charset="0"/>
                        <a:cs typeface="Courier New" charset="0"/>
                      </a:endParaRPr>
                    </a:p>
                  </a:txBody>
                  <a:tcPr marL="97536" marR="97536" marT="97536" marB="97536">
                    <a:lnL w="6350" cap="flat" cmpd="sng" algn="ctr">
                      <a:solidFill>
                        <a:srgbClr val="D9ECEC"/>
                      </a:solidFill>
                      <a:prstDash val="solid"/>
                      <a:round/>
                      <a:headEnd type="none" w="med" len="med"/>
                      <a:tailEnd type="none" w="med" len="med"/>
                    </a:lnL>
                    <a:lnR w="6350" cap="flat" cmpd="sng" algn="ctr">
                      <a:solidFill>
                        <a:srgbClr val="D9ECEC"/>
                      </a:solidFill>
                      <a:prstDash val="solid"/>
                      <a:round/>
                      <a:headEnd type="none" w="med" len="med"/>
                      <a:tailEnd type="none" w="med" len="med"/>
                    </a:lnR>
                    <a:lnT w="6350" cap="flat" cmpd="sng" algn="ctr">
                      <a:solidFill>
                        <a:srgbClr val="D9ECEC"/>
                      </a:solidFill>
                      <a:prstDash val="solid"/>
                      <a:round/>
                      <a:headEnd type="none" w="med" len="med"/>
                      <a:tailEnd type="none" w="med" len="med"/>
                    </a:lnT>
                    <a:lnB w="6350" cap="flat" cmpd="sng" algn="ctr">
                      <a:solidFill>
                        <a:srgbClr val="D9ECEC"/>
                      </a:solidFill>
                      <a:prstDash val="solid"/>
                      <a:round/>
                      <a:headEnd type="none" w="med" len="med"/>
                      <a:tailEnd type="none" w="med" len="med"/>
                    </a:lnB>
                  </a:tcPr>
                </a:tc>
                <a:tc>
                  <a:txBody>
                    <a:bodyPr/>
                    <a:lstStyle/>
                    <a:p>
                      <a:pPr marL="0" indent="0">
                        <a:buNone/>
                      </a:pPr>
                      <a:r>
                        <a:rPr lang="en-US" sz="1600" dirty="0">
                          <a:solidFill>
                            <a:srgbClr val="3D3D3D"/>
                          </a:solidFill>
                          <a:latin typeface="Courier New" pitchFamily="34" charset="0"/>
                          <a:ea typeface="Courier New" pitchFamily="34" charset="-122"/>
                          <a:cs typeface="Courier New" pitchFamily="34" charset="-120"/>
                        </a:rPr>
                        <a:t>rng.normal(100, 10)</a:t>
                      </a:r>
                      <a:endParaRPr lang="en-US" sz="1600" dirty="0">
                        <a:latin typeface="Courier New" charset="0"/>
                        <a:ea typeface="Courier New" charset="0"/>
                        <a:cs typeface="Courier New" charset="0"/>
                      </a:endParaRPr>
                    </a:p>
                  </a:txBody>
                  <a:tcPr marL="97536" marR="97536" marT="97536" marB="97536">
                    <a:lnL w="6350" cap="flat" cmpd="sng" algn="ctr">
                      <a:solidFill>
                        <a:srgbClr val="D9ECEC"/>
                      </a:solidFill>
                      <a:prstDash val="solid"/>
                      <a:round/>
                      <a:headEnd type="none" w="med" len="med"/>
                      <a:tailEnd type="none" w="med" len="med"/>
                    </a:lnL>
                    <a:lnR w="6350" cap="flat" cmpd="sng" algn="ctr">
                      <a:solidFill>
                        <a:srgbClr val="D9ECEC"/>
                      </a:solidFill>
                      <a:prstDash val="solid"/>
                      <a:round/>
                      <a:headEnd type="none" w="med" len="med"/>
                      <a:tailEnd type="none" w="med" len="med"/>
                    </a:lnR>
                    <a:lnT w="6350" cap="flat" cmpd="sng" algn="ctr">
                      <a:solidFill>
                        <a:srgbClr val="D9ECEC"/>
                      </a:solidFill>
                      <a:prstDash val="solid"/>
                      <a:round/>
                      <a:headEnd type="none" w="med" len="med"/>
                      <a:tailEnd type="none" w="med" len="med"/>
                    </a:lnT>
                    <a:lnB w="6350" cap="flat" cmpd="sng" algn="ctr">
                      <a:solidFill>
                        <a:srgbClr val="D9ECEC"/>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4" name="Text 1"/>
          <p:cNvSpPr txBox="1"/>
          <p:nvPr/>
        </p:nvSpPr>
        <p:spPr>
          <a:xfrm>
            <a:off x="609600" y="3718560"/>
            <a:ext cx="10972800" cy="2194560"/>
          </a:xfrm>
          <a:prstGeom prst="rect">
            <a:avLst/>
          </a:prstGeom>
          <a:noFill/>
          <a:ln/>
        </p:spPr>
        <p:txBody>
          <a:bodyPr wrap="square" lIns="0" tIns="0" rIns="0" bIns="0" rtlCol="0" anchor="t"/>
          <a:lstStyle/>
          <a:p>
            <a:pPr marL="457189" indent="-457189">
              <a:spcAft>
                <a:spcPts val="1067"/>
              </a:spcAft>
              <a:buSzPct val="100000"/>
              <a:buChar char="•"/>
            </a:pPr>
            <a:r>
              <a:rPr lang="en-US" sz="1733" dirty="0">
                <a:solidFill>
                  <a:srgbClr val="3D3D3D"/>
                </a:solidFill>
              </a:rPr>
              <a:t>A computer cannot produce truly random numbers. It runs a formula whose output passes every test of randomness: pseudo-random. Good enough for us.</a:t>
            </a:r>
            <a:endParaRPr lang="en-US" sz="1733" dirty="0"/>
          </a:p>
          <a:p>
            <a:pPr marL="457189" indent="-457189">
              <a:spcAft>
                <a:spcPts val="1067"/>
              </a:spcAft>
              <a:buSzPct val="100000"/>
              <a:buChar char="•"/>
            </a:pPr>
            <a:r>
              <a:rPr lang="en-US" sz="1733" dirty="0">
                <a:solidFill>
                  <a:srgbClr val="3D3D3D"/>
                </a:solidFill>
              </a:rPr>
              <a:t>The sequence starts from a seed. Same seed, same “random” numbers, every time.</a:t>
            </a:r>
            <a:endParaRPr lang="en-US" sz="1733" dirty="0"/>
          </a:p>
          <a:p>
            <a:pPr marL="457189" indent="-457189">
              <a:spcAft>
                <a:spcPts val="1067"/>
              </a:spcAft>
              <a:buSzPct val="100000"/>
              <a:buChar char="•"/>
            </a:pPr>
            <a:r>
              <a:rPr lang="en-US" sz="1733" dirty="0">
                <a:solidFill>
                  <a:srgbClr val="3D3D3D"/>
                </a:solidFill>
              </a:rPr>
              <a:t>That is a feature: your colleague can reproduce your simulation exactly. Every notebook section begins by fixing a seed.</a:t>
            </a:r>
            <a:endParaRPr lang="en-US" sz="1733" dirty="0"/>
          </a:p>
        </p:txBody>
      </p:sp>
      <p:sp>
        <p:nvSpPr>
          <p:cNvPr id="25" name="Slide Number Placeholder 0"/>
          <p:cNvSpPr>
            <a:spLocks noGrp="1"/>
          </p:cNvSpPr>
          <p:nvPr>
            <p:ph type="sldNum" sz="quarter" idx="4294967295"/>
          </p:nvPr>
        </p:nvSpPr>
        <p:spPr>
          <a:xfrm>
            <a:off x="10972800" y="6339840"/>
            <a:ext cx="609600" cy="365760"/>
          </a:xfrm>
          <a:prstGeom prst="rect">
            <a:avLst/>
          </a:prstGeom>
          <a:extLst>
            <a:ext uri="{C572A759-6A51-4108-AA02-DFA0A04FC94B}">
              <ma14:wrappingTextBoxFlag xmlns="" xmlns:ma14="http://schemas.microsoft.com/office/mac/drawingml/2011/main" val="0"/>
            </a:ext>
          </a:extLst>
        </p:spPr>
        <p:txBody>
          <a:bodyPr/>
          <a:lstStyle>
            <a:lvl1pPr>
              <a:defRPr sz="1200">
                <a:solidFill>
                  <a:srgbClr val="6B6B6B"/>
                </a:solidFill>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09600" y="426720"/>
            <a:ext cx="10972800" cy="914400"/>
          </a:xfrm>
          <a:prstGeom prst="rect">
            <a:avLst/>
          </a:prstGeom>
          <a:noFill/>
          <a:ln/>
        </p:spPr>
        <p:txBody>
          <a:bodyPr vert="horz" wrap="square" lIns="0" tIns="0" rIns="0" bIns="0" rtlCol="0" anchor="ctr">
            <a:normAutofit/>
          </a:bodyPr>
          <a:lstStyle/>
          <a:p>
            <a:r>
              <a:rPr lang="en-US" dirty="0"/>
              <a:t>Distributions: the shape of uncertainty</a:t>
            </a:r>
          </a:p>
        </p:txBody>
      </p:sp>
      <p:pic>
        <p:nvPicPr>
          <p:cNvPr id="3" name="Image 0" descr="figs/fig2_distributions.png"/>
          <p:cNvPicPr>
            <a:picLocks noChangeAspect="1"/>
          </p:cNvPicPr>
          <p:nvPr/>
        </p:nvPicPr>
        <p:blipFill>
          <a:blip r:embed="rId3"/>
          <a:stretch>
            <a:fillRect/>
          </a:stretch>
        </p:blipFill>
        <p:spPr>
          <a:xfrm>
            <a:off x="609600" y="1645920"/>
            <a:ext cx="7315200" cy="2926080"/>
          </a:xfrm>
          <a:prstGeom prst="rect">
            <a:avLst/>
          </a:prstGeom>
        </p:spPr>
      </p:pic>
      <p:sp>
        <p:nvSpPr>
          <p:cNvPr id="4" name="Text 1"/>
          <p:cNvSpPr txBox="1"/>
          <p:nvPr/>
        </p:nvSpPr>
        <p:spPr>
          <a:xfrm>
            <a:off x="8168640" y="1584960"/>
            <a:ext cx="3413760" cy="4389120"/>
          </a:xfrm>
          <a:prstGeom prst="rect">
            <a:avLst/>
          </a:prstGeom>
          <a:noFill/>
          <a:ln/>
        </p:spPr>
        <p:txBody>
          <a:bodyPr wrap="square" lIns="0" tIns="0" rIns="0" bIns="0" rtlCol="0" anchor="t"/>
          <a:lstStyle/>
          <a:p>
            <a:pPr marL="457189" indent="-457189">
              <a:spcAft>
                <a:spcPts val="1067"/>
              </a:spcAft>
              <a:buSzPct val="100000"/>
              <a:buChar char="•"/>
            </a:pPr>
            <a:r>
              <a:rPr lang="en-US" sz="1600" dirty="0">
                <a:solidFill>
                  <a:srgbClr val="3D3D3D"/>
                </a:solidFill>
              </a:rPr>
              <a:t>A distribution says which values a random quantity takes, and how often. Draw many values, make a histogram, and you can see it.</a:t>
            </a:r>
            <a:endParaRPr lang="en-US" sz="1600" dirty="0"/>
          </a:p>
          <a:p>
            <a:pPr marL="457189" indent="-457189">
              <a:spcAft>
                <a:spcPts val="1067"/>
              </a:spcAft>
              <a:buSzPct val="100000"/>
              <a:buChar char="•"/>
            </a:pPr>
            <a:r>
              <a:rPr lang="en-US" sz="1600" dirty="0">
                <a:solidFill>
                  <a:srgbClr val="3D3D3D"/>
                </a:solidFill>
              </a:rPr>
              <a:t>Uniform: every value in a range equally likely. The computer's default.</a:t>
            </a:r>
            <a:endParaRPr lang="en-US" sz="1600" dirty="0"/>
          </a:p>
          <a:p>
            <a:pPr marL="457189" indent="-457189">
              <a:spcAft>
                <a:spcPts val="1067"/>
              </a:spcAft>
              <a:buSzPct val="100000"/>
              <a:buChar char="•"/>
            </a:pPr>
            <a:r>
              <a:rPr lang="en-US" sz="1600" dirty="0">
                <a:solidFill>
                  <a:srgbClr val="3D3D3D"/>
                </a:solidFill>
              </a:rPr>
              <a:t>Normal (bell curve): values cluster around a mean; the standard deviation (SD) sets the spread. 68% within 1 SD, 95% within 2, 99.7% within 3.</a:t>
            </a:r>
            <a:endParaRPr lang="en-US" sz="1600" dirty="0"/>
          </a:p>
        </p:txBody>
      </p:sp>
      <p:sp>
        <p:nvSpPr>
          <p:cNvPr id="5" name="Text 2"/>
          <p:cNvSpPr txBox="1"/>
          <p:nvPr/>
        </p:nvSpPr>
        <p:spPr>
          <a:xfrm>
            <a:off x="609600" y="4876800"/>
            <a:ext cx="7315200" cy="609600"/>
          </a:xfrm>
          <a:prstGeom prst="rect">
            <a:avLst/>
          </a:prstGeom>
          <a:noFill/>
          <a:ln/>
        </p:spPr>
        <p:txBody>
          <a:bodyPr wrap="square" lIns="0" tIns="0" rIns="0" bIns="0" rtlCol="0" anchor="t"/>
          <a:lstStyle/>
          <a:p>
            <a:r>
              <a:rPr lang="en-US" sz="1467" i="1" dirty="0">
                <a:solidFill>
                  <a:srgbClr val="6B6B6B"/>
                </a:solidFill>
              </a:rPr>
              <a:t>Notebook A.3: move the mean and SD sliders; the shaded band always holds about 95% of the draws.</a:t>
            </a:r>
            <a:endParaRPr lang="en-US" sz="1467" dirty="0"/>
          </a:p>
        </p:txBody>
      </p:sp>
      <p:sp>
        <p:nvSpPr>
          <p:cNvPr id="25" name="Slide Number Placeholder 0"/>
          <p:cNvSpPr>
            <a:spLocks noGrp="1"/>
          </p:cNvSpPr>
          <p:nvPr>
            <p:ph type="sldNum" sz="quarter" idx="4294967295"/>
          </p:nvPr>
        </p:nvSpPr>
        <p:spPr>
          <a:xfrm>
            <a:off x="10972800" y="6339840"/>
            <a:ext cx="609600" cy="365760"/>
          </a:xfrm>
          <a:prstGeom prst="rect">
            <a:avLst/>
          </a:prstGeom>
          <a:extLst>
            <a:ext uri="{C572A759-6A51-4108-AA02-DFA0A04FC94B}">
              <ma14:wrappingTextBoxFlag xmlns="" xmlns:ma14="http://schemas.microsoft.com/office/mac/drawingml/2011/main" val="0"/>
            </a:ext>
          </a:extLst>
        </p:spPr>
        <p:txBody>
          <a:bodyPr/>
          <a:lstStyle>
            <a:lvl1pPr>
              <a:defRPr sz="1200">
                <a:solidFill>
                  <a:srgbClr val="6B6B6B"/>
                </a:solidFill>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09600" y="426720"/>
            <a:ext cx="10972800" cy="914400"/>
          </a:xfrm>
          <a:prstGeom prst="rect">
            <a:avLst/>
          </a:prstGeom>
          <a:noFill/>
          <a:ln/>
        </p:spPr>
        <p:txBody>
          <a:bodyPr vert="horz" wrap="square" lIns="0" tIns="0" rIns="0" bIns="0" rtlCol="0" anchor="ctr">
            <a:normAutofit/>
          </a:bodyPr>
          <a:lstStyle/>
          <a:p>
            <a:r>
              <a:rPr lang="en-US" dirty="0"/>
              <a:t>The law of large numbers, and the 1/√N rule</a:t>
            </a:r>
          </a:p>
        </p:txBody>
      </p:sp>
      <p:sp>
        <p:nvSpPr>
          <p:cNvPr id="3" name="Shape 1"/>
          <p:cNvSpPr/>
          <p:nvPr/>
        </p:nvSpPr>
        <p:spPr>
          <a:xfrm>
            <a:off x="609600" y="1645920"/>
            <a:ext cx="3413760" cy="2011680"/>
          </a:xfrm>
          <a:prstGeom prst="roundRect">
            <a:avLst>
              <a:gd name="adj" fmla="val 6061"/>
            </a:avLst>
          </a:prstGeom>
          <a:solidFill>
            <a:srgbClr val="F3F9F9"/>
          </a:solidFill>
          <a:ln w="12700">
            <a:solidFill>
              <a:srgbClr val="E6F2F2"/>
            </a:solidFill>
            <a:prstDash val="solid"/>
          </a:ln>
        </p:spPr>
        <p:txBody>
          <a:bodyPr/>
          <a:lstStyle/>
          <a:p>
            <a:endParaRPr lang="en-GB" sz="2400"/>
          </a:p>
        </p:txBody>
      </p:sp>
      <p:sp>
        <p:nvSpPr>
          <p:cNvPr id="4" name="Text 2"/>
          <p:cNvSpPr txBox="1"/>
          <p:nvPr/>
        </p:nvSpPr>
        <p:spPr>
          <a:xfrm>
            <a:off x="609600" y="1767840"/>
            <a:ext cx="3413760" cy="853440"/>
          </a:xfrm>
          <a:prstGeom prst="rect">
            <a:avLst/>
          </a:prstGeom>
          <a:noFill/>
          <a:ln/>
        </p:spPr>
        <p:txBody>
          <a:bodyPr wrap="square" lIns="0" tIns="0" rIns="0" bIns="0" rtlCol="0" anchor="ctr"/>
          <a:lstStyle/>
          <a:p>
            <a:pPr algn="ctr"/>
            <a:r>
              <a:rPr lang="en-US" sz="4000" b="1" dirty="0">
                <a:solidFill>
                  <a:srgbClr val="0F7F7F"/>
                </a:solidFill>
              </a:rPr>
              <a:t>1713</a:t>
            </a:r>
            <a:endParaRPr lang="en-US" sz="4000" dirty="0"/>
          </a:p>
        </p:txBody>
      </p:sp>
      <p:sp>
        <p:nvSpPr>
          <p:cNvPr id="5" name="Text 3"/>
          <p:cNvSpPr txBox="1"/>
          <p:nvPr/>
        </p:nvSpPr>
        <p:spPr>
          <a:xfrm>
            <a:off x="731520" y="2621280"/>
            <a:ext cx="3169920" cy="975360"/>
          </a:xfrm>
          <a:prstGeom prst="rect">
            <a:avLst/>
          </a:prstGeom>
          <a:noFill/>
          <a:ln/>
        </p:spPr>
        <p:txBody>
          <a:bodyPr wrap="square" lIns="0" tIns="0" rIns="0" bIns="0" rtlCol="0" anchor="t"/>
          <a:lstStyle/>
          <a:p>
            <a:pPr algn="ctr"/>
            <a:r>
              <a:rPr lang="en-US" sz="1467" dirty="0">
                <a:solidFill>
                  <a:srgbClr val="6B6B6B"/>
                </a:solidFill>
              </a:rPr>
              <a:t>Jacob Bernoulli proves it: the average of many random trials settles on the true value</a:t>
            </a:r>
            <a:endParaRPr lang="en-US" sz="1467" dirty="0"/>
          </a:p>
        </p:txBody>
      </p:sp>
      <p:sp>
        <p:nvSpPr>
          <p:cNvPr id="6" name="Shape 4"/>
          <p:cNvSpPr/>
          <p:nvPr/>
        </p:nvSpPr>
        <p:spPr>
          <a:xfrm>
            <a:off x="4389120" y="1645920"/>
            <a:ext cx="3413760" cy="2011680"/>
          </a:xfrm>
          <a:prstGeom prst="roundRect">
            <a:avLst>
              <a:gd name="adj" fmla="val 6061"/>
            </a:avLst>
          </a:prstGeom>
          <a:solidFill>
            <a:srgbClr val="F3F9F9"/>
          </a:solidFill>
          <a:ln w="12700">
            <a:solidFill>
              <a:srgbClr val="E6F2F2"/>
            </a:solidFill>
            <a:prstDash val="solid"/>
          </a:ln>
        </p:spPr>
        <p:txBody>
          <a:bodyPr/>
          <a:lstStyle/>
          <a:p>
            <a:endParaRPr lang="en-GB" sz="2400"/>
          </a:p>
        </p:txBody>
      </p:sp>
      <p:sp>
        <p:nvSpPr>
          <p:cNvPr id="7" name="Text 5"/>
          <p:cNvSpPr txBox="1"/>
          <p:nvPr/>
        </p:nvSpPr>
        <p:spPr>
          <a:xfrm>
            <a:off x="4389120" y="1767840"/>
            <a:ext cx="3413760" cy="853440"/>
          </a:xfrm>
          <a:prstGeom prst="rect">
            <a:avLst/>
          </a:prstGeom>
          <a:noFill/>
          <a:ln/>
        </p:spPr>
        <p:txBody>
          <a:bodyPr wrap="square" lIns="0" tIns="0" rIns="0" bIns="0" rtlCol="0" anchor="ctr"/>
          <a:lstStyle/>
          <a:p>
            <a:pPr algn="ctr"/>
            <a:r>
              <a:rPr lang="en-US" sz="4000" b="1" dirty="0">
                <a:solidFill>
                  <a:srgbClr val="1D9E75"/>
                </a:solidFill>
              </a:rPr>
              <a:t>1/√N</a:t>
            </a:r>
            <a:endParaRPr lang="en-US" sz="4000" dirty="0"/>
          </a:p>
        </p:txBody>
      </p:sp>
      <p:sp>
        <p:nvSpPr>
          <p:cNvPr id="8" name="Text 6"/>
          <p:cNvSpPr txBox="1"/>
          <p:nvPr/>
        </p:nvSpPr>
        <p:spPr>
          <a:xfrm>
            <a:off x="4511040" y="2621280"/>
            <a:ext cx="3169920" cy="975360"/>
          </a:xfrm>
          <a:prstGeom prst="rect">
            <a:avLst/>
          </a:prstGeom>
          <a:noFill/>
          <a:ln/>
        </p:spPr>
        <p:txBody>
          <a:bodyPr wrap="square" lIns="0" tIns="0" rIns="0" bIns="0" rtlCol="0" anchor="t"/>
          <a:lstStyle/>
          <a:p>
            <a:pPr algn="ctr"/>
            <a:r>
              <a:rPr lang="en-US" sz="1467" dirty="0">
                <a:solidFill>
                  <a:srgbClr val="6B6B6B"/>
                </a:solidFill>
              </a:rPr>
              <a:t>the typical error of a Monte Carlo estimate shrinks with the square root of the number of runs</a:t>
            </a:r>
            <a:endParaRPr lang="en-US" sz="1467" dirty="0"/>
          </a:p>
        </p:txBody>
      </p:sp>
      <p:sp>
        <p:nvSpPr>
          <p:cNvPr id="9" name="Shape 7"/>
          <p:cNvSpPr/>
          <p:nvPr/>
        </p:nvSpPr>
        <p:spPr>
          <a:xfrm>
            <a:off x="8168640" y="1645920"/>
            <a:ext cx="3413760" cy="2011680"/>
          </a:xfrm>
          <a:prstGeom prst="roundRect">
            <a:avLst>
              <a:gd name="adj" fmla="val 6061"/>
            </a:avLst>
          </a:prstGeom>
          <a:solidFill>
            <a:srgbClr val="F3F9F9"/>
          </a:solidFill>
          <a:ln w="12700">
            <a:solidFill>
              <a:srgbClr val="E6F2F2"/>
            </a:solidFill>
            <a:prstDash val="solid"/>
          </a:ln>
        </p:spPr>
        <p:txBody>
          <a:bodyPr/>
          <a:lstStyle/>
          <a:p>
            <a:endParaRPr lang="en-GB" sz="2400"/>
          </a:p>
        </p:txBody>
      </p:sp>
      <p:sp>
        <p:nvSpPr>
          <p:cNvPr id="10" name="Text 8"/>
          <p:cNvSpPr txBox="1"/>
          <p:nvPr/>
        </p:nvSpPr>
        <p:spPr>
          <a:xfrm>
            <a:off x="8168640" y="1767840"/>
            <a:ext cx="3413760" cy="853440"/>
          </a:xfrm>
          <a:prstGeom prst="rect">
            <a:avLst/>
          </a:prstGeom>
          <a:noFill/>
          <a:ln/>
        </p:spPr>
        <p:txBody>
          <a:bodyPr wrap="square" lIns="0" tIns="0" rIns="0" bIns="0" rtlCol="0" anchor="ctr"/>
          <a:lstStyle/>
          <a:p>
            <a:pPr algn="ctr"/>
            <a:r>
              <a:rPr lang="en-US" sz="4000" b="1" dirty="0">
                <a:solidFill>
                  <a:srgbClr val="D85A30"/>
                </a:solidFill>
              </a:rPr>
              <a:t>100× → 10×</a:t>
            </a:r>
            <a:endParaRPr lang="en-US" sz="4000" dirty="0"/>
          </a:p>
        </p:txBody>
      </p:sp>
      <p:sp>
        <p:nvSpPr>
          <p:cNvPr id="11" name="Text 9"/>
          <p:cNvSpPr txBox="1"/>
          <p:nvPr/>
        </p:nvSpPr>
        <p:spPr>
          <a:xfrm>
            <a:off x="8290560" y="2621280"/>
            <a:ext cx="3169920" cy="975360"/>
          </a:xfrm>
          <a:prstGeom prst="rect">
            <a:avLst/>
          </a:prstGeom>
          <a:noFill/>
          <a:ln/>
        </p:spPr>
        <p:txBody>
          <a:bodyPr wrap="square" lIns="0" tIns="0" rIns="0" bIns="0" rtlCol="0" anchor="t"/>
          <a:lstStyle/>
          <a:p>
            <a:pPr algn="ctr"/>
            <a:r>
              <a:rPr lang="en-US" sz="1467" dirty="0">
                <a:solidFill>
                  <a:srgbClr val="6B6B6B"/>
                </a:solidFill>
              </a:rPr>
              <a:t>a hundred times more runs buys ten times less error</a:t>
            </a:r>
            <a:endParaRPr lang="en-US" sz="1467" dirty="0"/>
          </a:p>
        </p:txBody>
      </p:sp>
      <p:sp>
        <p:nvSpPr>
          <p:cNvPr id="12" name="Text 10"/>
          <p:cNvSpPr txBox="1"/>
          <p:nvPr/>
        </p:nvSpPr>
        <p:spPr>
          <a:xfrm>
            <a:off x="609600" y="3962400"/>
            <a:ext cx="10972800" cy="1950720"/>
          </a:xfrm>
          <a:prstGeom prst="rect">
            <a:avLst/>
          </a:prstGeom>
          <a:noFill/>
          <a:ln/>
        </p:spPr>
        <p:txBody>
          <a:bodyPr wrap="square" lIns="0" tIns="0" rIns="0" bIns="0" rtlCol="0" anchor="t"/>
          <a:lstStyle/>
          <a:p>
            <a:pPr marL="457189" indent="-457189">
              <a:spcAft>
                <a:spcPts val="1067"/>
              </a:spcAft>
              <a:buSzPct val="100000"/>
              <a:buChar char="•"/>
            </a:pPr>
            <a:r>
              <a:rPr lang="en-US" sz="1733" dirty="0">
                <a:solidFill>
                  <a:srgbClr val="3D3D3D"/>
                </a:solidFill>
              </a:rPr>
              <a:t>This is the guarantee that Monte Carlo works at all.</a:t>
            </a:r>
            <a:endParaRPr lang="en-US" sz="1733" dirty="0"/>
          </a:p>
          <a:p>
            <a:pPr marL="457189" indent="-457189">
              <a:spcAft>
                <a:spcPts val="1067"/>
              </a:spcAft>
              <a:buSzPct val="100000"/>
              <a:buChar char="•"/>
            </a:pPr>
            <a:r>
              <a:rPr lang="en-US" sz="1733" dirty="0">
                <a:solidFill>
                  <a:srgbClr val="3D3D3D"/>
                </a:solidFill>
              </a:rPr>
              <a:t>It also tells us the price: diminishing returns. Ten thousand runs give roughly two decimal places; a million give three.</a:t>
            </a:r>
            <a:endParaRPr lang="en-US" sz="1733" dirty="0"/>
          </a:p>
          <a:p>
            <a:pPr marL="457189" indent="-457189">
              <a:spcAft>
                <a:spcPts val="1067"/>
              </a:spcAft>
              <a:buSzPct val="100000"/>
              <a:buChar char="•"/>
            </a:pPr>
            <a:r>
              <a:rPr lang="en-US" sz="1733" dirty="0">
                <a:solidFill>
                  <a:srgbClr val="3D3D3D"/>
                </a:solidFill>
              </a:rPr>
              <a:t>Consequence: always report a Monte Carlo result together with its spread, and run at least a thousand times.</a:t>
            </a:r>
            <a:endParaRPr lang="en-US" sz="1733" dirty="0"/>
          </a:p>
        </p:txBody>
      </p:sp>
      <p:sp>
        <p:nvSpPr>
          <p:cNvPr id="13" name="Text 11"/>
          <p:cNvSpPr txBox="1"/>
          <p:nvPr/>
        </p:nvSpPr>
        <p:spPr>
          <a:xfrm>
            <a:off x="609600" y="5913120"/>
            <a:ext cx="10241280" cy="365760"/>
          </a:xfrm>
          <a:prstGeom prst="rect">
            <a:avLst/>
          </a:prstGeom>
          <a:noFill/>
          <a:ln/>
        </p:spPr>
        <p:txBody>
          <a:bodyPr wrap="square" lIns="0" tIns="0" rIns="0" bIns="0" rtlCol="0" anchor="t"/>
          <a:lstStyle/>
          <a:p>
            <a:r>
              <a:rPr lang="en-US" sz="1200" i="1" dirty="0">
                <a:solidFill>
                  <a:srgbClr val="6B6B6B"/>
                </a:solidFill>
              </a:rPr>
              <a:t>Bernoulli, J. (1713). Ars Conjectandi.</a:t>
            </a:r>
            <a:endParaRPr lang="en-US" sz="1200" dirty="0"/>
          </a:p>
        </p:txBody>
      </p:sp>
      <p:sp>
        <p:nvSpPr>
          <p:cNvPr id="25" name="Slide Number Placeholder 0"/>
          <p:cNvSpPr>
            <a:spLocks noGrp="1"/>
          </p:cNvSpPr>
          <p:nvPr>
            <p:ph type="sldNum" sz="quarter" idx="4294967295"/>
          </p:nvPr>
        </p:nvSpPr>
        <p:spPr>
          <a:xfrm>
            <a:off x="10972800" y="6339840"/>
            <a:ext cx="609600" cy="365760"/>
          </a:xfrm>
          <a:prstGeom prst="rect">
            <a:avLst/>
          </a:prstGeom>
          <a:extLst>
            <a:ext uri="{C572A759-6A51-4108-AA02-DFA0A04FC94B}">
              <ma14:wrappingTextBoxFlag xmlns="" xmlns:ma14="http://schemas.microsoft.com/office/mac/drawingml/2011/main" val="0"/>
            </a:ext>
          </a:extLst>
        </p:spPr>
        <p:txBody>
          <a:bodyPr/>
          <a:lstStyle>
            <a:lvl1pPr>
              <a:defRPr sz="1200">
                <a:solidFill>
                  <a:srgbClr val="6B6B6B"/>
                </a:solidFill>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09600" y="426720"/>
            <a:ext cx="10972800" cy="914400"/>
          </a:xfrm>
          <a:prstGeom prst="rect">
            <a:avLst/>
          </a:prstGeom>
          <a:noFill/>
          <a:ln/>
        </p:spPr>
        <p:txBody>
          <a:bodyPr vert="horz" wrap="square" lIns="0" tIns="0" rIns="0" bIns="0" rtlCol="0" anchor="ctr">
            <a:normAutofit/>
          </a:bodyPr>
          <a:lstStyle/>
          <a:p>
            <a:r>
              <a:rPr lang="en-US" dirty="0"/>
              <a:t>Part B · The recipe</a:t>
            </a:r>
          </a:p>
        </p:txBody>
      </p:sp>
      <p:sp>
        <p:nvSpPr>
          <p:cNvPr id="3" name="Shape 1"/>
          <p:cNvSpPr/>
          <p:nvPr/>
        </p:nvSpPr>
        <p:spPr>
          <a:xfrm>
            <a:off x="609600" y="1524000"/>
            <a:ext cx="10972800" cy="914400"/>
          </a:xfrm>
          <a:prstGeom prst="roundRect">
            <a:avLst>
              <a:gd name="adj" fmla="val 13333"/>
            </a:avLst>
          </a:prstGeom>
          <a:solidFill>
            <a:srgbClr val="E6F2F2"/>
          </a:solidFill>
          <a:ln w="12700">
            <a:solidFill>
              <a:srgbClr val="E6F2F2"/>
            </a:solidFill>
            <a:prstDash val="solid"/>
          </a:ln>
        </p:spPr>
        <p:txBody>
          <a:bodyPr/>
          <a:lstStyle/>
          <a:p>
            <a:endParaRPr lang="en-GB" sz="2400"/>
          </a:p>
        </p:txBody>
      </p:sp>
      <p:sp>
        <p:nvSpPr>
          <p:cNvPr id="4" name="Text 2"/>
          <p:cNvSpPr txBox="1"/>
          <p:nvPr/>
        </p:nvSpPr>
        <p:spPr>
          <a:xfrm>
            <a:off x="853440" y="1524000"/>
            <a:ext cx="10485120" cy="914400"/>
          </a:xfrm>
          <a:prstGeom prst="rect">
            <a:avLst/>
          </a:prstGeom>
          <a:noFill/>
          <a:ln/>
        </p:spPr>
        <p:txBody>
          <a:bodyPr wrap="square" lIns="0" tIns="0" rIns="0" bIns="0" rtlCol="0" anchor="ctr"/>
          <a:lstStyle/>
          <a:p>
            <a:r>
              <a:rPr lang="en-US" sz="2000" b="1" dirty="0">
                <a:solidFill>
                  <a:srgbClr val="0A5C5C"/>
                </a:solidFill>
              </a:rPr>
              <a:t>Monte Carlo answers a question by generating many random versions of the situation and counting what happens.</a:t>
            </a:r>
            <a:endParaRPr lang="en-US" sz="2000" dirty="0"/>
          </a:p>
        </p:txBody>
      </p:sp>
      <p:sp>
        <p:nvSpPr>
          <p:cNvPr id="5" name="Text 3"/>
          <p:cNvSpPr txBox="1"/>
          <p:nvPr/>
        </p:nvSpPr>
        <p:spPr>
          <a:xfrm>
            <a:off x="609600" y="2682240"/>
            <a:ext cx="5242560" cy="487680"/>
          </a:xfrm>
          <a:prstGeom prst="rect">
            <a:avLst/>
          </a:prstGeom>
          <a:noFill/>
          <a:ln/>
        </p:spPr>
        <p:txBody>
          <a:bodyPr wrap="square" lIns="0" tIns="0" rIns="0" bIns="0" rtlCol="0" anchor="t"/>
          <a:lstStyle/>
          <a:p>
            <a:r>
              <a:rPr lang="en-US" sz="2000" b="1" dirty="0">
                <a:solidFill>
                  <a:srgbClr val="0A5C5C"/>
                </a:solidFill>
              </a:rPr>
              <a:t>Three ingredients</a:t>
            </a:r>
            <a:endParaRPr lang="en-US" sz="2000" dirty="0"/>
          </a:p>
        </p:txBody>
      </p:sp>
      <p:sp>
        <p:nvSpPr>
          <p:cNvPr id="6" name="Text 4"/>
          <p:cNvSpPr txBox="1"/>
          <p:nvPr/>
        </p:nvSpPr>
        <p:spPr>
          <a:xfrm>
            <a:off x="609600" y="3169920"/>
            <a:ext cx="5242560" cy="2682240"/>
          </a:xfrm>
          <a:prstGeom prst="rect">
            <a:avLst/>
          </a:prstGeom>
          <a:noFill/>
          <a:ln/>
        </p:spPr>
        <p:txBody>
          <a:bodyPr wrap="square" lIns="0" tIns="0" rIns="0" bIns="0" rtlCol="0" anchor="t"/>
          <a:lstStyle/>
          <a:p>
            <a:pPr marL="457189" indent="-457189">
              <a:spcAft>
                <a:spcPts val="800"/>
              </a:spcAft>
              <a:buSzPct val="100000"/>
              <a:buFont typeface="+mj-lt"/>
              <a:buAutoNum type="arabicPeriod"/>
            </a:pPr>
            <a:r>
              <a:rPr lang="en-US" sz="1733" dirty="0">
                <a:solidFill>
                  <a:srgbClr val="3D3D3D"/>
                </a:solidFill>
              </a:rPr>
              <a:t>A model with something uncertain in it</a:t>
            </a:r>
            <a:endParaRPr lang="en-US" sz="1733" dirty="0"/>
          </a:p>
          <a:p>
            <a:pPr marL="457189" indent="-457189">
              <a:spcAft>
                <a:spcPts val="800"/>
              </a:spcAft>
              <a:buSzPct val="100000"/>
              <a:buFont typeface="+mj-lt"/>
              <a:buAutoNum type="arabicPeriod"/>
            </a:pPr>
            <a:r>
              <a:rPr lang="en-US" sz="1733" dirty="0">
                <a:solidFill>
                  <a:srgbClr val="3D3D3D"/>
                </a:solidFill>
              </a:rPr>
              <a:t>A random number generator to draw one version</a:t>
            </a:r>
            <a:endParaRPr lang="en-US" sz="1733" dirty="0"/>
          </a:p>
          <a:p>
            <a:pPr marL="457189" indent="-457189">
              <a:spcAft>
                <a:spcPts val="800"/>
              </a:spcAft>
              <a:buSzPct val="100000"/>
              <a:buFont typeface="+mj-lt"/>
              <a:buAutoNum type="arabicPeriod"/>
            </a:pPr>
            <a:r>
              <a:rPr lang="en-US" sz="1733" dirty="0">
                <a:solidFill>
                  <a:srgbClr val="3D3D3D"/>
                </a:solidFill>
              </a:rPr>
              <a:t>Repetition and aggregation: thousands of draws, then count or average</a:t>
            </a:r>
            <a:endParaRPr lang="en-US" sz="1733" dirty="0"/>
          </a:p>
        </p:txBody>
      </p:sp>
      <p:sp>
        <p:nvSpPr>
          <p:cNvPr id="7" name="Text 5"/>
          <p:cNvSpPr txBox="1"/>
          <p:nvPr/>
        </p:nvSpPr>
        <p:spPr>
          <a:xfrm>
            <a:off x="6339840" y="2682240"/>
            <a:ext cx="5242560" cy="487680"/>
          </a:xfrm>
          <a:prstGeom prst="rect">
            <a:avLst/>
          </a:prstGeom>
          <a:noFill/>
          <a:ln/>
        </p:spPr>
        <p:txBody>
          <a:bodyPr wrap="square" lIns="0" tIns="0" rIns="0" bIns="0" rtlCol="0" anchor="t"/>
          <a:lstStyle/>
          <a:p>
            <a:r>
              <a:rPr lang="en-US" sz="2000" b="1" dirty="0">
                <a:solidFill>
                  <a:srgbClr val="0A5C5C"/>
                </a:solidFill>
              </a:rPr>
              <a:t>Four steps</a:t>
            </a:r>
            <a:endParaRPr lang="en-US" sz="2000" dirty="0"/>
          </a:p>
        </p:txBody>
      </p:sp>
      <p:sp>
        <p:nvSpPr>
          <p:cNvPr id="8" name="Text 6"/>
          <p:cNvSpPr txBox="1"/>
          <p:nvPr/>
        </p:nvSpPr>
        <p:spPr>
          <a:xfrm>
            <a:off x="6339840" y="3169920"/>
            <a:ext cx="5242560" cy="2682240"/>
          </a:xfrm>
          <a:prstGeom prst="rect">
            <a:avLst/>
          </a:prstGeom>
          <a:noFill/>
          <a:ln/>
        </p:spPr>
        <p:txBody>
          <a:bodyPr wrap="square" lIns="0" tIns="0" rIns="0" bIns="0" rtlCol="0" anchor="t"/>
          <a:lstStyle/>
          <a:p>
            <a:pPr marL="457189" indent="-457189">
              <a:spcAft>
                <a:spcPts val="800"/>
              </a:spcAft>
              <a:buSzPct val="100000"/>
              <a:buFont typeface="+mj-lt"/>
              <a:buAutoNum type="arabicPeriod"/>
            </a:pPr>
            <a:r>
              <a:rPr lang="en-US" sz="1733" dirty="0">
                <a:solidFill>
                  <a:srgbClr val="3D3D3D"/>
                </a:solidFill>
              </a:rPr>
              <a:t>Define the output you care about</a:t>
            </a:r>
            <a:endParaRPr lang="en-US" sz="1733" dirty="0"/>
          </a:p>
          <a:p>
            <a:pPr marL="457189" indent="-457189">
              <a:spcAft>
                <a:spcPts val="800"/>
              </a:spcAft>
              <a:buSzPct val="100000"/>
              <a:buFont typeface="+mj-lt"/>
              <a:buAutoNum type="arabicPeriod"/>
            </a:pPr>
            <a:r>
              <a:rPr lang="en-US" sz="1733" dirty="0">
                <a:solidFill>
                  <a:srgbClr val="3D3D3D"/>
                </a:solidFill>
              </a:rPr>
              <a:t>Describe each uncertain input by a distribution</a:t>
            </a:r>
            <a:endParaRPr lang="en-US" sz="1733" dirty="0"/>
          </a:p>
          <a:p>
            <a:pPr marL="457189" indent="-457189">
              <a:spcAft>
                <a:spcPts val="800"/>
              </a:spcAft>
              <a:buSzPct val="100000"/>
              <a:buFont typeface="+mj-lt"/>
              <a:buAutoNum type="arabicPeriod"/>
            </a:pPr>
            <a:r>
              <a:rPr lang="en-US" sz="1733" dirty="0">
                <a:solidFill>
                  <a:srgbClr val="3D3D3D"/>
                </a:solidFill>
              </a:rPr>
              <a:t>Draw, run the model once, record. Repeat N times</a:t>
            </a:r>
            <a:endParaRPr lang="en-US" sz="1733" dirty="0"/>
          </a:p>
          <a:p>
            <a:pPr marL="457189" indent="-457189">
              <a:spcAft>
                <a:spcPts val="800"/>
              </a:spcAft>
              <a:buSzPct val="100000"/>
              <a:buFont typeface="+mj-lt"/>
              <a:buAutoNum type="arabicPeriod"/>
            </a:pPr>
            <a:r>
              <a:rPr lang="en-US" sz="1733" dirty="0">
                <a:solidFill>
                  <a:srgbClr val="3D3D3D"/>
                </a:solidFill>
              </a:rPr>
              <a:t>Summarise the N outputs, with their uncertainty</a:t>
            </a:r>
            <a:endParaRPr lang="en-US" sz="1733" dirty="0"/>
          </a:p>
        </p:txBody>
      </p:sp>
      <p:sp>
        <p:nvSpPr>
          <p:cNvPr id="25" name="Slide Number Placeholder 0"/>
          <p:cNvSpPr>
            <a:spLocks noGrp="1"/>
          </p:cNvSpPr>
          <p:nvPr>
            <p:ph type="sldNum" sz="quarter" idx="4294967295"/>
          </p:nvPr>
        </p:nvSpPr>
        <p:spPr>
          <a:xfrm>
            <a:off x="10972800" y="6339840"/>
            <a:ext cx="609600" cy="365760"/>
          </a:xfrm>
          <a:prstGeom prst="rect">
            <a:avLst/>
          </a:prstGeom>
          <a:extLst>
            <a:ext uri="{C572A759-6A51-4108-AA02-DFA0A04FC94B}">
              <ma14:wrappingTextBoxFlag xmlns="" xmlns:ma14="http://schemas.microsoft.com/office/mac/drawingml/2011/main" val="0"/>
            </a:ext>
          </a:extLst>
        </p:spPr>
        <p:txBody>
          <a:bodyPr/>
          <a:lstStyle>
            <a:lvl1pPr>
              <a:defRPr sz="1200">
                <a:solidFill>
                  <a:srgbClr val="6B6B6B"/>
                </a:solidFill>
              </a:defRPr>
            </a:lvl1pPr>
          </a:lstStyle>
          <a:p>
            <a:pPr algn="r"/>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731520" y="1706880"/>
            <a:ext cx="10728960" cy="609600"/>
          </a:xfrm>
          <a:prstGeom prst="rect">
            <a:avLst/>
          </a:prstGeom>
          <a:noFill/>
          <a:ln/>
        </p:spPr>
        <p:txBody>
          <a:bodyPr vert="horz" wrap="square" lIns="0" tIns="0" rIns="0" bIns="0" rtlCol="0">
            <a:normAutofit/>
          </a:bodyPr>
          <a:lstStyle/>
          <a:p>
            <a:r>
              <a:rPr lang="en-US" dirty="0"/>
              <a:t>Stop 1</a:t>
            </a:r>
          </a:p>
        </p:txBody>
      </p:sp>
      <p:sp>
        <p:nvSpPr>
          <p:cNvPr id="3" name="Text 0"/>
          <p:cNvSpPr>
            <a:spLocks noGrp="1"/>
          </p:cNvSpPr>
          <p:nvPr>
            <p:ph type="title" idx="101" hasCustomPrompt="1"/>
          </p:nvPr>
        </p:nvSpPr>
        <p:spPr>
          <a:xfrm>
            <a:off x="731520" y="2316480"/>
            <a:ext cx="10728960" cy="2194560"/>
          </a:xfrm>
          <a:prstGeom prst="rect">
            <a:avLst/>
          </a:prstGeom>
          <a:noFill/>
          <a:ln/>
        </p:spPr>
        <p:txBody>
          <a:bodyPr vert="horz" wrap="square" lIns="0" tIns="0" rIns="0" bIns="0" rtlCol="0" anchor="ctr">
            <a:normAutofit/>
          </a:bodyPr>
          <a:lstStyle/>
          <a:p>
            <a:r>
              <a:rPr lang="en-US" dirty="0"/>
              <a:t>Two dice, and the first Monte Carlo</a:t>
            </a:r>
          </a:p>
        </p:txBody>
      </p:sp>
      <p:sp>
        <p:nvSpPr>
          <p:cNvPr id="4" name="Text 0"/>
          <p:cNvSpPr>
            <a:spLocks noGrp="1"/>
          </p:cNvSpPr>
          <p:nvPr>
            <p:ph type="body" idx="102" hasCustomPrompt="1"/>
          </p:nvPr>
        </p:nvSpPr>
        <p:spPr>
          <a:xfrm>
            <a:off x="731520" y="4754880"/>
            <a:ext cx="10728960" cy="1097280"/>
          </a:xfrm>
          <a:prstGeom prst="rect">
            <a:avLst/>
          </a:prstGeom>
          <a:noFill/>
          <a:ln/>
        </p:spPr>
        <p:txBody>
          <a:bodyPr vert="horz" wrap="square" lIns="0" tIns="0" rIns="0" bIns="0" rtlCol="0">
            <a:normAutofit/>
          </a:bodyPr>
          <a:lstStyle/>
          <a:p>
            <a:r>
              <a:rPr lang="en-US" dirty="0"/>
              <a:t>Estimate a probability by counting. Watch the error shrink.</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09600" y="426720"/>
            <a:ext cx="10972800" cy="914400"/>
          </a:xfrm>
          <a:prstGeom prst="rect">
            <a:avLst/>
          </a:prstGeom>
          <a:noFill/>
          <a:ln/>
        </p:spPr>
        <p:txBody>
          <a:bodyPr vert="horz" wrap="square" lIns="0" tIns="0" rIns="0" bIns="0" rtlCol="0" anchor="ctr">
            <a:normAutofit/>
          </a:bodyPr>
          <a:lstStyle/>
          <a:p>
            <a:r>
              <a:rPr lang="en-US" dirty="0"/>
              <a:t>Roll two dice and add them. How often is the sum 7?</a:t>
            </a:r>
          </a:p>
        </p:txBody>
      </p:sp>
      <p:sp>
        <p:nvSpPr>
          <p:cNvPr id="3" name="Text 1"/>
          <p:cNvSpPr txBox="1"/>
          <p:nvPr/>
        </p:nvSpPr>
        <p:spPr>
          <a:xfrm>
            <a:off x="8046720" y="6303264"/>
            <a:ext cx="2682240" cy="365760"/>
          </a:xfrm>
          <a:prstGeom prst="rect">
            <a:avLst/>
          </a:prstGeom>
          <a:solidFill>
            <a:srgbClr val="E6F2F2"/>
          </a:solidFill>
          <a:ln/>
        </p:spPr>
        <p:txBody>
          <a:bodyPr wrap="square" lIns="0" tIns="0" rIns="0" bIns="0" rtlCol="0" anchor="ctr"/>
          <a:lstStyle/>
          <a:p>
            <a:pPr algn="ctr"/>
            <a:r>
              <a:rPr lang="en-US" sz="1333" b="1" dirty="0">
                <a:solidFill>
                  <a:srgbClr val="0A5C5C"/>
                </a:solidFill>
              </a:rPr>
              <a:t>STOP 1 · DICE</a:t>
            </a:r>
            <a:endParaRPr lang="en-US" sz="1333" dirty="0"/>
          </a:p>
        </p:txBody>
      </p:sp>
      <p:sp>
        <p:nvSpPr>
          <p:cNvPr id="4" name="Shape 2"/>
          <p:cNvSpPr/>
          <p:nvPr/>
        </p:nvSpPr>
        <p:spPr>
          <a:xfrm>
            <a:off x="609600" y="1584960"/>
            <a:ext cx="5242560" cy="2804160"/>
          </a:xfrm>
          <a:prstGeom prst="roundRect">
            <a:avLst>
              <a:gd name="adj" fmla="val 4348"/>
            </a:avLst>
          </a:prstGeom>
          <a:solidFill>
            <a:srgbClr val="E6F2F2"/>
          </a:solidFill>
          <a:ln w="12700">
            <a:solidFill>
              <a:srgbClr val="E6F2F2"/>
            </a:solidFill>
            <a:prstDash val="solid"/>
          </a:ln>
        </p:spPr>
        <p:txBody>
          <a:bodyPr/>
          <a:lstStyle/>
          <a:p>
            <a:endParaRPr lang="en-GB" sz="2400"/>
          </a:p>
        </p:txBody>
      </p:sp>
      <p:sp>
        <p:nvSpPr>
          <p:cNvPr id="5" name="Text 3"/>
          <p:cNvSpPr txBox="1"/>
          <p:nvPr/>
        </p:nvSpPr>
        <p:spPr>
          <a:xfrm>
            <a:off x="853440" y="1767840"/>
            <a:ext cx="4754880" cy="487680"/>
          </a:xfrm>
          <a:prstGeom prst="rect">
            <a:avLst/>
          </a:prstGeom>
          <a:noFill/>
          <a:ln/>
        </p:spPr>
        <p:txBody>
          <a:bodyPr wrap="square" lIns="0" tIns="0" rIns="0" bIns="0" rtlCol="0" anchor="ctr"/>
          <a:lstStyle/>
          <a:p>
            <a:r>
              <a:rPr lang="en-US" sz="2000" b="1" dirty="0">
                <a:solidFill>
                  <a:srgbClr val="0A5C5C"/>
                </a:solidFill>
              </a:rPr>
              <a:t>The exact answer</a:t>
            </a:r>
            <a:endParaRPr lang="en-US" sz="2000" dirty="0"/>
          </a:p>
        </p:txBody>
      </p:sp>
      <p:sp>
        <p:nvSpPr>
          <p:cNvPr id="6" name="Text 4"/>
          <p:cNvSpPr txBox="1"/>
          <p:nvPr/>
        </p:nvSpPr>
        <p:spPr>
          <a:xfrm>
            <a:off x="853440" y="2316480"/>
            <a:ext cx="4754880" cy="1889760"/>
          </a:xfrm>
          <a:prstGeom prst="rect">
            <a:avLst/>
          </a:prstGeom>
          <a:noFill/>
          <a:ln/>
        </p:spPr>
        <p:txBody>
          <a:bodyPr wrap="square" lIns="0" tIns="0" rIns="0" bIns="0" rtlCol="0" anchor="t"/>
          <a:lstStyle/>
          <a:p>
            <a:r>
              <a:rPr lang="en-US" sz="1733" dirty="0">
                <a:solidFill>
                  <a:srgbClr val="3D3D3D"/>
                </a:solidFill>
              </a:rPr>
              <a:t>6 × 6 = 36 equally likely pairs of faces.</a:t>
            </a:r>
            <a:endParaRPr lang="en-US" sz="1733" dirty="0"/>
          </a:p>
          <a:p>
            <a:r>
              <a:rPr lang="en-US" sz="1733" dirty="0">
                <a:solidFill>
                  <a:srgbClr val="3D3D3D"/>
                </a:solidFill>
              </a:rPr>
              <a:t>Six of them add to 7: 1+6, 2+5, 3+4, 4+3, 5+2, 6+1.</a:t>
            </a:r>
            <a:endParaRPr lang="en-US" sz="1733" dirty="0"/>
          </a:p>
          <a:p>
            <a:r>
              <a:rPr lang="en-US" sz="1733" dirty="0">
                <a:solidFill>
                  <a:srgbClr val="3D3D3D"/>
                </a:solidFill>
              </a:rPr>
              <a:t>Probability = 6/36 = 1/6 ≈ 16.7%.</a:t>
            </a:r>
            <a:endParaRPr lang="en-US" sz="1733" dirty="0"/>
          </a:p>
        </p:txBody>
      </p:sp>
      <p:sp>
        <p:nvSpPr>
          <p:cNvPr id="7" name="Shape 5"/>
          <p:cNvSpPr/>
          <p:nvPr/>
        </p:nvSpPr>
        <p:spPr>
          <a:xfrm>
            <a:off x="6339840" y="1584960"/>
            <a:ext cx="5242560" cy="2804160"/>
          </a:xfrm>
          <a:prstGeom prst="roundRect">
            <a:avLst>
              <a:gd name="adj" fmla="val 4348"/>
            </a:avLst>
          </a:prstGeom>
          <a:solidFill>
            <a:srgbClr val="FBEBDD"/>
          </a:solidFill>
          <a:ln w="12700">
            <a:solidFill>
              <a:srgbClr val="FBEBDD"/>
            </a:solidFill>
            <a:prstDash val="solid"/>
          </a:ln>
        </p:spPr>
        <p:txBody>
          <a:bodyPr/>
          <a:lstStyle/>
          <a:p>
            <a:endParaRPr lang="en-GB" sz="2400"/>
          </a:p>
        </p:txBody>
      </p:sp>
      <p:sp>
        <p:nvSpPr>
          <p:cNvPr id="8" name="Text 6"/>
          <p:cNvSpPr txBox="1"/>
          <p:nvPr/>
        </p:nvSpPr>
        <p:spPr>
          <a:xfrm>
            <a:off x="6583680" y="1767840"/>
            <a:ext cx="4754880" cy="487680"/>
          </a:xfrm>
          <a:prstGeom prst="rect">
            <a:avLst/>
          </a:prstGeom>
          <a:noFill/>
          <a:ln/>
        </p:spPr>
        <p:txBody>
          <a:bodyPr wrap="square" lIns="0" tIns="0" rIns="0" bIns="0" rtlCol="0" anchor="ctr"/>
          <a:lstStyle/>
          <a:p>
            <a:r>
              <a:rPr lang="en-US" sz="2000" b="1" dirty="0">
                <a:solidFill>
                  <a:srgbClr val="7A4A1E"/>
                </a:solidFill>
              </a:rPr>
              <a:t>The Monte Carlo answer</a:t>
            </a:r>
            <a:endParaRPr lang="en-US" sz="2000" dirty="0"/>
          </a:p>
        </p:txBody>
      </p:sp>
      <p:sp>
        <p:nvSpPr>
          <p:cNvPr id="9" name="Text 7"/>
          <p:cNvSpPr txBox="1"/>
          <p:nvPr/>
        </p:nvSpPr>
        <p:spPr>
          <a:xfrm>
            <a:off x="6583680" y="2316480"/>
            <a:ext cx="4754880" cy="1889760"/>
          </a:xfrm>
          <a:prstGeom prst="rect">
            <a:avLst/>
          </a:prstGeom>
          <a:noFill/>
          <a:ln/>
        </p:spPr>
        <p:txBody>
          <a:bodyPr wrap="square" lIns="0" tIns="0" rIns="0" bIns="0" rtlCol="0" anchor="t"/>
          <a:lstStyle/>
          <a:p>
            <a:r>
              <a:rPr lang="en-US" sz="1733" dirty="0">
                <a:solidFill>
                  <a:srgbClr val="3D3D3D"/>
                </a:solidFill>
              </a:rPr>
              <a:t>Roll two dice 10,000 times. Add. Count how many sums are 7. Divide by 10,000.</a:t>
            </a:r>
            <a:endParaRPr lang="en-US" sz="1733" dirty="0"/>
          </a:p>
          <a:p>
            <a:r>
              <a:rPr lang="en-US" sz="1733" dirty="0">
                <a:solidFill>
                  <a:srgbClr val="3D3D3D"/>
                </a:solidFill>
              </a:rPr>
              <a:t>Result: about 0.167, give or take a few thousandths.</a:t>
            </a:r>
            <a:endParaRPr lang="en-US" sz="1733" dirty="0"/>
          </a:p>
        </p:txBody>
      </p:sp>
      <p:sp>
        <p:nvSpPr>
          <p:cNvPr id="10" name="Text 8"/>
          <p:cNvSpPr txBox="1"/>
          <p:nvPr/>
        </p:nvSpPr>
        <p:spPr>
          <a:xfrm>
            <a:off x="609600" y="4693920"/>
            <a:ext cx="10972800" cy="609600"/>
          </a:xfrm>
          <a:prstGeom prst="rect">
            <a:avLst/>
          </a:prstGeom>
          <a:noFill/>
          <a:ln/>
        </p:spPr>
        <p:txBody>
          <a:bodyPr wrap="square" lIns="0" tIns="0" rIns="0" bIns="0" rtlCol="0" anchor="t"/>
          <a:lstStyle/>
          <a:p>
            <a:r>
              <a:rPr lang="en-US" sz="1733" i="1" dirty="0">
                <a:solidFill>
                  <a:srgbClr val="0F7F7F"/>
                </a:solidFill>
              </a:rPr>
              <a:t>It does not know any of the left box. It rolls, adds, and counts. (Notebook 1.1: four lines of code.)</a:t>
            </a:r>
            <a:endParaRPr lang="en-US" sz="1733" dirty="0"/>
          </a:p>
        </p:txBody>
      </p:sp>
      <p:sp>
        <p:nvSpPr>
          <p:cNvPr id="25" name="Slide Number Placeholder 0"/>
          <p:cNvSpPr>
            <a:spLocks noGrp="1"/>
          </p:cNvSpPr>
          <p:nvPr>
            <p:ph type="sldNum" sz="quarter" idx="4294967295"/>
          </p:nvPr>
        </p:nvSpPr>
        <p:spPr>
          <a:xfrm>
            <a:off x="10972800" y="6339840"/>
            <a:ext cx="609600" cy="365760"/>
          </a:xfrm>
          <a:prstGeom prst="rect">
            <a:avLst/>
          </a:prstGeom>
          <a:extLst>
            <a:ext uri="{C572A759-6A51-4108-AA02-DFA0A04FC94B}">
              <ma14:wrappingTextBoxFlag xmlns="" xmlns:ma14="http://schemas.microsoft.com/office/mac/drawingml/2011/main" val="0"/>
            </a:ext>
          </a:extLst>
        </p:spPr>
        <p:txBody>
          <a:bodyPr/>
          <a:lstStyle>
            <a:lvl1pPr>
              <a:defRPr sz="1200">
                <a:solidFill>
                  <a:srgbClr val="6B6B6B"/>
                </a:solidFill>
              </a:defRPr>
            </a:lvl1pPr>
          </a:lstStyle>
          <a:p>
            <a:pPr algn="r"/>
            <a:fld id="{F7021451-1387-4CA6-816F-3879F97B5CBC}" type="slidenum">
              <a:rPr lang="en-US" b="0"/>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09600" y="426720"/>
            <a:ext cx="10972800" cy="914400"/>
          </a:xfrm>
          <a:prstGeom prst="rect">
            <a:avLst/>
          </a:prstGeom>
          <a:noFill/>
          <a:ln/>
        </p:spPr>
        <p:txBody>
          <a:bodyPr vert="horz" wrap="square" lIns="0" tIns="0" rIns="0" bIns="0" rtlCol="0" anchor="ctr">
            <a:normAutofit/>
          </a:bodyPr>
          <a:lstStyle/>
          <a:p>
            <a:r>
              <a:rPr lang="en-US" dirty="0"/>
              <a:t>More rolls, better picture</a:t>
            </a:r>
          </a:p>
        </p:txBody>
      </p:sp>
      <p:sp>
        <p:nvSpPr>
          <p:cNvPr id="3" name="Text 1"/>
          <p:cNvSpPr txBox="1"/>
          <p:nvPr/>
        </p:nvSpPr>
        <p:spPr>
          <a:xfrm>
            <a:off x="8046720" y="6303264"/>
            <a:ext cx="2682240" cy="365760"/>
          </a:xfrm>
          <a:prstGeom prst="rect">
            <a:avLst/>
          </a:prstGeom>
          <a:solidFill>
            <a:srgbClr val="E6F2F2"/>
          </a:solidFill>
          <a:ln/>
        </p:spPr>
        <p:txBody>
          <a:bodyPr wrap="square" lIns="0" tIns="0" rIns="0" bIns="0" rtlCol="0" anchor="ctr"/>
          <a:lstStyle/>
          <a:p>
            <a:pPr algn="ctr"/>
            <a:r>
              <a:rPr lang="en-US" sz="1333" b="1" dirty="0">
                <a:solidFill>
                  <a:srgbClr val="0A5C5C"/>
                </a:solidFill>
              </a:rPr>
              <a:t>STOP 1 · DICE</a:t>
            </a:r>
            <a:endParaRPr lang="en-US" sz="1333" dirty="0"/>
          </a:p>
        </p:txBody>
      </p:sp>
      <p:pic>
        <p:nvPicPr>
          <p:cNvPr id="4" name="Image 0" descr="figs/fig3_dice.png"/>
          <p:cNvPicPr>
            <a:picLocks noChangeAspect="1"/>
          </p:cNvPicPr>
          <p:nvPr/>
        </p:nvPicPr>
        <p:blipFill>
          <a:blip r:embed="rId3"/>
          <a:stretch>
            <a:fillRect/>
          </a:stretch>
        </p:blipFill>
        <p:spPr>
          <a:xfrm>
            <a:off x="644770" y="1524000"/>
            <a:ext cx="10902461" cy="3779520"/>
          </a:xfrm>
          <a:prstGeom prst="rect">
            <a:avLst/>
          </a:prstGeom>
        </p:spPr>
      </p:pic>
      <p:sp>
        <p:nvSpPr>
          <p:cNvPr id="5" name="Text 2"/>
          <p:cNvSpPr txBox="1"/>
          <p:nvPr/>
        </p:nvSpPr>
        <p:spPr>
          <a:xfrm>
            <a:off x="609600" y="5364480"/>
            <a:ext cx="10972800" cy="426720"/>
          </a:xfrm>
          <a:prstGeom prst="rect">
            <a:avLst/>
          </a:prstGeom>
          <a:noFill/>
          <a:ln/>
        </p:spPr>
        <p:txBody>
          <a:bodyPr wrap="square" lIns="0" tIns="0" rIns="0" bIns="0" rtlCol="0" anchor="t"/>
          <a:lstStyle/>
          <a:p>
            <a:r>
              <a:rPr lang="en-US" sz="1333" i="1" dirty="0">
                <a:solidFill>
                  <a:srgbClr val="6B6B6B"/>
                </a:solidFill>
              </a:rPr>
              <a:t>Bars: simulated share of each sum. Dots: the exact probabilities. With 30 rolls the shape is barely there; with 30,000 the bars sit on the dots.</a:t>
            </a:r>
            <a:endParaRPr lang="en-US" sz="1333" dirty="0"/>
          </a:p>
        </p:txBody>
      </p:sp>
      <p:sp>
        <p:nvSpPr>
          <p:cNvPr id="25" name="Slide Number Placeholder 0"/>
          <p:cNvSpPr>
            <a:spLocks noGrp="1"/>
          </p:cNvSpPr>
          <p:nvPr>
            <p:ph type="sldNum" sz="quarter" idx="4294967295"/>
          </p:nvPr>
        </p:nvSpPr>
        <p:spPr>
          <a:xfrm>
            <a:off x="10972800" y="6339840"/>
            <a:ext cx="609600" cy="365760"/>
          </a:xfrm>
          <a:prstGeom prst="rect">
            <a:avLst/>
          </a:prstGeom>
          <a:extLst>
            <a:ext uri="{C572A759-6A51-4108-AA02-DFA0A04FC94B}">
              <ma14:wrappingTextBoxFlag xmlns="" xmlns:ma14="http://schemas.microsoft.com/office/mac/drawingml/2011/main" val="0"/>
            </a:ext>
          </a:extLst>
        </p:spPr>
        <p:txBody>
          <a:bodyPr/>
          <a:lstStyle>
            <a:lvl1pPr>
              <a:defRPr sz="1200">
                <a:solidFill>
                  <a:srgbClr val="6B6B6B"/>
                </a:solidFill>
              </a:defRPr>
            </a:lvl1pPr>
          </a:lstStyle>
          <a:p>
            <a:pPr algn="r"/>
            <a:fld id="{F7021451-1387-4CA6-816F-3879F97B5CBC}" type="slidenum">
              <a:rPr lang="en-US" b="0"/>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09600" y="426720"/>
            <a:ext cx="10972800" cy="914400"/>
          </a:xfrm>
          <a:prstGeom prst="rect">
            <a:avLst/>
          </a:prstGeom>
          <a:noFill/>
          <a:ln/>
        </p:spPr>
        <p:txBody>
          <a:bodyPr vert="horz" wrap="square" lIns="0" tIns="0" rIns="0" bIns="0" rtlCol="0" anchor="ctr">
            <a:normAutofit/>
          </a:bodyPr>
          <a:lstStyle/>
          <a:p>
            <a:r>
              <a:rPr lang="en-US" dirty="0"/>
              <a:t>The error shrinks like 1/√N</a:t>
            </a:r>
          </a:p>
        </p:txBody>
      </p:sp>
      <p:sp>
        <p:nvSpPr>
          <p:cNvPr id="3" name="Text 1"/>
          <p:cNvSpPr txBox="1"/>
          <p:nvPr/>
        </p:nvSpPr>
        <p:spPr>
          <a:xfrm>
            <a:off x="8046720" y="6303264"/>
            <a:ext cx="2682240" cy="365760"/>
          </a:xfrm>
          <a:prstGeom prst="rect">
            <a:avLst/>
          </a:prstGeom>
          <a:solidFill>
            <a:srgbClr val="E6F2F2"/>
          </a:solidFill>
          <a:ln/>
        </p:spPr>
        <p:txBody>
          <a:bodyPr wrap="square" lIns="0" tIns="0" rIns="0" bIns="0" rtlCol="0" anchor="ctr"/>
          <a:lstStyle/>
          <a:p>
            <a:pPr algn="ctr"/>
            <a:r>
              <a:rPr lang="en-US" sz="1333" b="1" dirty="0">
                <a:solidFill>
                  <a:srgbClr val="0A5C5C"/>
                </a:solidFill>
              </a:rPr>
              <a:t>STOP 1 · DICE</a:t>
            </a:r>
            <a:endParaRPr lang="en-US" sz="1333" dirty="0"/>
          </a:p>
        </p:txBody>
      </p:sp>
      <p:pic>
        <p:nvPicPr>
          <p:cNvPr id="4" name="Image 0" descr="figs/fig4_dice_error.png"/>
          <p:cNvPicPr>
            <a:picLocks noChangeAspect="1"/>
          </p:cNvPicPr>
          <p:nvPr/>
        </p:nvPicPr>
        <p:blipFill>
          <a:blip r:embed="rId3"/>
          <a:stretch>
            <a:fillRect/>
          </a:stretch>
        </p:blipFill>
        <p:spPr>
          <a:xfrm>
            <a:off x="609600" y="1702816"/>
            <a:ext cx="7071360" cy="3299968"/>
          </a:xfrm>
          <a:prstGeom prst="rect">
            <a:avLst/>
          </a:prstGeom>
        </p:spPr>
      </p:pic>
      <p:sp>
        <p:nvSpPr>
          <p:cNvPr id="5" name="Text 2"/>
          <p:cNvSpPr txBox="1"/>
          <p:nvPr/>
        </p:nvSpPr>
        <p:spPr>
          <a:xfrm>
            <a:off x="7924800" y="1706880"/>
            <a:ext cx="3657600" cy="4389120"/>
          </a:xfrm>
          <a:prstGeom prst="rect">
            <a:avLst/>
          </a:prstGeom>
          <a:noFill/>
          <a:ln/>
        </p:spPr>
        <p:txBody>
          <a:bodyPr wrap="square" lIns="0" tIns="0" rIns="0" bIns="0" rtlCol="0" anchor="t"/>
          <a:lstStyle/>
          <a:p>
            <a:pPr marL="457189" indent="-457189">
              <a:spcAft>
                <a:spcPts val="1067"/>
              </a:spcAft>
              <a:buSzPct val="100000"/>
              <a:buChar char="•"/>
            </a:pPr>
            <a:r>
              <a:rPr lang="en-US" sz="1733" dirty="0">
                <a:solidFill>
                  <a:srgbClr val="3D3D3D"/>
                </a:solidFill>
              </a:rPr>
              <a:t>Each point: the typical error of the estimate of P(sum = 7), averaged over 20 repetitions.</a:t>
            </a:r>
            <a:endParaRPr lang="en-US" sz="1733" dirty="0"/>
          </a:p>
          <a:p>
            <a:pPr marL="457189" indent="-457189">
              <a:spcAft>
                <a:spcPts val="1067"/>
              </a:spcAft>
              <a:buSzPct val="100000"/>
              <a:buChar char="•"/>
            </a:pPr>
            <a:r>
              <a:rPr lang="en-US" sz="1733" dirty="0">
                <a:solidFill>
                  <a:srgbClr val="3D3D3D"/>
                </a:solidFill>
              </a:rPr>
              <a:t>On log-log axes the points fall on a straight line with slope −½.</a:t>
            </a:r>
            <a:endParaRPr lang="en-US" sz="1733" dirty="0"/>
          </a:p>
          <a:p>
            <a:pPr marL="457189" indent="-457189">
              <a:spcAft>
                <a:spcPts val="1067"/>
              </a:spcAft>
              <a:buSzPct val="100000"/>
              <a:buChar char="•"/>
            </a:pPr>
            <a:r>
              <a:rPr lang="en-US" sz="1733" dirty="0">
                <a:solidFill>
                  <a:srgbClr val="3D3D3D"/>
                </a:solidFill>
              </a:rPr>
              <a:t>Every hundredfold increase in rolls buys a tenfold reduction in error.</a:t>
            </a:r>
            <a:endParaRPr lang="en-US" sz="1733" dirty="0"/>
          </a:p>
        </p:txBody>
      </p:sp>
      <p:sp>
        <p:nvSpPr>
          <p:cNvPr id="25" name="Slide Number Placeholder 0"/>
          <p:cNvSpPr>
            <a:spLocks noGrp="1"/>
          </p:cNvSpPr>
          <p:nvPr>
            <p:ph type="sldNum" sz="quarter" idx="4294967295"/>
          </p:nvPr>
        </p:nvSpPr>
        <p:spPr>
          <a:xfrm>
            <a:off x="10972800" y="6339840"/>
            <a:ext cx="609600" cy="365760"/>
          </a:xfrm>
          <a:prstGeom prst="rect">
            <a:avLst/>
          </a:prstGeom>
          <a:extLst>
            <a:ext uri="{C572A759-6A51-4108-AA02-DFA0A04FC94B}">
              <ma14:wrappingTextBoxFlag xmlns="" xmlns:ma14="http://schemas.microsoft.com/office/mac/drawingml/2011/main" val="0"/>
            </a:ext>
          </a:extLst>
        </p:spPr>
        <p:txBody>
          <a:bodyPr/>
          <a:lstStyle>
            <a:lvl1pPr>
              <a:defRPr sz="1200">
                <a:solidFill>
                  <a:srgbClr val="6B6B6B"/>
                </a:solidFill>
              </a:defRPr>
            </a:lvl1pPr>
          </a:lstStyle>
          <a:p>
            <a:pPr algn="r"/>
            <a:fld id="{F7021451-1387-4CA6-816F-3879F97B5CBC}" type="slidenum">
              <a:rPr lang="en-US" b="0"/>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09600" y="426720"/>
            <a:ext cx="10972800" cy="914400"/>
          </a:xfrm>
          <a:prstGeom prst="rect">
            <a:avLst/>
          </a:prstGeom>
          <a:noFill/>
          <a:ln/>
        </p:spPr>
        <p:txBody>
          <a:bodyPr vert="horz" wrap="square" lIns="0" tIns="0" rIns="0" bIns="0" rtlCol="0" anchor="ctr">
            <a:normAutofit/>
          </a:bodyPr>
          <a:lstStyle/>
          <a:p>
            <a:r>
              <a:rPr lang="en-US" dirty="0"/>
              <a:t>Stop 1 · On your screen</a:t>
            </a:r>
          </a:p>
        </p:txBody>
      </p:sp>
      <p:sp>
        <p:nvSpPr>
          <p:cNvPr id="3" name="Shape 1"/>
          <p:cNvSpPr/>
          <p:nvPr/>
        </p:nvSpPr>
        <p:spPr>
          <a:xfrm>
            <a:off x="609600" y="1463040"/>
            <a:ext cx="5303520" cy="1158240"/>
          </a:xfrm>
          <a:prstGeom prst="roundRect">
            <a:avLst>
              <a:gd name="adj" fmla="val 8421"/>
            </a:avLst>
          </a:prstGeom>
          <a:solidFill>
            <a:srgbClr val="E6F2F2"/>
          </a:solidFill>
          <a:ln w="12700">
            <a:solidFill>
              <a:srgbClr val="E6F2F2"/>
            </a:solidFill>
            <a:prstDash val="solid"/>
          </a:ln>
        </p:spPr>
        <p:txBody>
          <a:bodyPr/>
          <a:lstStyle/>
          <a:p>
            <a:endParaRPr lang="en-GB" sz="2400"/>
          </a:p>
        </p:txBody>
      </p:sp>
      <p:sp>
        <p:nvSpPr>
          <p:cNvPr id="4" name="Text 2"/>
          <p:cNvSpPr txBox="1"/>
          <p:nvPr/>
        </p:nvSpPr>
        <p:spPr>
          <a:xfrm>
            <a:off x="792480" y="1463040"/>
            <a:ext cx="4998720" cy="1158240"/>
          </a:xfrm>
          <a:prstGeom prst="rect">
            <a:avLst/>
          </a:prstGeom>
          <a:noFill/>
          <a:ln/>
        </p:spPr>
        <p:txBody>
          <a:bodyPr wrap="square" lIns="0" tIns="0" rIns="0" bIns="0" rtlCol="0" anchor="ctr"/>
          <a:lstStyle/>
          <a:p>
            <a:r>
              <a:rPr lang="en-US" sz="1600" b="1" dirty="0">
                <a:solidFill>
                  <a:srgbClr val="0A5C5C"/>
                </a:solidFill>
              </a:rPr>
              <a:t>Website animation  </a:t>
            </a:r>
            <a:r>
              <a:rPr lang="en-US" sz="1600" dirty="0">
                <a:solidFill>
                  <a:srgbClr val="3D3D3D"/>
                </a:solidFill>
              </a:rPr>
              <a:t>“Two dice”: drag Rolls, press Roll again several times at each setting.</a:t>
            </a:r>
            <a:endParaRPr lang="en-US" sz="1600" dirty="0"/>
          </a:p>
        </p:txBody>
      </p:sp>
      <p:sp>
        <p:nvSpPr>
          <p:cNvPr id="5" name="Shape 3"/>
          <p:cNvSpPr/>
          <p:nvPr/>
        </p:nvSpPr>
        <p:spPr>
          <a:xfrm>
            <a:off x="6278880" y="1463040"/>
            <a:ext cx="5303520" cy="1158240"/>
          </a:xfrm>
          <a:prstGeom prst="roundRect">
            <a:avLst>
              <a:gd name="adj" fmla="val 8421"/>
            </a:avLst>
          </a:prstGeom>
          <a:solidFill>
            <a:srgbClr val="FBEBDD"/>
          </a:solidFill>
          <a:ln w="12700">
            <a:solidFill>
              <a:srgbClr val="FBEBDD"/>
            </a:solidFill>
            <a:prstDash val="solid"/>
          </a:ln>
        </p:spPr>
        <p:txBody>
          <a:bodyPr/>
          <a:lstStyle/>
          <a:p>
            <a:endParaRPr lang="en-GB" sz="2400"/>
          </a:p>
        </p:txBody>
      </p:sp>
      <p:sp>
        <p:nvSpPr>
          <p:cNvPr id="6" name="Text 4"/>
          <p:cNvSpPr txBox="1"/>
          <p:nvPr/>
        </p:nvSpPr>
        <p:spPr>
          <a:xfrm>
            <a:off x="6461760" y="1463040"/>
            <a:ext cx="4998720" cy="1158240"/>
          </a:xfrm>
          <a:prstGeom prst="rect">
            <a:avLst/>
          </a:prstGeom>
          <a:noFill/>
          <a:ln/>
        </p:spPr>
        <p:txBody>
          <a:bodyPr wrap="square" lIns="0" tIns="0" rIns="0" bIns="0" rtlCol="0" anchor="ctr"/>
          <a:lstStyle/>
          <a:p>
            <a:r>
              <a:rPr lang="en-US" sz="1600" b="1" dirty="0">
                <a:solidFill>
                  <a:srgbClr val="7A4A1E"/>
                </a:solidFill>
              </a:rPr>
              <a:t>Notebook  </a:t>
            </a:r>
            <a:r>
              <a:rPr lang="en-US" sz="1600" dirty="0">
                <a:solidFill>
                  <a:srgbClr val="3D3D3D"/>
                </a:solidFill>
              </a:rPr>
              <a:t>sections 1.1 to 1.3: run each cell; the ▶ Try it cell has the slider.</a:t>
            </a:r>
            <a:endParaRPr lang="en-US" sz="1600" dirty="0"/>
          </a:p>
        </p:txBody>
      </p:sp>
      <p:graphicFrame>
        <p:nvGraphicFramePr>
          <p:cNvPr id="20" name="Table 0"/>
          <p:cNvGraphicFramePr>
            <a:graphicFrameLocks noGrp="1"/>
          </p:cNvGraphicFramePr>
          <p:nvPr/>
        </p:nvGraphicFramePr>
        <p:xfrm>
          <a:off x="609600" y="2804160"/>
          <a:ext cx="10972800" cy="1581912"/>
        </p:xfrm>
        <a:graphic>
          <a:graphicData uri="http://schemas.openxmlformats.org/drawingml/2006/table">
            <a:tbl>
              <a:tblPr/>
              <a:tblGrid>
                <a:gridCol w="2072640">
                  <a:extLst>
                    <a:ext uri="{9D8B030D-6E8A-4147-A177-3AD203B41FA5}">
                      <a16:colId xmlns:a16="http://schemas.microsoft.com/office/drawing/2014/main" val="20000"/>
                    </a:ext>
                  </a:extLst>
                </a:gridCol>
                <a:gridCol w="4145280">
                  <a:extLst>
                    <a:ext uri="{9D8B030D-6E8A-4147-A177-3AD203B41FA5}">
                      <a16:colId xmlns:a16="http://schemas.microsoft.com/office/drawing/2014/main" val="20001"/>
                    </a:ext>
                  </a:extLst>
                </a:gridCol>
                <a:gridCol w="4754880">
                  <a:extLst>
                    <a:ext uri="{9D8B030D-6E8A-4147-A177-3AD203B41FA5}">
                      <a16:colId xmlns:a16="http://schemas.microsoft.com/office/drawing/2014/main" val="20002"/>
                    </a:ext>
                  </a:extLst>
                </a:gridCol>
              </a:tblGrid>
              <a:tr h="369824">
                <a:tc>
                  <a:txBody>
                    <a:bodyPr/>
                    <a:lstStyle/>
                    <a:p>
                      <a:pPr marL="0" indent="0">
                        <a:buNone/>
                      </a:pPr>
                      <a:r>
                        <a:rPr lang="en-US" sz="1500" b="1" dirty="0">
                          <a:solidFill>
                            <a:srgbClr val="0A5C5C"/>
                          </a:solidFill>
                          <a:latin typeface="Calibri" pitchFamily="34" charset="0"/>
                          <a:ea typeface="Calibri" pitchFamily="34" charset="-122"/>
                          <a:cs typeface="Calibri" pitchFamily="34" charset="-120"/>
                        </a:rPr>
                        <a:t>Parameter</a:t>
                      </a:r>
                      <a:endParaRPr lang="en-US" sz="1500" dirty="0">
                        <a:latin typeface="Calibri" charset="0"/>
                        <a:ea typeface="Calibri" charset="0"/>
                        <a:cs typeface="Calibri" charset="0"/>
                      </a:endParaRPr>
                    </a:p>
                  </a:txBody>
                  <a:tcPr marL="73152" marR="73152" marT="73152" marB="73152">
                    <a:lnL w="6350" cap="flat" cmpd="sng" algn="ctr">
                      <a:solidFill>
                        <a:srgbClr val="D9ECEC"/>
                      </a:solidFill>
                      <a:prstDash val="solid"/>
                      <a:round/>
                      <a:headEnd type="none" w="med" len="med"/>
                      <a:tailEnd type="none" w="med" len="med"/>
                    </a:lnL>
                    <a:lnR w="6350" cap="flat" cmpd="sng" algn="ctr">
                      <a:solidFill>
                        <a:srgbClr val="D9ECEC"/>
                      </a:solidFill>
                      <a:prstDash val="solid"/>
                      <a:round/>
                      <a:headEnd type="none" w="med" len="med"/>
                      <a:tailEnd type="none" w="med" len="med"/>
                    </a:lnR>
                    <a:lnT w="6350" cap="flat" cmpd="sng" algn="ctr">
                      <a:solidFill>
                        <a:srgbClr val="D9ECEC"/>
                      </a:solidFill>
                      <a:prstDash val="solid"/>
                      <a:round/>
                      <a:headEnd type="none" w="med" len="med"/>
                      <a:tailEnd type="none" w="med" len="med"/>
                    </a:lnT>
                    <a:lnB w="6350" cap="flat" cmpd="sng" algn="ctr">
                      <a:solidFill>
                        <a:srgbClr val="D9ECEC"/>
                      </a:solidFill>
                      <a:prstDash val="solid"/>
                      <a:round/>
                      <a:headEnd type="none" w="med" len="med"/>
                      <a:tailEnd type="none" w="med" len="med"/>
                    </a:lnB>
                    <a:solidFill>
                      <a:srgbClr val="F3F9F9"/>
                    </a:solidFill>
                  </a:tcPr>
                </a:tc>
                <a:tc>
                  <a:txBody>
                    <a:bodyPr/>
                    <a:lstStyle/>
                    <a:p>
                      <a:pPr marL="0" indent="0">
                        <a:buNone/>
                      </a:pPr>
                      <a:r>
                        <a:rPr lang="en-US" sz="1500" b="1" dirty="0">
                          <a:solidFill>
                            <a:srgbClr val="0A5C5C"/>
                          </a:solidFill>
                          <a:latin typeface="Calibri" pitchFamily="34" charset="0"/>
                          <a:ea typeface="Calibri" pitchFamily="34" charset="-122"/>
                          <a:cs typeface="Calibri" pitchFamily="34" charset="-120"/>
                        </a:rPr>
                        <a:t>What it means</a:t>
                      </a:r>
                      <a:endParaRPr lang="en-US" sz="1500" dirty="0">
                        <a:latin typeface="Calibri" charset="0"/>
                        <a:ea typeface="Calibri" charset="0"/>
                        <a:cs typeface="Calibri" charset="0"/>
                      </a:endParaRPr>
                    </a:p>
                  </a:txBody>
                  <a:tcPr marL="73152" marR="73152" marT="73152" marB="73152">
                    <a:lnL w="6350" cap="flat" cmpd="sng" algn="ctr">
                      <a:solidFill>
                        <a:srgbClr val="D9ECEC"/>
                      </a:solidFill>
                      <a:prstDash val="solid"/>
                      <a:round/>
                      <a:headEnd type="none" w="med" len="med"/>
                      <a:tailEnd type="none" w="med" len="med"/>
                    </a:lnL>
                    <a:lnR w="6350" cap="flat" cmpd="sng" algn="ctr">
                      <a:solidFill>
                        <a:srgbClr val="D9ECEC"/>
                      </a:solidFill>
                      <a:prstDash val="solid"/>
                      <a:round/>
                      <a:headEnd type="none" w="med" len="med"/>
                      <a:tailEnd type="none" w="med" len="med"/>
                    </a:lnR>
                    <a:lnT w="6350" cap="flat" cmpd="sng" algn="ctr">
                      <a:solidFill>
                        <a:srgbClr val="D9ECEC"/>
                      </a:solidFill>
                      <a:prstDash val="solid"/>
                      <a:round/>
                      <a:headEnd type="none" w="med" len="med"/>
                      <a:tailEnd type="none" w="med" len="med"/>
                    </a:lnT>
                    <a:lnB w="6350" cap="flat" cmpd="sng" algn="ctr">
                      <a:solidFill>
                        <a:srgbClr val="D9ECEC"/>
                      </a:solidFill>
                      <a:prstDash val="solid"/>
                      <a:round/>
                      <a:headEnd type="none" w="med" len="med"/>
                      <a:tailEnd type="none" w="med" len="med"/>
                    </a:lnB>
                    <a:solidFill>
                      <a:srgbClr val="F3F9F9"/>
                    </a:solidFill>
                  </a:tcPr>
                </a:tc>
                <a:tc>
                  <a:txBody>
                    <a:bodyPr/>
                    <a:lstStyle/>
                    <a:p>
                      <a:pPr marL="0" indent="0">
                        <a:buNone/>
                      </a:pPr>
                      <a:r>
                        <a:rPr lang="en-US" sz="1500" b="1" dirty="0">
                          <a:solidFill>
                            <a:srgbClr val="0A5C5C"/>
                          </a:solidFill>
                          <a:latin typeface="Calibri" pitchFamily="34" charset="0"/>
                          <a:ea typeface="Calibri" pitchFamily="34" charset="-122"/>
                          <a:cs typeface="Calibri" pitchFamily="34" charset="-120"/>
                        </a:rPr>
                        <a:t>What to watch</a:t>
                      </a:r>
                      <a:endParaRPr lang="en-US" sz="1500" dirty="0">
                        <a:latin typeface="Calibri" charset="0"/>
                        <a:ea typeface="Calibri" charset="0"/>
                        <a:cs typeface="Calibri" charset="0"/>
                      </a:endParaRPr>
                    </a:p>
                  </a:txBody>
                  <a:tcPr marL="73152" marR="73152" marT="73152" marB="73152">
                    <a:lnL w="6350" cap="flat" cmpd="sng" algn="ctr">
                      <a:solidFill>
                        <a:srgbClr val="D9ECEC"/>
                      </a:solidFill>
                      <a:prstDash val="solid"/>
                      <a:round/>
                      <a:headEnd type="none" w="med" len="med"/>
                      <a:tailEnd type="none" w="med" len="med"/>
                    </a:lnL>
                    <a:lnR w="6350" cap="flat" cmpd="sng" algn="ctr">
                      <a:solidFill>
                        <a:srgbClr val="D9ECEC"/>
                      </a:solidFill>
                      <a:prstDash val="solid"/>
                      <a:round/>
                      <a:headEnd type="none" w="med" len="med"/>
                      <a:tailEnd type="none" w="med" len="med"/>
                    </a:lnR>
                    <a:lnT w="6350" cap="flat" cmpd="sng" algn="ctr">
                      <a:solidFill>
                        <a:srgbClr val="D9ECEC"/>
                      </a:solidFill>
                      <a:prstDash val="solid"/>
                      <a:round/>
                      <a:headEnd type="none" w="med" len="med"/>
                      <a:tailEnd type="none" w="med" len="med"/>
                    </a:lnT>
                    <a:lnB w="6350" cap="flat" cmpd="sng" algn="ctr">
                      <a:solidFill>
                        <a:srgbClr val="D9ECEC"/>
                      </a:solidFill>
                      <a:prstDash val="solid"/>
                      <a:round/>
                      <a:headEnd type="none" w="med" len="med"/>
                      <a:tailEnd type="none" w="med" len="med"/>
                    </a:lnB>
                    <a:solidFill>
                      <a:srgbClr val="F3F9F9"/>
                    </a:solidFill>
                  </a:tcPr>
                </a:tc>
                <a:extLst>
                  <a:ext uri="{0D108BD9-81ED-4DB2-BD59-A6C34878D82A}">
                    <a16:rowId xmlns:a16="http://schemas.microsoft.com/office/drawing/2014/main" val="10000"/>
                  </a:ext>
                </a:extLst>
              </a:tr>
              <a:tr h="593344">
                <a:tc>
                  <a:txBody>
                    <a:bodyPr/>
                    <a:lstStyle/>
                    <a:p>
                      <a:pPr marL="0" indent="0">
                        <a:buNone/>
                      </a:pPr>
                      <a:r>
                        <a:rPr lang="en-US" sz="1500" b="1" dirty="0">
                          <a:solidFill>
                            <a:srgbClr val="3D3D3D"/>
                          </a:solidFill>
                          <a:latin typeface="Calibri" pitchFamily="34" charset="0"/>
                          <a:ea typeface="Calibri" pitchFamily="34" charset="-122"/>
                          <a:cs typeface="Calibri" pitchFamily="34" charset="-120"/>
                        </a:rPr>
                        <a:t>Rolls (N)</a:t>
                      </a:r>
                      <a:endParaRPr lang="en-US" sz="1500" dirty="0">
                        <a:latin typeface="Calibri" charset="0"/>
                        <a:ea typeface="Calibri" charset="0"/>
                        <a:cs typeface="Calibri" charset="0"/>
                      </a:endParaRPr>
                    </a:p>
                  </a:txBody>
                  <a:tcPr marL="73152" marR="73152" marT="73152" marB="73152">
                    <a:lnL w="6350" cap="flat" cmpd="sng" algn="ctr">
                      <a:solidFill>
                        <a:srgbClr val="D9ECEC"/>
                      </a:solidFill>
                      <a:prstDash val="solid"/>
                      <a:round/>
                      <a:headEnd type="none" w="med" len="med"/>
                      <a:tailEnd type="none" w="med" len="med"/>
                    </a:lnL>
                    <a:lnR w="6350" cap="flat" cmpd="sng" algn="ctr">
                      <a:solidFill>
                        <a:srgbClr val="D9ECEC"/>
                      </a:solidFill>
                      <a:prstDash val="solid"/>
                      <a:round/>
                      <a:headEnd type="none" w="med" len="med"/>
                      <a:tailEnd type="none" w="med" len="med"/>
                    </a:lnR>
                    <a:lnT w="6350" cap="flat" cmpd="sng" algn="ctr">
                      <a:solidFill>
                        <a:srgbClr val="D9ECEC"/>
                      </a:solidFill>
                      <a:prstDash val="solid"/>
                      <a:round/>
                      <a:headEnd type="none" w="med" len="med"/>
                      <a:tailEnd type="none" w="med" len="med"/>
                    </a:lnT>
                    <a:lnB w="6350" cap="flat" cmpd="sng" algn="ctr">
                      <a:solidFill>
                        <a:srgbClr val="D9ECEC"/>
                      </a:solidFill>
                      <a:prstDash val="solid"/>
                      <a:round/>
                      <a:headEnd type="none" w="med" len="med"/>
                      <a:tailEnd type="none" w="med" len="med"/>
                    </a:lnB>
                  </a:tcPr>
                </a:tc>
                <a:tc>
                  <a:txBody>
                    <a:bodyPr/>
                    <a:lstStyle/>
                    <a:p>
                      <a:pPr marL="0" indent="0">
                        <a:buNone/>
                      </a:pPr>
                      <a:r>
                        <a:rPr lang="en-US" sz="1500" dirty="0">
                          <a:solidFill>
                            <a:srgbClr val="3D3D3D"/>
                          </a:solidFill>
                          <a:latin typeface="Calibri" pitchFamily="34" charset="0"/>
                          <a:ea typeface="Calibri" pitchFamily="34" charset="-122"/>
                          <a:cs typeface="Calibri" pitchFamily="34" charset="-120"/>
                        </a:rPr>
                        <a:t>How many times the two dice are thrown</a:t>
                      </a:r>
                      <a:endParaRPr lang="en-US" sz="1500" dirty="0">
                        <a:latin typeface="Calibri" charset="0"/>
                        <a:ea typeface="Calibri" charset="0"/>
                        <a:cs typeface="Calibri" charset="0"/>
                      </a:endParaRPr>
                    </a:p>
                  </a:txBody>
                  <a:tcPr marL="73152" marR="73152" marT="73152" marB="73152">
                    <a:lnL w="6350" cap="flat" cmpd="sng" algn="ctr">
                      <a:solidFill>
                        <a:srgbClr val="D9ECEC"/>
                      </a:solidFill>
                      <a:prstDash val="solid"/>
                      <a:round/>
                      <a:headEnd type="none" w="med" len="med"/>
                      <a:tailEnd type="none" w="med" len="med"/>
                    </a:lnL>
                    <a:lnR w="6350" cap="flat" cmpd="sng" algn="ctr">
                      <a:solidFill>
                        <a:srgbClr val="D9ECEC"/>
                      </a:solidFill>
                      <a:prstDash val="solid"/>
                      <a:round/>
                      <a:headEnd type="none" w="med" len="med"/>
                      <a:tailEnd type="none" w="med" len="med"/>
                    </a:lnR>
                    <a:lnT w="6350" cap="flat" cmpd="sng" algn="ctr">
                      <a:solidFill>
                        <a:srgbClr val="D9ECEC"/>
                      </a:solidFill>
                      <a:prstDash val="solid"/>
                      <a:round/>
                      <a:headEnd type="none" w="med" len="med"/>
                      <a:tailEnd type="none" w="med" len="med"/>
                    </a:lnT>
                    <a:lnB w="6350" cap="flat" cmpd="sng" algn="ctr">
                      <a:solidFill>
                        <a:srgbClr val="D9ECEC"/>
                      </a:solidFill>
                      <a:prstDash val="solid"/>
                      <a:round/>
                      <a:headEnd type="none" w="med" len="med"/>
                      <a:tailEnd type="none" w="med" len="med"/>
                    </a:lnB>
                  </a:tcPr>
                </a:tc>
                <a:tc>
                  <a:txBody>
                    <a:bodyPr/>
                    <a:lstStyle/>
                    <a:p>
                      <a:pPr marL="0" indent="0">
                        <a:buNone/>
                      </a:pPr>
                      <a:r>
                        <a:rPr lang="en-US" sz="1500" dirty="0">
                          <a:solidFill>
                            <a:srgbClr val="3D3D3D"/>
                          </a:solidFill>
                          <a:latin typeface="Calibri" pitchFamily="34" charset="0"/>
                          <a:ea typeface="Calibri" pitchFamily="34" charset="-122"/>
                          <a:cs typeface="Calibri" pitchFamily="34" charset="-120"/>
                        </a:rPr>
                        <a:t>Bars approach the dots as N grows; the error on P(7) shrinks roughly as 1/√N</a:t>
                      </a:r>
                      <a:endParaRPr lang="en-US" sz="1500" dirty="0">
                        <a:latin typeface="Calibri" charset="0"/>
                        <a:ea typeface="Calibri" charset="0"/>
                        <a:cs typeface="Calibri" charset="0"/>
                      </a:endParaRPr>
                    </a:p>
                  </a:txBody>
                  <a:tcPr marL="73152" marR="73152" marT="73152" marB="73152">
                    <a:lnL w="6350" cap="flat" cmpd="sng" algn="ctr">
                      <a:solidFill>
                        <a:srgbClr val="D9ECEC"/>
                      </a:solidFill>
                      <a:prstDash val="solid"/>
                      <a:round/>
                      <a:headEnd type="none" w="med" len="med"/>
                      <a:tailEnd type="none" w="med" len="med"/>
                    </a:lnL>
                    <a:lnR w="6350" cap="flat" cmpd="sng" algn="ctr">
                      <a:solidFill>
                        <a:srgbClr val="D9ECEC"/>
                      </a:solidFill>
                      <a:prstDash val="solid"/>
                      <a:round/>
                      <a:headEnd type="none" w="med" len="med"/>
                      <a:tailEnd type="none" w="med" len="med"/>
                    </a:lnR>
                    <a:lnT w="6350" cap="flat" cmpd="sng" algn="ctr">
                      <a:solidFill>
                        <a:srgbClr val="D9ECEC"/>
                      </a:solidFill>
                      <a:prstDash val="solid"/>
                      <a:round/>
                      <a:headEnd type="none" w="med" len="med"/>
                      <a:tailEnd type="none" w="med" len="med"/>
                    </a:lnT>
                    <a:lnB w="6350" cap="flat" cmpd="sng" algn="ctr">
                      <a:solidFill>
                        <a:srgbClr val="D9ECEC"/>
                      </a:solidFill>
                      <a:prstDash val="solid"/>
                      <a:round/>
                      <a:headEnd type="none" w="med" len="med"/>
                      <a:tailEnd type="none" w="med" len="med"/>
                    </a:lnB>
                  </a:tcPr>
                </a:tc>
                <a:extLst>
                  <a:ext uri="{0D108BD9-81ED-4DB2-BD59-A6C34878D82A}">
                    <a16:rowId xmlns:a16="http://schemas.microsoft.com/office/drawing/2014/main" val="10001"/>
                  </a:ext>
                </a:extLst>
              </a:tr>
              <a:tr h="593344">
                <a:tc>
                  <a:txBody>
                    <a:bodyPr/>
                    <a:lstStyle/>
                    <a:p>
                      <a:pPr marL="0" indent="0">
                        <a:buNone/>
                      </a:pPr>
                      <a:r>
                        <a:rPr lang="en-US" sz="1500" b="1" dirty="0">
                          <a:solidFill>
                            <a:srgbClr val="3D3D3D"/>
                          </a:solidFill>
                          <a:latin typeface="Calibri" pitchFamily="34" charset="0"/>
                          <a:ea typeface="Calibri" pitchFamily="34" charset="-122"/>
                          <a:cs typeface="Calibri" pitchFamily="34" charset="-120"/>
                        </a:rPr>
                        <a:t>Roll again</a:t>
                      </a:r>
                      <a:endParaRPr lang="en-US" sz="1500" dirty="0">
                        <a:latin typeface="Calibri" charset="0"/>
                        <a:ea typeface="Calibri" charset="0"/>
                        <a:cs typeface="Calibri" charset="0"/>
                      </a:endParaRPr>
                    </a:p>
                  </a:txBody>
                  <a:tcPr marL="73152" marR="73152" marT="73152" marB="73152">
                    <a:lnL w="6350" cap="flat" cmpd="sng" algn="ctr">
                      <a:solidFill>
                        <a:srgbClr val="D9ECEC"/>
                      </a:solidFill>
                      <a:prstDash val="solid"/>
                      <a:round/>
                      <a:headEnd type="none" w="med" len="med"/>
                      <a:tailEnd type="none" w="med" len="med"/>
                    </a:lnL>
                    <a:lnR w="6350" cap="flat" cmpd="sng" algn="ctr">
                      <a:solidFill>
                        <a:srgbClr val="D9ECEC"/>
                      </a:solidFill>
                      <a:prstDash val="solid"/>
                      <a:round/>
                      <a:headEnd type="none" w="med" len="med"/>
                      <a:tailEnd type="none" w="med" len="med"/>
                    </a:lnR>
                    <a:lnT w="6350" cap="flat" cmpd="sng" algn="ctr">
                      <a:solidFill>
                        <a:srgbClr val="D9ECEC"/>
                      </a:solidFill>
                      <a:prstDash val="solid"/>
                      <a:round/>
                      <a:headEnd type="none" w="med" len="med"/>
                      <a:tailEnd type="none" w="med" len="med"/>
                    </a:lnT>
                    <a:lnB w="6350" cap="flat" cmpd="sng" algn="ctr">
                      <a:solidFill>
                        <a:srgbClr val="D9ECEC"/>
                      </a:solidFill>
                      <a:prstDash val="solid"/>
                      <a:round/>
                      <a:headEnd type="none" w="med" len="med"/>
                      <a:tailEnd type="none" w="med" len="med"/>
                    </a:lnB>
                  </a:tcPr>
                </a:tc>
                <a:tc>
                  <a:txBody>
                    <a:bodyPr/>
                    <a:lstStyle/>
                    <a:p>
                      <a:pPr marL="0" indent="0">
                        <a:buNone/>
                      </a:pPr>
                      <a:r>
                        <a:rPr lang="en-US" sz="1500" dirty="0">
                          <a:solidFill>
                            <a:srgbClr val="3D3D3D"/>
                          </a:solidFill>
                          <a:latin typeface="Calibri" pitchFamily="34" charset="0"/>
                          <a:ea typeface="Calibri" pitchFamily="34" charset="-122"/>
                          <a:cs typeface="Calibri" pitchFamily="34" charset="-120"/>
                        </a:rPr>
                        <a:t>A fresh set of random rolls at the same N</a:t>
                      </a:r>
                      <a:endParaRPr lang="en-US" sz="1500" dirty="0">
                        <a:latin typeface="Calibri" charset="0"/>
                        <a:ea typeface="Calibri" charset="0"/>
                        <a:cs typeface="Calibri" charset="0"/>
                      </a:endParaRPr>
                    </a:p>
                  </a:txBody>
                  <a:tcPr marL="73152" marR="73152" marT="73152" marB="73152">
                    <a:lnL w="6350" cap="flat" cmpd="sng" algn="ctr">
                      <a:solidFill>
                        <a:srgbClr val="D9ECEC"/>
                      </a:solidFill>
                      <a:prstDash val="solid"/>
                      <a:round/>
                      <a:headEnd type="none" w="med" len="med"/>
                      <a:tailEnd type="none" w="med" len="med"/>
                    </a:lnL>
                    <a:lnR w="6350" cap="flat" cmpd="sng" algn="ctr">
                      <a:solidFill>
                        <a:srgbClr val="D9ECEC"/>
                      </a:solidFill>
                      <a:prstDash val="solid"/>
                      <a:round/>
                      <a:headEnd type="none" w="med" len="med"/>
                      <a:tailEnd type="none" w="med" len="med"/>
                    </a:lnR>
                    <a:lnT w="6350" cap="flat" cmpd="sng" algn="ctr">
                      <a:solidFill>
                        <a:srgbClr val="D9ECEC"/>
                      </a:solidFill>
                      <a:prstDash val="solid"/>
                      <a:round/>
                      <a:headEnd type="none" w="med" len="med"/>
                      <a:tailEnd type="none" w="med" len="med"/>
                    </a:lnT>
                    <a:lnB w="6350" cap="flat" cmpd="sng" algn="ctr">
                      <a:solidFill>
                        <a:srgbClr val="D9ECEC"/>
                      </a:solidFill>
                      <a:prstDash val="solid"/>
                      <a:round/>
                      <a:headEnd type="none" w="med" len="med"/>
                      <a:tailEnd type="none" w="med" len="med"/>
                    </a:lnB>
                  </a:tcPr>
                </a:tc>
                <a:tc>
                  <a:txBody>
                    <a:bodyPr/>
                    <a:lstStyle/>
                    <a:p>
                      <a:pPr marL="0" indent="0">
                        <a:buNone/>
                      </a:pPr>
                      <a:r>
                        <a:rPr lang="en-US" sz="1500" dirty="0">
                          <a:solidFill>
                            <a:srgbClr val="3D3D3D"/>
                          </a:solidFill>
                          <a:latin typeface="Calibri" pitchFamily="34" charset="0"/>
                          <a:ea typeface="Calibri" pitchFamily="34" charset="-122"/>
                          <a:cs typeface="Calibri" pitchFamily="34" charset="-120"/>
                        </a:rPr>
                        <a:t>At small N each press gives a visibly different picture: the estimate is itself random</a:t>
                      </a:r>
                      <a:endParaRPr lang="en-US" sz="1500" dirty="0">
                        <a:latin typeface="Calibri" charset="0"/>
                        <a:ea typeface="Calibri" charset="0"/>
                        <a:cs typeface="Calibri" charset="0"/>
                      </a:endParaRPr>
                    </a:p>
                  </a:txBody>
                  <a:tcPr marL="73152" marR="73152" marT="73152" marB="73152">
                    <a:lnL w="6350" cap="flat" cmpd="sng" algn="ctr">
                      <a:solidFill>
                        <a:srgbClr val="D9ECEC"/>
                      </a:solidFill>
                      <a:prstDash val="solid"/>
                      <a:round/>
                      <a:headEnd type="none" w="med" len="med"/>
                      <a:tailEnd type="none" w="med" len="med"/>
                    </a:lnL>
                    <a:lnR w="6350" cap="flat" cmpd="sng" algn="ctr">
                      <a:solidFill>
                        <a:srgbClr val="D9ECEC"/>
                      </a:solidFill>
                      <a:prstDash val="solid"/>
                      <a:round/>
                      <a:headEnd type="none" w="med" len="med"/>
                      <a:tailEnd type="none" w="med" len="med"/>
                    </a:lnR>
                    <a:lnT w="6350" cap="flat" cmpd="sng" algn="ctr">
                      <a:solidFill>
                        <a:srgbClr val="D9ECEC"/>
                      </a:solidFill>
                      <a:prstDash val="solid"/>
                      <a:round/>
                      <a:headEnd type="none" w="med" len="med"/>
                      <a:tailEnd type="none" w="med" len="med"/>
                    </a:lnT>
                    <a:lnB w="6350" cap="flat" cmpd="sng" algn="ctr">
                      <a:solidFill>
                        <a:srgbClr val="D9ECEC"/>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
        <p:nvSpPr>
          <p:cNvPr id="8" name="Text 5"/>
          <p:cNvSpPr txBox="1"/>
          <p:nvPr/>
        </p:nvSpPr>
        <p:spPr>
          <a:xfrm>
            <a:off x="609600" y="5547360"/>
            <a:ext cx="10972800" cy="670560"/>
          </a:xfrm>
          <a:prstGeom prst="rect">
            <a:avLst/>
          </a:prstGeom>
          <a:noFill/>
          <a:ln/>
        </p:spPr>
        <p:txBody>
          <a:bodyPr wrap="square" lIns="0" tIns="0" rIns="0" bIns="0" rtlCol="0" anchor="t"/>
          <a:lstStyle/>
          <a:p>
            <a:r>
              <a:rPr lang="en-US" sz="1467" b="1" dirty="0">
                <a:solidFill>
                  <a:srgbClr val="C97B3A"/>
                </a:solidFill>
              </a:rPr>
              <a:t>✎ Exercise, for later (notebook):  </a:t>
            </a:r>
            <a:r>
              <a:rPr lang="en-US" sz="1467" dirty="0">
                <a:solidFill>
                  <a:srgbClr val="3D3D3D"/>
                </a:solidFill>
              </a:rPr>
              <a:t>estimate the probability of a double (both dice equal); exact answer 1/6.</a:t>
            </a:r>
            <a:endParaRPr lang="en-US" sz="1467" dirty="0"/>
          </a:p>
        </p:txBody>
      </p:sp>
      <p:sp>
        <p:nvSpPr>
          <p:cNvPr id="25" name="Slide Number Placeholder 0"/>
          <p:cNvSpPr>
            <a:spLocks noGrp="1"/>
          </p:cNvSpPr>
          <p:nvPr>
            <p:ph type="sldNum" sz="quarter" idx="4294967295"/>
          </p:nvPr>
        </p:nvSpPr>
        <p:spPr>
          <a:xfrm>
            <a:off x="10972800" y="6339840"/>
            <a:ext cx="609600" cy="365760"/>
          </a:xfrm>
          <a:prstGeom prst="rect">
            <a:avLst/>
          </a:prstGeom>
          <a:extLst>
            <a:ext uri="{C572A759-6A51-4108-AA02-DFA0A04FC94B}">
              <ma14:wrappingTextBoxFlag xmlns="" xmlns:ma14="http://schemas.microsoft.com/office/mac/drawingml/2011/main" val="0"/>
            </a:ext>
          </a:extLst>
        </p:spPr>
        <p:txBody>
          <a:bodyPr/>
          <a:lstStyle>
            <a:lvl1pPr>
              <a:defRPr sz="1200">
                <a:solidFill>
                  <a:srgbClr val="6B6B6B"/>
                </a:solidFill>
              </a:defRPr>
            </a:lvl1pPr>
          </a:lstStyle>
          <a:p>
            <a:pPr algn="r"/>
            <a:fld id="{F7021451-1387-4CA6-816F-3879F97B5CBC}" type="slidenum">
              <a:rPr lang="en-US" b="0"/>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09600" y="426720"/>
            <a:ext cx="10972800" cy="914400"/>
          </a:xfrm>
          <a:prstGeom prst="rect">
            <a:avLst/>
          </a:prstGeom>
          <a:noFill/>
          <a:ln/>
        </p:spPr>
        <p:txBody>
          <a:bodyPr vert="horz" wrap="square" lIns="0" tIns="0" rIns="0" bIns="0" rtlCol="0" anchor="ctr">
            <a:normAutofit/>
          </a:bodyPr>
          <a:lstStyle/>
          <a:p>
            <a:r>
              <a:rPr lang="en-US" dirty="0"/>
              <a:t>What we learned at stop 1</a:t>
            </a:r>
          </a:p>
        </p:txBody>
      </p:sp>
      <p:sp>
        <p:nvSpPr>
          <p:cNvPr id="3" name="Shape 1"/>
          <p:cNvSpPr/>
          <p:nvPr/>
        </p:nvSpPr>
        <p:spPr>
          <a:xfrm>
            <a:off x="609600" y="1584960"/>
            <a:ext cx="10972800" cy="4145280"/>
          </a:xfrm>
          <a:prstGeom prst="roundRect">
            <a:avLst>
              <a:gd name="adj" fmla="val 3529"/>
            </a:avLst>
          </a:prstGeom>
          <a:solidFill>
            <a:srgbClr val="E6F2F2"/>
          </a:solidFill>
          <a:ln w="12700">
            <a:solidFill>
              <a:srgbClr val="E6F2F2"/>
            </a:solidFill>
            <a:prstDash val="solid"/>
          </a:ln>
        </p:spPr>
        <p:txBody>
          <a:bodyPr/>
          <a:lstStyle/>
          <a:p>
            <a:endParaRPr lang="en-GB" sz="2400"/>
          </a:p>
        </p:txBody>
      </p:sp>
      <p:sp>
        <p:nvSpPr>
          <p:cNvPr id="4" name="Text 2"/>
          <p:cNvSpPr txBox="1"/>
          <p:nvPr/>
        </p:nvSpPr>
        <p:spPr>
          <a:xfrm>
            <a:off x="1097280" y="1950720"/>
            <a:ext cx="10119360" cy="3535680"/>
          </a:xfrm>
          <a:prstGeom prst="rect">
            <a:avLst/>
          </a:prstGeom>
          <a:noFill/>
          <a:ln/>
        </p:spPr>
        <p:txBody>
          <a:bodyPr wrap="square" lIns="0" tIns="0" rIns="0" bIns="0" rtlCol="0" anchor="t"/>
          <a:lstStyle/>
          <a:p>
            <a:pPr marL="457189" indent="-457189">
              <a:spcAft>
                <a:spcPts val="1867"/>
              </a:spcAft>
              <a:buSzPct val="100000"/>
              <a:buChar char="•"/>
            </a:pPr>
            <a:r>
              <a:rPr lang="en-US" sz="2400" dirty="0">
                <a:solidFill>
                  <a:srgbClr val="0A5C5C"/>
                </a:solidFill>
              </a:rPr>
              <a:t>A probability can be measured by counting, without any formula.</a:t>
            </a:r>
            <a:endParaRPr lang="en-US" sz="2400" dirty="0"/>
          </a:p>
          <a:p>
            <a:pPr marL="457189" indent="-457189">
              <a:spcAft>
                <a:spcPts val="1867"/>
              </a:spcAft>
              <a:buSzPct val="100000"/>
              <a:buChar char="•"/>
            </a:pPr>
            <a:r>
              <a:rPr lang="en-US" sz="2400" dirty="0">
                <a:solidFill>
                  <a:srgbClr val="0A5C5C"/>
                </a:solidFill>
              </a:rPr>
              <a:t>The estimate is itself random: run it twice and you get two slightly different numbers.</a:t>
            </a:r>
            <a:endParaRPr lang="en-US" sz="2400" dirty="0"/>
          </a:p>
          <a:p>
            <a:pPr marL="457189" indent="-457189">
              <a:spcAft>
                <a:spcPts val="1867"/>
              </a:spcAft>
              <a:buSzPct val="100000"/>
              <a:buChar char="•"/>
            </a:pPr>
            <a:r>
              <a:rPr lang="en-US" sz="2400" dirty="0">
                <a:solidFill>
                  <a:srgbClr val="0A5C5C"/>
                </a:solidFill>
              </a:rPr>
              <a:t>More runs give a better estimate, with diminishing returns (1/√N).</a:t>
            </a:r>
            <a:endParaRPr lang="en-US" sz="2400" dirty="0"/>
          </a:p>
        </p:txBody>
      </p:sp>
      <p:sp>
        <p:nvSpPr>
          <p:cNvPr id="25" name="Slide Number Placeholder 0"/>
          <p:cNvSpPr>
            <a:spLocks noGrp="1"/>
          </p:cNvSpPr>
          <p:nvPr>
            <p:ph type="sldNum" sz="quarter" idx="4294967295"/>
          </p:nvPr>
        </p:nvSpPr>
        <p:spPr>
          <a:xfrm>
            <a:off x="10972800" y="6339840"/>
            <a:ext cx="609600" cy="365760"/>
          </a:xfrm>
          <a:prstGeom prst="rect">
            <a:avLst/>
          </a:prstGeom>
          <a:extLst>
            <a:ext uri="{C572A759-6A51-4108-AA02-DFA0A04FC94B}">
              <ma14:wrappingTextBoxFlag xmlns="" xmlns:ma14="http://schemas.microsoft.com/office/mac/drawingml/2011/main" val="0"/>
            </a:ext>
          </a:extLst>
        </p:spPr>
        <p:txBody>
          <a:bodyPr/>
          <a:lstStyle>
            <a:lvl1pPr>
              <a:defRPr sz="1200">
                <a:solidFill>
                  <a:srgbClr val="6B6B6B"/>
                </a:solidFill>
              </a:defRPr>
            </a:lvl1pPr>
          </a:lstStyle>
          <a:p>
            <a:pPr algn="r"/>
            <a:fld id="{F7021451-1387-4CA6-816F-3879F97B5CBC}" type="slidenum">
              <a:rPr lang="en-US" b="0"/>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731520" y="1706880"/>
            <a:ext cx="10728960" cy="609600"/>
          </a:xfrm>
          <a:prstGeom prst="rect">
            <a:avLst/>
          </a:prstGeom>
          <a:noFill/>
          <a:ln/>
        </p:spPr>
        <p:txBody>
          <a:bodyPr vert="horz" wrap="square" lIns="0" tIns="0" rIns="0" bIns="0" rtlCol="0">
            <a:normAutofit/>
          </a:bodyPr>
          <a:lstStyle/>
          <a:p>
            <a:r>
              <a:rPr lang="en-US" dirty="0"/>
              <a:t>Stop 2</a:t>
            </a:r>
          </a:p>
        </p:txBody>
      </p:sp>
      <p:sp>
        <p:nvSpPr>
          <p:cNvPr id="3" name="Text 0"/>
          <p:cNvSpPr>
            <a:spLocks noGrp="1"/>
          </p:cNvSpPr>
          <p:nvPr>
            <p:ph type="title" idx="101" hasCustomPrompt="1"/>
          </p:nvPr>
        </p:nvSpPr>
        <p:spPr>
          <a:xfrm>
            <a:off x="731520" y="2316480"/>
            <a:ext cx="10728960" cy="2194560"/>
          </a:xfrm>
          <a:prstGeom prst="rect">
            <a:avLst/>
          </a:prstGeom>
          <a:noFill/>
          <a:ln/>
        </p:spPr>
        <p:txBody>
          <a:bodyPr vert="horz" wrap="square" lIns="0" tIns="0" rIns="0" bIns="0" rtlCol="0" anchor="ctr">
            <a:normAutofit/>
          </a:bodyPr>
          <a:lstStyle/>
          <a:p>
            <a:r>
              <a:rPr lang="en-US" dirty="0"/>
              <a:t>Darts, π, and measuring with randomness</a:t>
            </a:r>
          </a:p>
        </p:txBody>
      </p:sp>
      <p:sp>
        <p:nvSpPr>
          <p:cNvPr id="4" name="Text 0"/>
          <p:cNvSpPr>
            <a:spLocks noGrp="1"/>
          </p:cNvSpPr>
          <p:nvPr>
            <p:ph type="body" idx="102" hasCustomPrompt="1"/>
          </p:nvPr>
        </p:nvSpPr>
        <p:spPr>
          <a:xfrm>
            <a:off x="731520" y="4754880"/>
            <a:ext cx="10728960" cy="1097280"/>
          </a:xfrm>
          <a:prstGeom prst="rect">
            <a:avLst/>
          </a:prstGeom>
          <a:noFill/>
          <a:ln/>
        </p:spPr>
        <p:txBody>
          <a:bodyPr vert="horz" wrap="square" lIns="0" tIns="0" rIns="0" bIns="0" rtlCol="0">
            <a:normAutofit/>
          </a:bodyPr>
          <a:lstStyle/>
          <a:p>
            <a:r>
              <a:rPr lang="en-US" dirty="0"/>
              <a:t>Now the output is a number, not a probability.</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09600" y="426720"/>
            <a:ext cx="10972800" cy="914400"/>
          </a:xfrm>
          <a:prstGeom prst="rect">
            <a:avLst/>
          </a:prstGeom>
          <a:noFill/>
          <a:ln/>
        </p:spPr>
        <p:txBody>
          <a:bodyPr vert="horz" wrap="square" lIns="0" tIns="0" rIns="0" bIns="0" rtlCol="0" anchor="ctr">
            <a:normAutofit/>
          </a:bodyPr>
          <a:lstStyle/>
          <a:p>
            <a:r>
              <a:rPr lang="en-US" dirty="0"/>
              <a:t>Throw darts; count the ones inside the circle</a:t>
            </a:r>
          </a:p>
        </p:txBody>
      </p:sp>
      <p:sp>
        <p:nvSpPr>
          <p:cNvPr id="3" name="Text 1"/>
          <p:cNvSpPr txBox="1"/>
          <p:nvPr/>
        </p:nvSpPr>
        <p:spPr>
          <a:xfrm>
            <a:off x="8046720" y="6303264"/>
            <a:ext cx="2682240" cy="365760"/>
          </a:xfrm>
          <a:prstGeom prst="rect">
            <a:avLst/>
          </a:prstGeom>
          <a:solidFill>
            <a:srgbClr val="E6F2F2"/>
          </a:solidFill>
          <a:ln/>
        </p:spPr>
        <p:txBody>
          <a:bodyPr wrap="square" lIns="0" tIns="0" rIns="0" bIns="0" rtlCol="0" anchor="ctr"/>
          <a:lstStyle/>
          <a:p>
            <a:pPr algn="ctr"/>
            <a:r>
              <a:rPr lang="en-US" sz="1333" b="1" dirty="0">
                <a:solidFill>
                  <a:srgbClr val="0A5C5C"/>
                </a:solidFill>
              </a:rPr>
              <a:t>STOP 2 · DARTS</a:t>
            </a:r>
            <a:endParaRPr lang="en-US" sz="1333" dirty="0"/>
          </a:p>
        </p:txBody>
      </p:sp>
      <p:pic>
        <p:nvPicPr>
          <p:cNvPr id="4" name="Image 0" descr="figs/fig5_pi.png"/>
          <p:cNvPicPr>
            <a:picLocks noChangeAspect="1"/>
          </p:cNvPicPr>
          <p:nvPr/>
        </p:nvPicPr>
        <p:blipFill>
          <a:blip r:embed="rId3"/>
          <a:stretch>
            <a:fillRect/>
          </a:stretch>
        </p:blipFill>
        <p:spPr>
          <a:xfrm>
            <a:off x="609600" y="1625021"/>
            <a:ext cx="7559040" cy="3455561"/>
          </a:xfrm>
          <a:prstGeom prst="rect">
            <a:avLst/>
          </a:prstGeom>
        </p:spPr>
      </p:pic>
      <p:sp>
        <p:nvSpPr>
          <p:cNvPr id="5" name="Text 2"/>
          <p:cNvSpPr txBox="1"/>
          <p:nvPr/>
        </p:nvSpPr>
        <p:spPr>
          <a:xfrm>
            <a:off x="8412480" y="1584960"/>
            <a:ext cx="3169920" cy="4389120"/>
          </a:xfrm>
          <a:prstGeom prst="rect">
            <a:avLst/>
          </a:prstGeom>
          <a:noFill/>
          <a:ln/>
        </p:spPr>
        <p:txBody>
          <a:bodyPr wrap="square" lIns="0" tIns="0" rIns="0" bIns="0" rtlCol="0" anchor="t"/>
          <a:lstStyle/>
          <a:p>
            <a:pPr marL="457189" indent="-457189">
              <a:spcAft>
                <a:spcPts val="1067"/>
              </a:spcAft>
              <a:buSzPct val="100000"/>
              <a:buChar char="•"/>
            </a:pPr>
            <a:r>
              <a:rPr lang="en-US" sz="1600" dirty="0">
                <a:solidFill>
                  <a:srgbClr val="3D3D3D"/>
                </a:solidFill>
              </a:rPr>
              <a:t>Square of side 1: area 1. Quarter circle inside it: area π/4 ≈ 0.785.</a:t>
            </a:r>
            <a:endParaRPr lang="en-US" sz="1600" dirty="0"/>
          </a:p>
          <a:p>
            <a:pPr marL="457189" indent="-457189">
              <a:spcAft>
                <a:spcPts val="1067"/>
              </a:spcAft>
              <a:buSzPct val="100000"/>
              <a:buChar char="•"/>
            </a:pPr>
            <a:r>
              <a:rPr lang="en-US" sz="1600" dirty="0">
                <a:solidFill>
                  <a:srgbClr val="3D3D3D"/>
                </a:solidFill>
              </a:rPr>
              <a:t>Throw darts completely at random. The share landing inside equals the share of the area.</a:t>
            </a:r>
            <a:endParaRPr lang="en-US" sz="1600" dirty="0"/>
          </a:p>
          <a:p>
            <a:pPr marL="457189" indent="-457189">
              <a:spcAft>
                <a:spcPts val="1067"/>
              </a:spcAft>
              <a:buSzPct val="100000"/>
              <a:buChar char="•"/>
            </a:pPr>
            <a:r>
              <a:rPr lang="en-US" sz="1600" dirty="0">
                <a:solidFill>
                  <a:srgbClr val="3D3D3D"/>
                </a:solidFill>
              </a:rPr>
              <a:t>π ≈ 4 × (inside ÷ thrown)</a:t>
            </a:r>
            <a:endParaRPr lang="en-US" sz="1600" dirty="0"/>
          </a:p>
        </p:txBody>
      </p:sp>
      <p:sp>
        <p:nvSpPr>
          <p:cNvPr id="6" name="Text 3"/>
          <p:cNvSpPr txBox="1"/>
          <p:nvPr/>
        </p:nvSpPr>
        <p:spPr>
          <a:xfrm>
            <a:off x="609600" y="5303520"/>
            <a:ext cx="7559040" cy="487680"/>
          </a:xfrm>
          <a:prstGeom prst="rect">
            <a:avLst/>
          </a:prstGeom>
          <a:noFill/>
          <a:ln/>
        </p:spPr>
        <p:txBody>
          <a:bodyPr wrap="square" lIns="0" tIns="0" rIns="0" bIns="0" rtlCol="0" anchor="t"/>
          <a:lstStyle/>
          <a:p>
            <a:r>
              <a:rPr lang="en-US" sz="1867" b="1" i="1" dirty="0">
                <a:solidFill>
                  <a:srgbClr val="0F7F7F"/>
                </a:solidFill>
              </a:rPr>
              <a:t>Nobody is gambling here. Randomness is a ruler.</a:t>
            </a:r>
            <a:endParaRPr lang="en-US" sz="1867" dirty="0"/>
          </a:p>
        </p:txBody>
      </p:sp>
      <p:sp>
        <p:nvSpPr>
          <p:cNvPr id="25" name="Slide Number Placeholder 0"/>
          <p:cNvSpPr>
            <a:spLocks noGrp="1"/>
          </p:cNvSpPr>
          <p:nvPr>
            <p:ph type="sldNum" sz="quarter" idx="4294967295"/>
          </p:nvPr>
        </p:nvSpPr>
        <p:spPr>
          <a:xfrm>
            <a:off x="10972800" y="6339840"/>
            <a:ext cx="609600" cy="365760"/>
          </a:xfrm>
          <a:prstGeom prst="rect">
            <a:avLst/>
          </a:prstGeom>
          <a:extLst>
            <a:ext uri="{C572A759-6A51-4108-AA02-DFA0A04FC94B}">
              <ma14:wrappingTextBoxFlag xmlns="" xmlns:ma14="http://schemas.microsoft.com/office/mac/drawingml/2011/main" val="0"/>
            </a:ext>
          </a:extLst>
        </p:spPr>
        <p:txBody>
          <a:bodyPr/>
          <a:lstStyle>
            <a:lvl1pPr>
              <a:defRPr sz="1200">
                <a:solidFill>
                  <a:srgbClr val="6B6B6B"/>
                </a:solidFill>
              </a:defRPr>
            </a:lvl1pPr>
          </a:lstStyle>
          <a:p>
            <a:pPr algn="r"/>
            <a:fld id="{F7021451-1387-4CA6-816F-3879F97B5CBC}" type="slidenum">
              <a:rPr lang="en-US" b="0"/>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09600" y="426720"/>
            <a:ext cx="10972800" cy="914400"/>
          </a:xfrm>
          <a:prstGeom prst="rect">
            <a:avLst/>
          </a:prstGeom>
          <a:noFill/>
          <a:ln/>
        </p:spPr>
        <p:txBody>
          <a:bodyPr vert="horz" wrap="square" lIns="0" tIns="0" rIns="0" bIns="0" rtlCol="0" anchor="ctr">
            <a:normAutofit/>
          </a:bodyPr>
          <a:lstStyle/>
          <a:p>
            <a:r>
              <a:rPr lang="en-US" dirty="0"/>
              <a:t>Any area, in any number of dimensions</a:t>
            </a:r>
          </a:p>
        </p:txBody>
      </p:sp>
      <p:sp>
        <p:nvSpPr>
          <p:cNvPr id="3" name="Text 1"/>
          <p:cNvSpPr txBox="1"/>
          <p:nvPr/>
        </p:nvSpPr>
        <p:spPr>
          <a:xfrm>
            <a:off x="8046720" y="6303264"/>
            <a:ext cx="2682240" cy="365760"/>
          </a:xfrm>
          <a:prstGeom prst="rect">
            <a:avLst/>
          </a:prstGeom>
          <a:solidFill>
            <a:srgbClr val="E6F2F2"/>
          </a:solidFill>
          <a:ln/>
        </p:spPr>
        <p:txBody>
          <a:bodyPr wrap="square" lIns="0" tIns="0" rIns="0" bIns="0" rtlCol="0" anchor="ctr"/>
          <a:lstStyle/>
          <a:p>
            <a:pPr algn="ctr"/>
            <a:r>
              <a:rPr lang="en-US" sz="1333" b="1" dirty="0">
                <a:solidFill>
                  <a:srgbClr val="0A5C5C"/>
                </a:solidFill>
              </a:rPr>
              <a:t>STOP 2 · DARTS</a:t>
            </a:r>
            <a:endParaRPr lang="en-US" sz="1333" dirty="0"/>
          </a:p>
        </p:txBody>
      </p:sp>
      <p:pic>
        <p:nvPicPr>
          <p:cNvPr id="4" name="Image 0" descr="figs/fig6_area.png"/>
          <p:cNvPicPr>
            <a:picLocks noChangeAspect="1"/>
          </p:cNvPicPr>
          <p:nvPr/>
        </p:nvPicPr>
        <p:blipFill>
          <a:blip r:embed="rId3"/>
          <a:stretch>
            <a:fillRect/>
          </a:stretch>
        </p:blipFill>
        <p:spPr>
          <a:xfrm>
            <a:off x="609600" y="1564640"/>
            <a:ext cx="4023360" cy="3576320"/>
          </a:xfrm>
          <a:prstGeom prst="rect">
            <a:avLst/>
          </a:prstGeom>
        </p:spPr>
      </p:pic>
      <p:sp>
        <p:nvSpPr>
          <p:cNvPr id="5" name="Shape 2"/>
          <p:cNvSpPr/>
          <p:nvPr/>
        </p:nvSpPr>
        <p:spPr>
          <a:xfrm>
            <a:off x="4876800" y="1584960"/>
            <a:ext cx="1950720" cy="2438400"/>
          </a:xfrm>
          <a:prstGeom prst="rect">
            <a:avLst/>
          </a:prstGeom>
          <a:solidFill>
            <a:srgbClr val="F3F9F9"/>
          </a:solidFill>
          <a:ln w="12700">
            <a:solidFill>
              <a:srgbClr val="9FCFCF"/>
            </a:solidFill>
            <a:prstDash val="dash"/>
          </a:ln>
        </p:spPr>
        <p:txBody>
          <a:bodyPr/>
          <a:lstStyle/>
          <a:p>
            <a:endParaRPr lang="en-GB" sz="2400"/>
          </a:p>
        </p:txBody>
      </p:sp>
      <p:sp>
        <p:nvSpPr>
          <p:cNvPr id="6" name="Text 3"/>
          <p:cNvSpPr txBox="1"/>
          <p:nvPr/>
        </p:nvSpPr>
        <p:spPr>
          <a:xfrm>
            <a:off x="4907280" y="1174955"/>
            <a:ext cx="1889760" cy="332330"/>
          </a:xfrm>
          <a:prstGeom prst="rect">
            <a:avLst/>
          </a:prstGeom>
          <a:noFill/>
          <a:ln/>
        </p:spPr>
        <p:txBody>
          <a:bodyPr wrap="square" lIns="0" tIns="0" rIns="0" bIns="0" rtlCol="0" anchor="ctr"/>
          <a:lstStyle/>
          <a:p>
            <a:pPr algn="ctr"/>
            <a:r>
              <a:rPr lang="en-US" sz="1333" dirty="0">
                <a:solidFill>
                  <a:srgbClr val="6B6B6B"/>
                </a:solidFill>
              </a:rPr>
              <a:t>
</a:t>
            </a:r>
            <a:r>
              <a:rPr lang="en-US" sz="1600" b="1" dirty="0">
                <a:solidFill>
                  <a:srgbClr val="0A5C5C"/>
                </a:solidFill>
              </a:rPr>
              <a:t>Comte de Buffon</a:t>
            </a:r>
            <a:endParaRPr lang="en-US" sz="1333" dirty="0"/>
          </a:p>
        </p:txBody>
      </p:sp>
      <p:sp>
        <p:nvSpPr>
          <p:cNvPr id="8" name="Text 5"/>
          <p:cNvSpPr txBox="1"/>
          <p:nvPr/>
        </p:nvSpPr>
        <p:spPr>
          <a:xfrm>
            <a:off x="7193280" y="1584960"/>
            <a:ext cx="4389120" cy="4389120"/>
          </a:xfrm>
          <a:prstGeom prst="rect">
            <a:avLst/>
          </a:prstGeom>
          <a:noFill/>
          <a:ln/>
        </p:spPr>
        <p:txBody>
          <a:bodyPr wrap="square" lIns="0" tIns="0" rIns="0" bIns="0" rtlCol="0" anchor="t"/>
          <a:lstStyle/>
          <a:p>
            <a:pPr marL="457189" indent="-457189">
              <a:spcAft>
                <a:spcPts val="1067"/>
              </a:spcAft>
              <a:buSzPct val="100000"/>
              <a:buChar char="•"/>
            </a:pPr>
            <a:r>
              <a:rPr lang="en-US" sz="1600" dirty="0">
                <a:solidFill>
                  <a:srgbClr val="3D3D3D"/>
                </a:solidFill>
              </a:rPr>
              <a:t>Replace the circle by the region under any curve: the count gives its area, the integral. Here y = x², exact area 1/3.</a:t>
            </a:r>
            <a:endParaRPr lang="en-US" sz="1600" dirty="0"/>
          </a:p>
          <a:p>
            <a:pPr marL="457189" indent="-457189">
              <a:spcAft>
                <a:spcPts val="1067"/>
              </a:spcAft>
              <a:buSzPct val="100000"/>
              <a:buChar char="•"/>
            </a:pPr>
            <a:r>
              <a:rPr lang="en-US" sz="1600" dirty="0">
                <a:solidFill>
                  <a:srgbClr val="3D3D3D"/>
                </a:solidFill>
              </a:rPr>
              <a:t>For one curve a calculator does better. In ten or a hundred dimensions ordinary methods become impossibly slow; random sampling costs the same regardless of dimension.</a:t>
            </a:r>
            <a:endParaRPr lang="en-US" sz="1600" dirty="0"/>
          </a:p>
          <a:p>
            <a:pPr marL="457189" indent="-457189">
              <a:spcAft>
                <a:spcPts val="1067"/>
              </a:spcAft>
              <a:buSzPct val="100000"/>
              <a:buChar char="•"/>
            </a:pPr>
            <a:r>
              <a:rPr lang="en-US" sz="1600" dirty="0">
                <a:solidFill>
                  <a:srgbClr val="3D3D3D"/>
                </a:solidFill>
              </a:rPr>
              <a:t>Buffon's needle (1777): drop needles on a boarded floor; the share crossing a crack depends on π. The first Monte Carlo, done by hand.</a:t>
            </a:r>
            <a:endParaRPr lang="en-US" sz="1600" dirty="0"/>
          </a:p>
        </p:txBody>
      </p:sp>
      <p:sp>
        <p:nvSpPr>
          <p:cNvPr id="9" name="Text 6"/>
          <p:cNvSpPr txBox="1"/>
          <p:nvPr/>
        </p:nvSpPr>
        <p:spPr>
          <a:xfrm>
            <a:off x="609600" y="5913120"/>
            <a:ext cx="10241280" cy="365760"/>
          </a:xfrm>
          <a:prstGeom prst="rect">
            <a:avLst/>
          </a:prstGeom>
          <a:noFill/>
          <a:ln/>
        </p:spPr>
        <p:txBody>
          <a:bodyPr wrap="square" lIns="0" tIns="0" rIns="0" bIns="0" rtlCol="0" anchor="t"/>
          <a:lstStyle/>
          <a:p>
            <a:r>
              <a:rPr lang="en-US" sz="1200" i="1" dirty="0">
                <a:solidFill>
                  <a:srgbClr val="6B6B6B"/>
                </a:solidFill>
              </a:rPr>
              <a:t>Buffon, G.-L. L. (1777). Essai d'arithmétique morale. · Verschuuren (2017), simulation 89, builds the same example in Excel.</a:t>
            </a:r>
            <a:endParaRPr lang="en-US" sz="1200" dirty="0"/>
          </a:p>
        </p:txBody>
      </p:sp>
      <p:sp>
        <p:nvSpPr>
          <p:cNvPr id="25" name="Slide Number Placeholder 0"/>
          <p:cNvSpPr>
            <a:spLocks noGrp="1"/>
          </p:cNvSpPr>
          <p:nvPr>
            <p:ph type="sldNum" sz="quarter" idx="4294967295"/>
          </p:nvPr>
        </p:nvSpPr>
        <p:spPr>
          <a:xfrm>
            <a:off x="10972800" y="6339840"/>
            <a:ext cx="609600" cy="365760"/>
          </a:xfrm>
          <a:prstGeom prst="rect">
            <a:avLst/>
          </a:prstGeom>
          <a:extLst>
            <a:ext uri="{C572A759-6A51-4108-AA02-DFA0A04FC94B}">
              <ma14:wrappingTextBoxFlag xmlns="" xmlns:ma14="http://schemas.microsoft.com/office/mac/drawingml/2011/main" val="0"/>
            </a:ext>
          </a:extLst>
        </p:spPr>
        <p:txBody>
          <a:bodyPr/>
          <a:lstStyle>
            <a:lvl1pPr>
              <a:defRPr sz="1200">
                <a:solidFill>
                  <a:srgbClr val="6B6B6B"/>
                </a:solidFill>
              </a:defRPr>
            </a:lvl1pPr>
          </a:lstStyle>
          <a:p>
            <a:pPr algn="r"/>
            <a:fld id="{F7021451-1387-4CA6-816F-3879F97B5CBC}" type="slidenum">
              <a:rPr lang="en-US" b="0"/>
              <a:t>23</a:t>
            </a:fld>
            <a:endParaRPr lang="en-US"/>
          </a:p>
        </p:txBody>
      </p:sp>
      <p:pic>
        <p:nvPicPr>
          <p:cNvPr id="10" name="Picture 9" descr="Painting of a portly gentleman in a powdered grey wig and richly embroidered clothes.">
            <a:extLst>
              <a:ext uri="{FF2B5EF4-FFF2-40B4-BE49-F238E27FC236}">
                <a16:creationId xmlns:a16="http://schemas.microsoft.com/office/drawing/2014/main" id="{6A41B0A7-1E84-72BC-AB74-1932B7558D6B}"/>
              </a:ext>
            </a:extLst>
          </p:cNvPr>
          <p:cNvPicPr>
            <a:picLocks noChangeAspect="1"/>
          </p:cNvPicPr>
          <p:nvPr/>
        </p:nvPicPr>
        <p:blipFill>
          <a:blip r:embed="rId4"/>
          <a:stretch>
            <a:fillRect/>
          </a:stretch>
        </p:blipFill>
        <p:spPr>
          <a:xfrm>
            <a:off x="5110345" y="1708478"/>
            <a:ext cx="1483629" cy="2302592"/>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09600" y="426720"/>
            <a:ext cx="10972800" cy="914400"/>
          </a:xfrm>
          <a:prstGeom prst="rect">
            <a:avLst/>
          </a:prstGeom>
          <a:noFill/>
          <a:ln/>
        </p:spPr>
        <p:txBody>
          <a:bodyPr vert="horz" wrap="square" lIns="0" tIns="0" rIns="0" bIns="0" rtlCol="0" anchor="ctr">
            <a:normAutofit/>
          </a:bodyPr>
          <a:lstStyle/>
          <a:p>
            <a:r>
              <a:rPr lang="en-US" dirty="0"/>
              <a:t>Stop 2 · On your screen</a:t>
            </a:r>
          </a:p>
        </p:txBody>
      </p:sp>
      <p:sp>
        <p:nvSpPr>
          <p:cNvPr id="3" name="Shape 1"/>
          <p:cNvSpPr/>
          <p:nvPr/>
        </p:nvSpPr>
        <p:spPr>
          <a:xfrm>
            <a:off x="609600" y="1463040"/>
            <a:ext cx="5303520" cy="1158240"/>
          </a:xfrm>
          <a:prstGeom prst="roundRect">
            <a:avLst>
              <a:gd name="adj" fmla="val 8421"/>
            </a:avLst>
          </a:prstGeom>
          <a:solidFill>
            <a:srgbClr val="E6F2F2"/>
          </a:solidFill>
          <a:ln w="12700">
            <a:solidFill>
              <a:srgbClr val="E6F2F2"/>
            </a:solidFill>
            <a:prstDash val="solid"/>
          </a:ln>
        </p:spPr>
        <p:txBody>
          <a:bodyPr/>
          <a:lstStyle/>
          <a:p>
            <a:endParaRPr lang="en-GB" sz="2400"/>
          </a:p>
        </p:txBody>
      </p:sp>
      <p:sp>
        <p:nvSpPr>
          <p:cNvPr id="4" name="Text 2"/>
          <p:cNvSpPr txBox="1"/>
          <p:nvPr/>
        </p:nvSpPr>
        <p:spPr>
          <a:xfrm>
            <a:off x="792480" y="1463040"/>
            <a:ext cx="4998720" cy="1158240"/>
          </a:xfrm>
          <a:prstGeom prst="rect">
            <a:avLst/>
          </a:prstGeom>
          <a:noFill/>
          <a:ln/>
        </p:spPr>
        <p:txBody>
          <a:bodyPr wrap="square" lIns="0" tIns="0" rIns="0" bIns="0" rtlCol="0" anchor="ctr"/>
          <a:lstStyle/>
          <a:p>
            <a:r>
              <a:rPr lang="en-US" sz="1600" b="1" dirty="0">
                <a:solidFill>
                  <a:srgbClr val="0A5C5C"/>
                </a:solidFill>
              </a:rPr>
              <a:t>Website animation  </a:t>
            </a:r>
            <a:r>
              <a:rPr lang="en-US" sz="1600" dirty="0">
                <a:solidFill>
                  <a:srgbClr val="3D3D3D"/>
                </a:solidFill>
              </a:rPr>
              <a:t>“Darts and π”: drag Darts, press Throw again.</a:t>
            </a:r>
            <a:endParaRPr lang="en-US" sz="1600" dirty="0"/>
          </a:p>
        </p:txBody>
      </p:sp>
      <p:sp>
        <p:nvSpPr>
          <p:cNvPr id="5" name="Shape 3"/>
          <p:cNvSpPr/>
          <p:nvPr/>
        </p:nvSpPr>
        <p:spPr>
          <a:xfrm>
            <a:off x="6278880" y="1463040"/>
            <a:ext cx="5303520" cy="1158240"/>
          </a:xfrm>
          <a:prstGeom prst="roundRect">
            <a:avLst>
              <a:gd name="adj" fmla="val 8421"/>
            </a:avLst>
          </a:prstGeom>
          <a:solidFill>
            <a:srgbClr val="FBEBDD"/>
          </a:solidFill>
          <a:ln w="12700">
            <a:solidFill>
              <a:srgbClr val="FBEBDD"/>
            </a:solidFill>
            <a:prstDash val="solid"/>
          </a:ln>
        </p:spPr>
        <p:txBody>
          <a:bodyPr/>
          <a:lstStyle/>
          <a:p>
            <a:endParaRPr lang="en-GB" sz="2400"/>
          </a:p>
        </p:txBody>
      </p:sp>
      <p:sp>
        <p:nvSpPr>
          <p:cNvPr id="6" name="Text 4"/>
          <p:cNvSpPr txBox="1"/>
          <p:nvPr/>
        </p:nvSpPr>
        <p:spPr>
          <a:xfrm>
            <a:off x="6461760" y="1463040"/>
            <a:ext cx="4998720" cy="1158240"/>
          </a:xfrm>
          <a:prstGeom prst="rect">
            <a:avLst/>
          </a:prstGeom>
          <a:noFill/>
          <a:ln/>
        </p:spPr>
        <p:txBody>
          <a:bodyPr wrap="square" lIns="0" tIns="0" rIns="0" bIns="0" rtlCol="0" anchor="ctr"/>
          <a:lstStyle/>
          <a:p>
            <a:r>
              <a:rPr lang="en-US" sz="1600" b="1" dirty="0">
                <a:solidFill>
                  <a:srgbClr val="7A4A1E"/>
                </a:solidFill>
              </a:rPr>
              <a:t>Notebook  </a:t>
            </a:r>
            <a:r>
              <a:rPr lang="en-US" sz="1600" dirty="0">
                <a:solidFill>
                  <a:srgbClr val="3D3D3D"/>
                </a:solidFill>
              </a:rPr>
              <a:t>sections 2.1 to 2.3, plus the Buffon's needle cell.</a:t>
            </a:r>
            <a:endParaRPr lang="en-US" sz="1600" dirty="0"/>
          </a:p>
        </p:txBody>
      </p:sp>
      <p:graphicFrame>
        <p:nvGraphicFramePr>
          <p:cNvPr id="25" name="Table 0"/>
          <p:cNvGraphicFramePr>
            <a:graphicFrameLocks noGrp="1"/>
          </p:cNvGraphicFramePr>
          <p:nvPr/>
        </p:nvGraphicFramePr>
        <p:xfrm>
          <a:off x="609600" y="2804160"/>
          <a:ext cx="10972800" cy="1956816"/>
        </p:xfrm>
        <a:graphic>
          <a:graphicData uri="http://schemas.openxmlformats.org/drawingml/2006/table">
            <a:tbl>
              <a:tblPr/>
              <a:tblGrid>
                <a:gridCol w="2072640">
                  <a:extLst>
                    <a:ext uri="{9D8B030D-6E8A-4147-A177-3AD203B41FA5}">
                      <a16:colId xmlns:a16="http://schemas.microsoft.com/office/drawing/2014/main" val="20000"/>
                    </a:ext>
                  </a:extLst>
                </a:gridCol>
                <a:gridCol w="4145280">
                  <a:extLst>
                    <a:ext uri="{9D8B030D-6E8A-4147-A177-3AD203B41FA5}">
                      <a16:colId xmlns:a16="http://schemas.microsoft.com/office/drawing/2014/main" val="20001"/>
                    </a:ext>
                  </a:extLst>
                </a:gridCol>
                <a:gridCol w="4754880">
                  <a:extLst>
                    <a:ext uri="{9D8B030D-6E8A-4147-A177-3AD203B41FA5}">
                      <a16:colId xmlns:a16="http://schemas.microsoft.com/office/drawing/2014/main" val="20002"/>
                    </a:ext>
                  </a:extLst>
                </a:gridCol>
              </a:tblGrid>
              <a:tr h="369824">
                <a:tc>
                  <a:txBody>
                    <a:bodyPr/>
                    <a:lstStyle/>
                    <a:p>
                      <a:pPr marL="0" indent="0">
                        <a:buNone/>
                      </a:pPr>
                      <a:r>
                        <a:rPr lang="en-US" sz="1500" b="1" dirty="0">
                          <a:solidFill>
                            <a:srgbClr val="0A5C5C"/>
                          </a:solidFill>
                          <a:latin typeface="Calibri" pitchFamily="34" charset="0"/>
                          <a:ea typeface="Calibri" pitchFamily="34" charset="-122"/>
                          <a:cs typeface="Calibri" pitchFamily="34" charset="-120"/>
                        </a:rPr>
                        <a:t>Parameter</a:t>
                      </a:r>
                      <a:endParaRPr lang="en-US" sz="1500" dirty="0">
                        <a:latin typeface="Calibri" charset="0"/>
                        <a:ea typeface="Calibri" charset="0"/>
                        <a:cs typeface="Calibri" charset="0"/>
                      </a:endParaRPr>
                    </a:p>
                  </a:txBody>
                  <a:tcPr marL="73152" marR="73152" marT="73152" marB="73152">
                    <a:lnL w="6350" cap="flat" cmpd="sng" algn="ctr">
                      <a:solidFill>
                        <a:srgbClr val="D9ECEC"/>
                      </a:solidFill>
                      <a:prstDash val="solid"/>
                      <a:round/>
                      <a:headEnd type="none" w="med" len="med"/>
                      <a:tailEnd type="none" w="med" len="med"/>
                    </a:lnL>
                    <a:lnR w="6350" cap="flat" cmpd="sng" algn="ctr">
                      <a:solidFill>
                        <a:srgbClr val="D9ECEC"/>
                      </a:solidFill>
                      <a:prstDash val="solid"/>
                      <a:round/>
                      <a:headEnd type="none" w="med" len="med"/>
                      <a:tailEnd type="none" w="med" len="med"/>
                    </a:lnR>
                    <a:lnT w="6350" cap="flat" cmpd="sng" algn="ctr">
                      <a:solidFill>
                        <a:srgbClr val="D9ECEC"/>
                      </a:solidFill>
                      <a:prstDash val="solid"/>
                      <a:round/>
                      <a:headEnd type="none" w="med" len="med"/>
                      <a:tailEnd type="none" w="med" len="med"/>
                    </a:lnT>
                    <a:lnB w="6350" cap="flat" cmpd="sng" algn="ctr">
                      <a:solidFill>
                        <a:srgbClr val="D9ECEC"/>
                      </a:solidFill>
                      <a:prstDash val="solid"/>
                      <a:round/>
                      <a:headEnd type="none" w="med" len="med"/>
                      <a:tailEnd type="none" w="med" len="med"/>
                    </a:lnB>
                    <a:solidFill>
                      <a:srgbClr val="F3F9F9"/>
                    </a:solidFill>
                  </a:tcPr>
                </a:tc>
                <a:tc>
                  <a:txBody>
                    <a:bodyPr/>
                    <a:lstStyle/>
                    <a:p>
                      <a:pPr marL="0" indent="0">
                        <a:buNone/>
                      </a:pPr>
                      <a:r>
                        <a:rPr lang="en-US" sz="1500" b="1" dirty="0">
                          <a:solidFill>
                            <a:srgbClr val="0A5C5C"/>
                          </a:solidFill>
                          <a:latin typeface="Calibri" pitchFamily="34" charset="0"/>
                          <a:ea typeface="Calibri" pitchFamily="34" charset="-122"/>
                          <a:cs typeface="Calibri" pitchFamily="34" charset="-120"/>
                        </a:rPr>
                        <a:t>What it means</a:t>
                      </a:r>
                      <a:endParaRPr lang="en-US" sz="1500" dirty="0">
                        <a:latin typeface="Calibri" charset="0"/>
                        <a:ea typeface="Calibri" charset="0"/>
                        <a:cs typeface="Calibri" charset="0"/>
                      </a:endParaRPr>
                    </a:p>
                  </a:txBody>
                  <a:tcPr marL="73152" marR="73152" marT="73152" marB="73152">
                    <a:lnL w="6350" cap="flat" cmpd="sng" algn="ctr">
                      <a:solidFill>
                        <a:srgbClr val="D9ECEC"/>
                      </a:solidFill>
                      <a:prstDash val="solid"/>
                      <a:round/>
                      <a:headEnd type="none" w="med" len="med"/>
                      <a:tailEnd type="none" w="med" len="med"/>
                    </a:lnL>
                    <a:lnR w="6350" cap="flat" cmpd="sng" algn="ctr">
                      <a:solidFill>
                        <a:srgbClr val="D9ECEC"/>
                      </a:solidFill>
                      <a:prstDash val="solid"/>
                      <a:round/>
                      <a:headEnd type="none" w="med" len="med"/>
                      <a:tailEnd type="none" w="med" len="med"/>
                    </a:lnR>
                    <a:lnT w="6350" cap="flat" cmpd="sng" algn="ctr">
                      <a:solidFill>
                        <a:srgbClr val="D9ECEC"/>
                      </a:solidFill>
                      <a:prstDash val="solid"/>
                      <a:round/>
                      <a:headEnd type="none" w="med" len="med"/>
                      <a:tailEnd type="none" w="med" len="med"/>
                    </a:lnT>
                    <a:lnB w="6350" cap="flat" cmpd="sng" algn="ctr">
                      <a:solidFill>
                        <a:srgbClr val="D9ECEC"/>
                      </a:solidFill>
                      <a:prstDash val="solid"/>
                      <a:round/>
                      <a:headEnd type="none" w="med" len="med"/>
                      <a:tailEnd type="none" w="med" len="med"/>
                    </a:lnB>
                    <a:solidFill>
                      <a:srgbClr val="F3F9F9"/>
                    </a:solidFill>
                  </a:tcPr>
                </a:tc>
                <a:tc>
                  <a:txBody>
                    <a:bodyPr/>
                    <a:lstStyle/>
                    <a:p>
                      <a:pPr marL="0" indent="0">
                        <a:buNone/>
                      </a:pPr>
                      <a:r>
                        <a:rPr lang="en-US" sz="1500" b="1" dirty="0">
                          <a:solidFill>
                            <a:srgbClr val="0A5C5C"/>
                          </a:solidFill>
                          <a:latin typeface="Calibri" pitchFamily="34" charset="0"/>
                          <a:ea typeface="Calibri" pitchFamily="34" charset="-122"/>
                          <a:cs typeface="Calibri" pitchFamily="34" charset="-120"/>
                        </a:rPr>
                        <a:t>What to watch</a:t>
                      </a:r>
                      <a:endParaRPr lang="en-US" sz="1500" dirty="0">
                        <a:latin typeface="Calibri" charset="0"/>
                        <a:ea typeface="Calibri" charset="0"/>
                        <a:cs typeface="Calibri" charset="0"/>
                      </a:endParaRPr>
                    </a:p>
                  </a:txBody>
                  <a:tcPr marL="73152" marR="73152" marT="73152" marB="73152">
                    <a:lnL w="6350" cap="flat" cmpd="sng" algn="ctr">
                      <a:solidFill>
                        <a:srgbClr val="D9ECEC"/>
                      </a:solidFill>
                      <a:prstDash val="solid"/>
                      <a:round/>
                      <a:headEnd type="none" w="med" len="med"/>
                      <a:tailEnd type="none" w="med" len="med"/>
                    </a:lnL>
                    <a:lnR w="6350" cap="flat" cmpd="sng" algn="ctr">
                      <a:solidFill>
                        <a:srgbClr val="D9ECEC"/>
                      </a:solidFill>
                      <a:prstDash val="solid"/>
                      <a:round/>
                      <a:headEnd type="none" w="med" len="med"/>
                      <a:tailEnd type="none" w="med" len="med"/>
                    </a:lnR>
                    <a:lnT w="6350" cap="flat" cmpd="sng" algn="ctr">
                      <a:solidFill>
                        <a:srgbClr val="D9ECEC"/>
                      </a:solidFill>
                      <a:prstDash val="solid"/>
                      <a:round/>
                      <a:headEnd type="none" w="med" len="med"/>
                      <a:tailEnd type="none" w="med" len="med"/>
                    </a:lnT>
                    <a:lnB w="6350" cap="flat" cmpd="sng" algn="ctr">
                      <a:solidFill>
                        <a:srgbClr val="D9ECEC"/>
                      </a:solidFill>
                      <a:prstDash val="solid"/>
                      <a:round/>
                      <a:headEnd type="none" w="med" len="med"/>
                      <a:tailEnd type="none" w="med" len="med"/>
                    </a:lnB>
                    <a:solidFill>
                      <a:srgbClr val="F3F9F9"/>
                    </a:solidFill>
                  </a:tcPr>
                </a:tc>
                <a:extLst>
                  <a:ext uri="{0D108BD9-81ED-4DB2-BD59-A6C34878D82A}">
                    <a16:rowId xmlns:a16="http://schemas.microsoft.com/office/drawing/2014/main" val="10000"/>
                  </a:ext>
                </a:extLst>
              </a:tr>
              <a:tr h="593344">
                <a:tc>
                  <a:txBody>
                    <a:bodyPr/>
                    <a:lstStyle/>
                    <a:p>
                      <a:pPr marL="0" indent="0">
                        <a:buNone/>
                      </a:pPr>
                      <a:r>
                        <a:rPr lang="en-US" sz="1500" b="1" dirty="0">
                          <a:solidFill>
                            <a:srgbClr val="3D3D3D"/>
                          </a:solidFill>
                          <a:latin typeface="Calibri" pitchFamily="34" charset="0"/>
                          <a:ea typeface="Calibri" pitchFamily="34" charset="-122"/>
                          <a:cs typeface="Calibri" pitchFamily="34" charset="-120"/>
                        </a:rPr>
                        <a:t>Darts (N)</a:t>
                      </a:r>
                      <a:endParaRPr lang="en-US" sz="1500" dirty="0">
                        <a:latin typeface="Calibri" charset="0"/>
                        <a:ea typeface="Calibri" charset="0"/>
                        <a:cs typeface="Calibri" charset="0"/>
                      </a:endParaRPr>
                    </a:p>
                  </a:txBody>
                  <a:tcPr marL="73152" marR="73152" marT="73152" marB="73152">
                    <a:lnL w="6350" cap="flat" cmpd="sng" algn="ctr">
                      <a:solidFill>
                        <a:srgbClr val="D9ECEC"/>
                      </a:solidFill>
                      <a:prstDash val="solid"/>
                      <a:round/>
                      <a:headEnd type="none" w="med" len="med"/>
                      <a:tailEnd type="none" w="med" len="med"/>
                    </a:lnL>
                    <a:lnR w="6350" cap="flat" cmpd="sng" algn="ctr">
                      <a:solidFill>
                        <a:srgbClr val="D9ECEC"/>
                      </a:solidFill>
                      <a:prstDash val="solid"/>
                      <a:round/>
                      <a:headEnd type="none" w="med" len="med"/>
                      <a:tailEnd type="none" w="med" len="med"/>
                    </a:lnR>
                    <a:lnT w="6350" cap="flat" cmpd="sng" algn="ctr">
                      <a:solidFill>
                        <a:srgbClr val="D9ECEC"/>
                      </a:solidFill>
                      <a:prstDash val="solid"/>
                      <a:round/>
                      <a:headEnd type="none" w="med" len="med"/>
                      <a:tailEnd type="none" w="med" len="med"/>
                    </a:lnT>
                    <a:lnB w="6350" cap="flat" cmpd="sng" algn="ctr">
                      <a:solidFill>
                        <a:srgbClr val="D9ECEC"/>
                      </a:solidFill>
                      <a:prstDash val="solid"/>
                      <a:round/>
                      <a:headEnd type="none" w="med" len="med"/>
                      <a:tailEnd type="none" w="med" len="med"/>
                    </a:lnB>
                  </a:tcPr>
                </a:tc>
                <a:tc>
                  <a:txBody>
                    <a:bodyPr/>
                    <a:lstStyle/>
                    <a:p>
                      <a:pPr marL="0" indent="0">
                        <a:buNone/>
                      </a:pPr>
                      <a:r>
                        <a:rPr lang="en-US" sz="1500" dirty="0">
                          <a:solidFill>
                            <a:srgbClr val="3D3D3D"/>
                          </a:solidFill>
                          <a:latin typeface="Calibri" pitchFamily="34" charset="0"/>
                          <a:ea typeface="Calibri" pitchFamily="34" charset="-122"/>
                          <a:cs typeface="Calibri" pitchFamily="34" charset="-120"/>
                        </a:rPr>
                        <a:t>How many random points are thrown at the square</a:t>
                      </a:r>
                      <a:endParaRPr lang="en-US" sz="1500" dirty="0">
                        <a:latin typeface="Calibri" charset="0"/>
                        <a:ea typeface="Calibri" charset="0"/>
                        <a:cs typeface="Calibri" charset="0"/>
                      </a:endParaRPr>
                    </a:p>
                  </a:txBody>
                  <a:tcPr marL="73152" marR="73152" marT="73152" marB="73152">
                    <a:lnL w="6350" cap="flat" cmpd="sng" algn="ctr">
                      <a:solidFill>
                        <a:srgbClr val="D9ECEC"/>
                      </a:solidFill>
                      <a:prstDash val="solid"/>
                      <a:round/>
                      <a:headEnd type="none" w="med" len="med"/>
                      <a:tailEnd type="none" w="med" len="med"/>
                    </a:lnL>
                    <a:lnR w="6350" cap="flat" cmpd="sng" algn="ctr">
                      <a:solidFill>
                        <a:srgbClr val="D9ECEC"/>
                      </a:solidFill>
                      <a:prstDash val="solid"/>
                      <a:round/>
                      <a:headEnd type="none" w="med" len="med"/>
                      <a:tailEnd type="none" w="med" len="med"/>
                    </a:lnR>
                    <a:lnT w="6350" cap="flat" cmpd="sng" algn="ctr">
                      <a:solidFill>
                        <a:srgbClr val="D9ECEC"/>
                      </a:solidFill>
                      <a:prstDash val="solid"/>
                      <a:round/>
                      <a:headEnd type="none" w="med" len="med"/>
                      <a:tailEnd type="none" w="med" len="med"/>
                    </a:lnT>
                    <a:lnB w="6350" cap="flat" cmpd="sng" algn="ctr">
                      <a:solidFill>
                        <a:srgbClr val="D9ECEC"/>
                      </a:solidFill>
                      <a:prstDash val="solid"/>
                      <a:round/>
                      <a:headEnd type="none" w="med" len="med"/>
                      <a:tailEnd type="none" w="med" len="med"/>
                    </a:lnB>
                  </a:tcPr>
                </a:tc>
                <a:tc>
                  <a:txBody>
                    <a:bodyPr/>
                    <a:lstStyle/>
                    <a:p>
                      <a:pPr marL="0" indent="0">
                        <a:buNone/>
                      </a:pPr>
                      <a:r>
                        <a:rPr lang="en-US" sz="1500" dirty="0">
                          <a:solidFill>
                            <a:srgbClr val="3D3D3D"/>
                          </a:solidFill>
                          <a:latin typeface="Calibri" pitchFamily="34" charset="0"/>
                          <a:ea typeface="Calibri" pitchFamily="34" charset="-122"/>
                          <a:cs typeface="Calibri" pitchFamily="34" charset="-120"/>
                        </a:rPr>
                        <a:t>The running estimate wanders, then settles near 3.14 but never becomes exact</a:t>
                      </a:r>
                      <a:endParaRPr lang="en-US" sz="1500" dirty="0">
                        <a:latin typeface="Calibri" charset="0"/>
                        <a:ea typeface="Calibri" charset="0"/>
                        <a:cs typeface="Calibri" charset="0"/>
                      </a:endParaRPr>
                    </a:p>
                  </a:txBody>
                  <a:tcPr marL="73152" marR="73152" marT="73152" marB="73152">
                    <a:lnL w="6350" cap="flat" cmpd="sng" algn="ctr">
                      <a:solidFill>
                        <a:srgbClr val="D9ECEC"/>
                      </a:solidFill>
                      <a:prstDash val="solid"/>
                      <a:round/>
                      <a:headEnd type="none" w="med" len="med"/>
                      <a:tailEnd type="none" w="med" len="med"/>
                    </a:lnL>
                    <a:lnR w="6350" cap="flat" cmpd="sng" algn="ctr">
                      <a:solidFill>
                        <a:srgbClr val="D9ECEC"/>
                      </a:solidFill>
                      <a:prstDash val="solid"/>
                      <a:round/>
                      <a:headEnd type="none" w="med" len="med"/>
                      <a:tailEnd type="none" w="med" len="med"/>
                    </a:lnR>
                    <a:lnT w="6350" cap="flat" cmpd="sng" algn="ctr">
                      <a:solidFill>
                        <a:srgbClr val="D9ECEC"/>
                      </a:solidFill>
                      <a:prstDash val="solid"/>
                      <a:round/>
                      <a:headEnd type="none" w="med" len="med"/>
                      <a:tailEnd type="none" w="med" len="med"/>
                    </a:lnT>
                    <a:lnB w="6350" cap="flat" cmpd="sng" algn="ctr">
                      <a:solidFill>
                        <a:srgbClr val="D9ECEC"/>
                      </a:solidFill>
                      <a:prstDash val="solid"/>
                      <a:round/>
                      <a:headEnd type="none" w="med" len="med"/>
                      <a:tailEnd type="none" w="med" len="med"/>
                    </a:lnB>
                  </a:tcPr>
                </a:tc>
                <a:extLst>
                  <a:ext uri="{0D108BD9-81ED-4DB2-BD59-A6C34878D82A}">
                    <a16:rowId xmlns:a16="http://schemas.microsoft.com/office/drawing/2014/main" val="10001"/>
                  </a:ext>
                </a:extLst>
              </a:tr>
              <a:tr h="593344">
                <a:tc>
                  <a:txBody>
                    <a:bodyPr/>
                    <a:lstStyle/>
                    <a:p>
                      <a:pPr marL="0" indent="0">
                        <a:buNone/>
                      </a:pPr>
                      <a:r>
                        <a:rPr lang="en-US" sz="1500" b="1" dirty="0">
                          <a:solidFill>
                            <a:srgbClr val="3D3D3D"/>
                          </a:solidFill>
                          <a:latin typeface="Calibri" pitchFamily="34" charset="0"/>
                          <a:ea typeface="Calibri" pitchFamily="34" charset="-122"/>
                          <a:cs typeface="Calibri" pitchFamily="34" charset="-120"/>
                        </a:rPr>
                        <a:t>Throw again</a:t>
                      </a:r>
                      <a:endParaRPr lang="en-US" sz="1500" dirty="0">
                        <a:latin typeface="Calibri" charset="0"/>
                        <a:ea typeface="Calibri" charset="0"/>
                        <a:cs typeface="Calibri" charset="0"/>
                      </a:endParaRPr>
                    </a:p>
                  </a:txBody>
                  <a:tcPr marL="73152" marR="73152" marT="73152" marB="73152">
                    <a:lnL w="6350" cap="flat" cmpd="sng" algn="ctr">
                      <a:solidFill>
                        <a:srgbClr val="D9ECEC"/>
                      </a:solidFill>
                      <a:prstDash val="solid"/>
                      <a:round/>
                      <a:headEnd type="none" w="med" len="med"/>
                      <a:tailEnd type="none" w="med" len="med"/>
                    </a:lnL>
                    <a:lnR w="6350" cap="flat" cmpd="sng" algn="ctr">
                      <a:solidFill>
                        <a:srgbClr val="D9ECEC"/>
                      </a:solidFill>
                      <a:prstDash val="solid"/>
                      <a:round/>
                      <a:headEnd type="none" w="med" len="med"/>
                      <a:tailEnd type="none" w="med" len="med"/>
                    </a:lnR>
                    <a:lnT w="6350" cap="flat" cmpd="sng" algn="ctr">
                      <a:solidFill>
                        <a:srgbClr val="D9ECEC"/>
                      </a:solidFill>
                      <a:prstDash val="solid"/>
                      <a:round/>
                      <a:headEnd type="none" w="med" len="med"/>
                      <a:tailEnd type="none" w="med" len="med"/>
                    </a:lnT>
                    <a:lnB w="6350" cap="flat" cmpd="sng" algn="ctr">
                      <a:solidFill>
                        <a:srgbClr val="D9ECEC"/>
                      </a:solidFill>
                      <a:prstDash val="solid"/>
                      <a:round/>
                      <a:headEnd type="none" w="med" len="med"/>
                      <a:tailEnd type="none" w="med" len="med"/>
                    </a:lnB>
                  </a:tcPr>
                </a:tc>
                <a:tc>
                  <a:txBody>
                    <a:bodyPr/>
                    <a:lstStyle/>
                    <a:p>
                      <a:pPr marL="0" indent="0">
                        <a:buNone/>
                      </a:pPr>
                      <a:r>
                        <a:rPr lang="en-US" sz="1500" dirty="0">
                          <a:solidFill>
                            <a:srgbClr val="3D3D3D"/>
                          </a:solidFill>
                          <a:latin typeface="Calibri" pitchFamily="34" charset="0"/>
                          <a:ea typeface="Calibri" pitchFamily="34" charset="-122"/>
                          <a:cs typeface="Calibri" pitchFamily="34" charset="-120"/>
                        </a:rPr>
                        <a:t>A fresh set of darts at the same N</a:t>
                      </a:r>
                      <a:endParaRPr lang="en-US" sz="1500" dirty="0">
                        <a:latin typeface="Calibri" charset="0"/>
                        <a:ea typeface="Calibri" charset="0"/>
                        <a:cs typeface="Calibri" charset="0"/>
                      </a:endParaRPr>
                    </a:p>
                  </a:txBody>
                  <a:tcPr marL="73152" marR="73152" marT="73152" marB="73152">
                    <a:lnL w="6350" cap="flat" cmpd="sng" algn="ctr">
                      <a:solidFill>
                        <a:srgbClr val="D9ECEC"/>
                      </a:solidFill>
                      <a:prstDash val="solid"/>
                      <a:round/>
                      <a:headEnd type="none" w="med" len="med"/>
                      <a:tailEnd type="none" w="med" len="med"/>
                    </a:lnL>
                    <a:lnR w="6350" cap="flat" cmpd="sng" algn="ctr">
                      <a:solidFill>
                        <a:srgbClr val="D9ECEC"/>
                      </a:solidFill>
                      <a:prstDash val="solid"/>
                      <a:round/>
                      <a:headEnd type="none" w="med" len="med"/>
                      <a:tailEnd type="none" w="med" len="med"/>
                    </a:lnR>
                    <a:lnT w="6350" cap="flat" cmpd="sng" algn="ctr">
                      <a:solidFill>
                        <a:srgbClr val="D9ECEC"/>
                      </a:solidFill>
                      <a:prstDash val="solid"/>
                      <a:round/>
                      <a:headEnd type="none" w="med" len="med"/>
                      <a:tailEnd type="none" w="med" len="med"/>
                    </a:lnT>
                    <a:lnB w="6350" cap="flat" cmpd="sng" algn="ctr">
                      <a:solidFill>
                        <a:srgbClr val="D9ECEC"/>
                      </a:solidFill>
                      <a:prstDash val="solid"/>
                      <a:round/>
                      <a:headEnd type="none" w="med" len="med"/>
                      <a:tailEnd type="none" w="med" len="med"/>
                    </a:lnB>
                  </a:tcPr>
                </a:tc>
                <a:tc>
                  <a:txBody>
                    <a:bodyPr/>
                    <a:lstStyle/>
                    <a:p>
                      <a:pPr marL="0" indent="0">
                        <a:buNone/>
                      </a:pPr>
                      <a:r>
                        <a:rPr lang="en-US" sz="1500" dirty="0">
                          <a:solidFill>
                            <a:srgbClr val="3D3D3D"/>
                          </a:solidFill>
                          <a:latin typeface="Calibri" pitchFamily="34" charset="0"/>
                          <a:ea typeface="Calibri" pitchFamily="34" charset="-122"/>
                          <a:cs typeface="Calibri" pitchFamily="34" charset="-120"/>
                        </a:rPr>
                        <a:t>Two runs at the same N give two different paths and two different final estimates</a:t>
                      </a:r>
                      <a:endParaRPr lang="en-US" sz="1500" dirty="0">
                        <a:latin typeface="Calibri" charset="0"/>
                        <a:ea typeface="Calibri" charset="0"/>
                        <a:cs typeface="Calibri" charset="0"/>
                      </a:endParaRPr>
                    </a:p>
                  </a:txBody>
                  <a:tcPr marL="73152" marR="73152" marT="73152" marB="73152">
                    <a:lnL w="6350" cap="flat" cmpd="sng" algn="ctr">
                      <a:solidFill>
                        <a:srgbClr val="D9ECEC"/>
                      </a:solidFill>
                      <a:prstDash val="solid"/>
                      <a:round/>
                      <a:headEnd type="none" w="med" len="med"/>
                      <a:tailEnd type="none" w="med" len="med"/>
                    </a:lnL>
                    <a:lnR w="6350" cap="flat" cmpd="sng" algn="ctr">
                      <a:solidFill>
                        <a:srgbClr val="D9ECEC"/>
                      </a:solidFill>
                      <a:prstDash val="solid"/>
                      <a:round/>
                      <a:headEnd type="none" w="med" len="med"/>
                      <a:tailEnd type="none" w="med" len="med"/>
                    </a:lnR>
                    <a:lnT w="6350" cap="flat" cmpd="sng" algn="ctr">
                      <a:solidFill>
                        <a:srgbClr val="D9ECEC"/>
                      </a:solidFill>
                      <a:prstDash val="solid"/>
                      <a:round/>
                      <a:headEnd type="none" w="med" len="med"/>
                      <a:tailEnd type="none" w="med" len="med"/>
                    </a:lnT>
                    <a:lnB w="6350" cap="flat" cmpd="sng" algn="ctr">
                      <a:solidFill>
                        <a:srgbClr val="D9ECEC"/>
                      </a:solidFill>
                      <a:prstDash val="solid"/>
                      <a:round/>
                      <a:headEnd type="none" w="med" len="med"/>
                      <a:tailEnd type="none" w="med" len="med"/>
                    </a:lnB>
                  </a:tcPr>
                </a:tc>
                <a:extLst>
                  <a:ext uri="{0D108BD9-81ED-4DB2-BD59-A6C34878D82A}">
                    <a16:rowId xmlns:a16="http://schemas.microsoft.com/office/drawing/2014/main" val="10002"/>
                  </a:ext>
                </a:extLst>
              </a:tr>
              <a:tr h="369824">
                <a:tc>
                  <a:txBody>
                    <a:bodyPr/>
                    <a:lstStyle/>
                    <a:p>
                      <a:pPr marL="0" indent="0">
                        <a:buNone/>
                      </a:pPr>
                      <a:r>
                        <a:rPr lang="en-US" sz="1500" b="1" dirty="0">
                          <a:solidFill>
                            <a:srgbClr val="3D3D3D"/>
                          </a:solidFill>
                          <a:latin typeface="Calibri" pitchFamily="34" charset="0"/>
                          <a:ea typeface="Calibri" pitchFamily="34" charset="-122"/>
                          <a:cs typeface="Calibri" pitchFamily="34" charset="-120"/>
                        </a:rPr>
                        <a:t>f(x) (notebook 2.3)</a:t>
                      </a:r>
                      <a:endParaRPr lang="en-US" sz="1500" dirty="0">
                        <a:latin typeface="Calibri" charset="0"/>
                        <a:ea typeface="Calibri" charset="0"/>
                        <a:cs typeface="Calibri" charset="0"/>
                      </a:endParaRPr>
                    </a:p>
                  </a:txBody>
                  <a:tcPr marL="73152" marR="73152" marT="73152" marB="73152">
                    <a:lnL w="6350" cap="flat" cmpd="sng" algn="ctr">
                      <a:solidFill>
                        <a:srgbClr val="D9ECEC"/>
                      </a:solidFill>
                      <a:prstDash val="solid"/>
                      <a:round/>
                      <a:headEnd type="none" w="med" len="med"/>
                      <a:tailEnd type="none" w="med" len="med"/>
                    </a:lnL>
                    <a:lnR w="6350" cap="flat" cmpd="sng" algn="ctr">
                      <a:solidFill>
                        <a:srgbClr val="D9ECEC"/>
                      </a:solidFill>
                      <a:prstDash val="solid"/>
                      <a:round/>
                      <a:headEnd type="none" w="med" len="med"/>
                      <a:tailEnd type="none" w="med" len="med"/>
                    </a:lnR>
                    <a:lnT w="6350" cap="flat" cmpd="sng" algn="ctr">
                      <a:solidFill>
                        <a:srgbClr val="D9ECEC"/>
                      </a:solidFill>
                      <a:prstDash val="solid"/>
                      <a:round/>
                      <a:headEnd type="none" w="med" len="med"/>
                      <a:tailEnd type="none" w="med" len="med"/>
                    </a:lnT>
                    <a:lnB w="6350" cap="flat" cmpd="sng" algn="ctr">
                      <a:solidFill>
                        <a:srgbClr val="D9ECEC"/>
                      </a:solidFill>
                      <a:prstDash val="solid"/>
                      <a:round/>
                      <a:headEnd type="none" w="med" len="med"/>
                      <a:tailEnd type="none" w="med" len="med"/>
                    </a:lnB>
                  </a:tcPr>
                </a:tc>
                <a:tc>
                  <a:txBody>
                    <a:bodyPr/>
                    <a:lstStyle/>
                    <a:p>
                      <a:pPr marL="0" indent="0">
                        <a:buNone/>
                      </a:pPr>
                      <a:r>
                        <a:rPr lang="en-US" sz="1500" dirty="0">
                          <a:solidFill>
                            <a:srgbClr val="3D3D3D"/>
                          </a:solidFill>
                          <a:latin typeface="Calibri" pitchFamily="34" charset="0"/>
                          <a:ea typeface="Calibri" pitchFamily="34" charset="-122"/>
                          <a:cs typeface="Calibri" pitchFamily="34" charset="-120"/>
                        </a:rPr>
                        <a:t>The curve whose area is measured</a:t>
                      </a:r>
                      <a:endParaRPr lang="en-US" sz="1500" dirty="0">
                        <a:latin typeface="Calibri" charset="0"/>
                        <a:ea typeface="Calibri" charset="0"/>
                        <a:cs typeface="Calibri" charset="0"/>
                      </a:endParaRPr>
                    </a:p>
                  </a:txBody>
                  <a:tcPr marL="73152" marR="73152" marT="73152" marB="73152">
                    <a:lnL w="6350" cap="flat" cmpd="sng" algn="ctr">
                      <a:solidFill>
                        <a:srgbClr val="D9ECEC"/>
                      </a:solidFill>
                      <a:prstDash val="solid"/>
                      <a:round/>
                      <a:headEnd type="none" w="med" len="med"/>
                      <a:tailEnd type="none" w="med" len="med"/>
                    </a:lnL>
                    <a:lnR w="6350" cap="flat" cmpd="sng" algn="ctr">
                      <a:solidFill>
                        <a:srgbClr val="D9ECEC"/>
                      </a:solidFill>
                      <a:prstDash val="solid"/>
                      <a:round/>
                      <a:headEnd type="none" w="med" len="med"/>
                      <a:tailEnd type="none" w="med" len="med"/>
                    </a:lnR>
                    <a:lnT w="6350" cap="flat" cmpd="sng" algn="ctr">
                      <a:solidFill>
                        <a:srgbClr val="D9ECEC"/>
                      </a:solidFill>
                      <a:prstDash val="solid"/>
                      <a:round/>
                      <a:headEnd type="none" w="med" len="med"/>
                      <a:tailEnd type="none" w="med" len="med"/>
                    </a:lnT>
                    <a:lnB w="6350" cap="flat" cmpd="sng" algn="ctr">
                      <a:solidFill>
                        <a:srgbClr val="D9ECEC"/>
                      </a:solidFill>
                      <a:prstDash val="solid"/>
                      <a:round/>
                      <a:headEnd type="none" w="med" len="med"/>
                      <a:tailEnd type="none" w="med" len="med"/>
                    </a:lnB>
                  </a:tcPr>
                </a:tc>
                <a:tc>
                  <a:txBody>
                    <a:bodyPr/>
                    <a:lstStyle/>
                    <a:p>
                      <a:pPr marL="0" indent="0">
                        <a:buNone/>
                      </a:pPr>
                      <a:r>
                        <a:rPr lang="en-US" sz="1500" dirty="0">
                          <a:solidFill>
                            <a:srgbClr val="3D3D3D"/>
                          </a:solidFill>
                          <a:latin typeface="Calibri" pitchFamily="34" charset="0"/>
                          <a:ea typeface="Calibri" pitchFamily="34" charset="-122"/>
                          <a:cs typeface="Calibri" pitchFamily="34" charset="-120"/>
                        </a:rPr>
                        <a:t>Change x**2 to any curve and the same count gives its area</a:t>
                      </a:r>
                      <a:endParaRPr lang="en-US" sz="1500" dirty="0">
                        <a:latin typeface="Calibri" charset="0"/>
                        <a:ea typeface="Calibri" charset="0"/>
                        <a:cs typeface="Calibri" charset="0"/>
                      </a:endParaRPr>
                    </a:p>
                  </a:txBody>
                  <a:tcPr marL="73152" marR="73152" marT="73152" marB="73152">
                    <a:lnL w="6350" cap="flat" cmpd="sng" algn="ctr">
                      <a:solidFill>
                        <a:srgbClr val="D9ECEC"/>
                      </a:solidFill>
                      <a:prstDash val="solid"/>
                      <a:round/>
                      <a:headEnd type="none" w="med" len="med"/>
                      <a:tailEnd type="none" w="med" len="med"/>
                    </a:lnL>
                    <a:lnR w="6350" cap="flat" cmpd="sng" algn="ctr">
                      <a:solidFill>
                        <a:srgbClr val="D9ECEC"/>
                      </a:solidFill>
                      <a:prstDash val="solid"/>
                      <a:round/>
                      <a:headEnd type="none" w="med" len="med"/>
                      <a:tailEnd type="none" w="med" len="med"/>
                    </a:lnR>
                    <a:lnT w="6350" cap="flat" cmpd="sng" algn="ctr">
                      <a:solidFill>
                        <a:srgbClr val="D9ECEC"/>
                      </a:solidFill>
                      <a:prstDash val="solid"/>
                      <a:round/>
                      <a:headEnd type="none" w="med" len="med"/>
                      <a:tailEnd type="none" w="med" len="med"/>
                    </a:lnT>
                    <a:lnB w="6350" cap="flat" cmpd="sng" algn="ctr">
                      <a:solidFill>
                        <a:srgbClr val="D9ECEC"/>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8" name="Text 5"/>
          <p:cNvSpPr txBox="1"/>
          <p:nvPr/>
        </p:nvSpPr>
        <p:spPr>
          <a:xfrm>
            <a:off x="609600" y="5547360"/>
            <a:ext cx="10972800" cy="670560"/>
          </a:xfrm>
          <a:prstGeom prst="rect">
            <a:avLst/>
          </a:prstGeom>
          <a:noFill/>
          <a:ln/>
        </p:spPr>
        <p:txBody>
          <a:bodyPr wrap="square" lIns="0" tIns="0" rIns="0" bIns="0" rtlCol="0" anchor="t"/>
          <a:lstStyle/>
          <a:p>
            <a:r>
              <a:rPr lang="en-US" sz="1467" b="1" dirty="0">
                <a:solidFill>
                  <a:srgbClr val="C97B3A"/>
                </a:solidFill>
              </a:rPr>
              <a:t>✎ Exercise, for later (notebook):  </a:t>
            </a:r>
            <a:r>
              <a:rPr lang="en-US" sz="1467" dirty="0">
                <a:solidFill>
                  <a:srgbClr val="3D3D3D"/>
                </a:solidFill>
              </a:rPr>
              <a:t>how many darts are needed before the estimate is reliably within 0.01 of π? Does 1/√N predict it?</a:t>
            </a:r>
            <a:endParaRPr lang="en-US" sz="1467" dirty="0"/>
          </a:p>
        </p:txBody>
      </p:sp>
      <p:sp>
        <p:nvSpPr>
          <p:cNvPr id="7" name="Slide Number Placeholder 0"/>
          <p:cNvSpPr>
            <a:spLocks noGrp="1"/>
          </p:cNvSpPr>
          <p:nvPr>
            <p:ph type="sldNum" sz="quarter" idx="4294967295"/>
          </p:nvPr>
        </p:nvSpPr>
        <p:spPr>
          <a:xfrm>
            <a:off x="10972800" y="6339840"/>
            <a:ext cx="609600" cy="365760"/>
          </a:xfrm>
          <a:prstGeom prst="rect">
            <a:avLst/>
          </a:prstGeom>
          <a:extLst>
            <a:ext uri="{C572A759-6A51-4108-AA02-DFA0A04FC94B}">
              <ma14:wrappingTextBoxFlag xmlns="" xmlns:ma14="http://schemas.microsoft.com/office/mac/drawingml/2011/main" val="0"/>
            </a:ext>
          </a:extLst>
        </p:spPr>
        <p:txBody>
          <a:bodyPr/>
          <a:lstStyle>
            <a:lvl1pPr>
              <a:defRPr sz="1200">
                <a:solidFill>
                  <a:srgbClr val="6B6B6B"/>
                </a:solidFill>
              </a:defRPr>
            </a:lvl1pPr>
          </a:lstStyle>
          <a:p>
            <a:pPr algn="r"/>
            <a:fld id="{F7021451-1387-4CA6-816F-3879F97B5CBC}" type="slidenum">
              <a:rPr lang="en-US" b="0"/>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09600" y="426720"/>
            <a:ext cx="10972800" cy="914400"/>
          </a:xfrm>
          <a:prstGeom prst="rect">
            <a:avLst/>
          </a:prstGeom>
          <a:noFill/>
          <a:ln/>
        </p:spPr>
        <p:txBody>
          <a:bodyPr vert="horz" wrap="square" lIns="0" tIns="0" rIns="0" bIns="0" rtlCol="0" anchor="ctr">
            <a:normAutofit/>
          </a:bodyPr>
          <a:lstStyle/>
          <a:p>
            <a:r>
              <a:rPr lang="en-US" dirty="0"/>
              <a:t>What we learned at stop 2</a:t>
            </a:r>
          </a:p>
        </p:txBody>
      </p:sp>
      <p:sp>
        <p:nvSpPr>
          <p:cNvPr id="3" name="Shape 1"/>
          <p:cNvSpPr/>
          <p:nvPr/>
        </p:nvSpPr>
        <p:spPr>
          <a:xfrm>
            <a:off x="609600" y="1584960"/>
            <a:ext cx="10972800" cy="4145280"/>
          </a:xfrm>
          <a:prstGeom prst="roundRect">
            <a:avLst>
              <a:gd name="adj" fmla="val 3529"/>
            </a:avLst>
          </a:prstGeom>
          <a:solidFill>
            <a:srgbClr val="E6F2F2"/>
          </a:solidFill>
          <a:ln w="12700">
            <a:solidFill>
              <a:srgbClr val="E6F2F2"/>
            </a:solidFill>
            <a:prstDash val="solid"/>
          </a:ln>
        </p:spPr>
        <p:txBody>
          <a:bodyPr/>
          <a:lstStyle/>
          <a:p>
            <a:endParaRPr lang="en-GB" sz="2400"/>
          </a:p>
        </p:txBody>
      </p:sp>
      <p:sp>
        <p:nvSpPr>
          <p:cNvPr id="4" name="Text 2"/>
          <p:cNvSpPr txBox="1"/>
          <p:nvPr/>
        </p:nvSpPr>
        <p:spPr>
          <a:xfrm>
            <a:off x="1097280" y="1950720"/>
            <a:ext cx="10119360" cy="3535680"/>
          </a:xfrm>
          <a:prstGeom prst="rect">
            <a:avLst/>
          </a:prstGeom>
          <a:noFill/>
          <a:ln/>
        </p:spPr>
        <p:txBody>
          <a:bodyPr wrap="square" lIns="0" tIns="0" rIns="0" bIns="0" rtlCol="0" anchor="t"/>
          <a:lstStyle/>
          <a:p>
            <a:pPr marL="457189" indent="-457189">
              <a:spcAft>
                <a:spcPts val="1867"/>
              </a:spcAft>
              <a:buSzPct val="100000"/>
              <a:buChar char="•"/>
            </a:pPr>
            <a:r>
              <a:rPr lang="en-US" sz="2400" dirty="0">
                <a:solidFill>
                  <a:srgbClr val="0A5C5C"/>
                </a:solidFill>
              </a:rPr>
              <a:t>Monte Carlo can estimate numbers, not just probabilities, by turning a measurement into a count.</a:t>
            </a:r>
            <a:endParaRPr lang="en-US" sz="2400" dirty="0"/>
          </a:p>
          <a:p>
            <a:pPr marL="457189" indent="-457189">
              <a:spcAft>
                <a:spcPts val="1867"/>
              </a:spcAft>
              <a:buSzPct val="100000"/>
              <a:buChar char="•"/>
            </a:pPr>
            <a:r>
              <a:rPr lang="en-US" sz="2400" dirty="0">
                <a:solidFill>
                  <a:srgbClr val="0A5C5C"/>
                </a:solidFill>
              </a:rPr>
              <a:t>The running estimate converges but never becomes exact: always report a margin.</a:t>
            </a:r>
            <a:endParaRPr lang="en-US" sz="2400" dirty="0"/>
          </a:p>
          <a:p>
            <a:pPr marL="457189" indent="-457189">
              <a:spcAft>
                <a:spcPts val="1867"/>
              </a:spcAft>
              <a:buSzPct val="100000"/>
              <a:buChar char="•"/>
            </a:pPr>
            <a:r>
              <a:rPr lang="en-US" sz="2400" dirty="0">
                <a:solidFill>
                  <a:srgbClr val="0A5C5C"/>
                </a:solidFill>
              </a:rPr>
              <a:t>The method does not care how many dimensions the problem has. That is its great advantage.</a:t>
            </a:r>
            <a:endParaRPr lang="en-US" sz="2400" dirty="0"/>
          </a:p>
        </p:txBody>
      </p:sp>
      <p:sp>
        <p:nvSpPr>
          <p:cNvPr id="25" name="Slide Number Placeholder 0"/>
          <p:cNvSpPr>
            <a:spLocks noGrp="1"/>
          </p:cNvSpPr>
          <p:nvPr>
            <p:ph type="sldNum" sz="quarter" idx="4294967295"/>
          </p:nvPr>
        </p:nvSpPr>
        <p:spPr>
          <a:xfrm>
            <a:off x="10972800" y="6339840"/>
            <a:ext cx="609600" cy="365760"/>
          </a:xfrm>
          <a:prstGeom prst="rect">
            <a:avLst/>
          </a:prstGeom>
          <a:extLst>
            <a:ext uri="{C572A759-6A51-4108-AA02-DFA0A04FC94B}">
              <ma14:wrappingTextBoxFlag xmlns="" xmlns:ma14="http://schemas.microsoft.com/office/mac/drawingml/2011/main" val="0"/>
            </a:ext>
          </a:extLst>
        </p:spPr>
        <p:txBody>
          <a:bodyPr/>
          <a:lstStyle>
            <a:lvl1pPr>
              <a:defRPr sz="1200">
                <a:solidFill>
                  <a:srgbClr val="6B6B6B"/>
                </a:solidFill>
              </a:defRPr>
            </a:lvl1pPr>
          </a:lstStyle>
          <a:p>
            <a:pPr algn="r"/>
            <a:fld id="{F7021451-1387-4CA6-816F-3879F97B5CBC}" type="slidenum">
              <a:rPr lang="en-US" b="0"/>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731520" y="1706880"/>
            <a:ext cx="10728960" cy="609600"/>
          </a:xfrm>
          <a:prstGeom prst="rect">
            <a:avLst/>
          </a:prstGeom>
          <a:noFill/>
          <a:ln/>
        </p:spPr>
        <p:txBody>
          <a:bodyPr vert="horz" wrap="square" lIns="0" tIns="0" rIns="0" bIns="0" rtlCol="0">
            <a:normAutofit/>
          </a:bodyPr>
          <a:lstStyle/>
          <a:p>
            <a:r>
              <a:rPr lang="en-US" dirty="0"/>
              <a:t>Stop 3</a:t>
            </a:r>
          </a:p>
        </p:txBody>
      </p:sp>
      <p:sp>
        <p:nvSpPr>
          <p:cNvPr id="3" name="Text 0"/>
          <p:cNvSpPr>
            <a:spLocks noGrp="1"/>
          </p:cNvSpPr>
          <p:nvPr>
            <p:ph type="title" idx="101" hasCustomPrompt="1"/>
          </p:nvPr>
        </p:nvSpPr>
        <p:spPr>
          <a:xfrm>
            <a:off x="731520" y="2316480"/>
            <a:ext cx="10728960" cy="2194560"/>
          </a:xfrm>
          <a:prstGeom prst="rect">
            <a:avLst/>
          </a:prstGeom>
          <a:noFill/>
          <a:ln/>
        </p:spPr>
        <p:txBody>
          <a:bodyPr vert="horz" wrap="square" lIns="0" tIns="0" rIns="0" bIns="0" rtlCol="0" anchor="ctr">
            <a:normAutofit/>
          </a:bodyPr>
          <a:lstStyle/>
          <a:p>
            <a:r>
              <a:rPr lang="en-US" dirty="0"/>
              <a:t>A referendum, and taming the future</a:t>
            </a:r>
          </a:p>
        </p:txBody>
      </p:sp>
      <p:sp>
        <p:nvSpPr>
          <p:cNvPr id="4" name="Text 0"/>
          <p:cNvSpPr>
            <a:spLocks noGrp="1"/>
          </p:cNvSpPr>
          <p:nvPr>
            <p:ph type="body" idx="102" hasCustomPrompt="1"/>
          </p:nvPr>
        </p:nvSpPr>
        <p:spPr>
          <a:xfrm>
            <a:off x="731520" y="4754880"/>
            <a:ext cx="10728960" cy="1097280"/>
          </a:xfrm>
          <a:prstGeom prst="rect">
            <a:avLst/>
          </a:prstGeom>
          <a:noFill/>
          <a:ln/>
        </p:spPr>
        <p:txBody>
          <a:bodyPr vert="horz" wrap="square" lIns="0" tIns="0" rIns="0" bIns="0" rtlCol="0">
            <a:normAutofit/>
          </a:bodyPr>
          <a:lstStyle/>
          <a:p>
            <a:r>
              <a:rPr lang="en-US" dirty="0"/>
              <a:t>Feed distributions in. Read a distribution out.</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09600" y="426720"/>
            <a:ext cx="10972800" cy="914400"/>
          </a:xfrm>
          <a:prstGeom prst="rect">
            <a:avLst/>
          </a:prstGeom>
          <a:noFill/>
          <a:ln/>
        </p:spPr>
        <p:txBody>
          <a:bodyPr vert="horz" wrap="square" lIns="0" tIns="0" rIns="0" bIns="0" rtlCol="0" anchor="ctr">
            <a:normAutofit/>
          </a:bodyPr>
          <a:lstStyle/>
          <a:p>
            <a:r>
              <a:rPr lang="en-US" dirty="0"/>
              <a:t>Polls say 52% yes. Will it pass?</a:t>
            </a:r>
          </a:p>
        </p:txBody>
      </p:sp>
      <p:sp>
        <p:nvSpPr>
          <p:cNvPr id="3" name="Text 1"/>
          <p:cNvSpPr txBox="1"/>
          <p:nvPr/>
        </p:nvSpPr>
        <p:spPr>
          <a:xfrm>
            <a:off x="8046720" y="6303264"/>
            <a:ext cx="2682240" cy="365760"/>
          </a:xfrm>
          <a:prstGeom prst="rect">
            <a:avLst/>
          </a:prstGeom>
          <a:solidFill>
            <a:srgbClr val="E6F2F2"/>
          </a:solidFill>
          <a:ln/>
        </p:spPr>
        <p:txBody>
          <a:bodyPr wrap="square" lIns="0" tIns="0" rIns="0" bIns="0" rtlCol="0" anchor="ctr"/>
          <a:lstStyle/>
          <a:p>
            <a:pPr algn="ctr"/>
            <a:r>
              <a:rPr lang="en-US" sz="1333" b="1" dirty="0">
                <a:solidFill>
                  <a:srgbClr val="0A5C5C"/>
                </a:solidFill>
              </a:rPr>
              <a:t>STOP 3 · REFERENDUM</a:t>
            </a:r>
            <a:endParaRPr lang="en-US" sz="1333" dirty="0"/>
          </a:p>
        </p:txBody>
      </p:sp>
      <p:sp>
        <p:nvSpPr>
          <p:cNvPr id="4" name="Shape 2"/>
          <p:cNvSpPr/>
          <p:nvPr/>
        </p:nvSpPr>
        <p:spPr>
          <a:xfrm>
            <a:off x="609600" y="1645920"/>
            <a:ext cx="3413760" cy="2011680"/>
          </a:xfrm>
          <a:prstGeom prst="roundRect">
            <a:avLst>
              <a:gd name="adj" fmla="val 6061"/>
            </a:avLst>
          </a:prstGeom>
          <a:solidFill>
            <a:srgbClr val="F3F9F9"/>
          </a:solidFill>
          <a:ln w="12700">
            <a:solidFill>
              <a:srgbClr val="E6F2F2"/>
            </a:solidFill>
            <a:prstDash val="solid"/>
          </a:ln>
        </p:spPr>
        <p:txBody>
          <a:bodyPr/>
          <a:lstStyle/>
          <a:p>
            <a:endParaRPr lang="en-GB" sz="2400"/>
          </a:p>
        </p:txBody>
      </p:sp>
      <p:sp>
        <p:nvSpPr>
          <p:cNvPr id="5" name="Text 3"/>
          <p:cNvSpPr txBox="1"/>
          <p:nvPr/>
        </p:nvSpPr>
        <p:spPr>
          <a:xfrm>
            <a:off x="609600" y="1767840"/>
            <a:ext cx="3413760" cy="853440"/>
          </a:xfrm>
          <a:prstGeom prst="rect">
            <a:avLst/>
          </a:prstGeom>
          <a:noFill/>
          <a:ln/>
        </p:spPr>
        <p:txBody>
          <a:bodyPr wrap="square" lIns="0" tIns="0" rIns="0" bIns="0" rtlCol="0" anchor="ctr"/>
          <a:lstStyle/>
          <a:p>
            <a:pPr algn="ctr"/>
            <a:r>
              <a:rPr lang="en-US" sz="4000" b="1" dirty="0">
                <a:solidFill>
                  <a:srgbClr val="0F7F7F"/>
                </a:solidFill>
              </a:rPr>
              <a:t>52%</a:t>
            </a:r>
            <a:endParaRPr lang="en-US" sz="4000" dirty="0"/>
          </a:p>
        </p:txBody>
      </p:sp>
      <p:sp>
        <p:nvSpPr>
          <p:cNvPr id="6" name="Text 4"/>
          <p:cNvSpPr txBox="1"/>
          <p:nvPr/>
        </p:nvSpPr>
        <p:spPr>
          <a:xfrm>
            <a:off x="731520" y="2621280"/>
            <a:ext cx="3169920" cy="975360"/>
          </a:xfrm>
          <a:prstGeom prst="rect">
            <a:avLst/>
          </a:prstGeom>
          <a:noFill/>
          <a:ln/>
        </p:spPr>
        <p:txBody>
          <a:bodyPr wrap="square" lIns="0" tIns="0" rIns="0" bIns="0" rtlCol="0" anchor="t"/>
          <a:lstStyle/>
          <a:p>
            <a:pPr algn="ctr"/>
            <a:r>
              <a:rPr lang="en-US" sz="1467" dirty="0">
                <a:solidFill>
                  <a:srgbClr val="6B6B6B"/>
                </a:solidFill>
              </a:rPr>
              <a:t>the polls say yes</a:t>
            </a:r>
            <a:endParaRPr lang="en-US" sz="1467" dirty="0"/>
          </a:p>
        </p:txBody>
      </p:sp>
      <p:sp>
        <p:nvSpPr>
          <p:cNvPr id="7" name="Shape 5"/>
          <p:cNvSpPr/>
          <p:nvPr/>
        </p:nvSpPr>
        <p:spPr>
          <a:xfrm>
            <a:off x="4389120" y="1645920"/>
            <a:ext cx="3413760" cy="2011680"/>
          </a:xfrm>
          <a:prstGeom prst="roundRect">
            <a:avLst>
              <a:gd name="adj" fmla="val 6061"/>
            </a:avLst>
          </a:prstGeom>
          <a:solidFill>
            <a:srgbClr val="F3F9F9"/>
          </a:solidFill>
          <a:ln w="12700">
            <a:solidFill>
              <a:srgbClr val="E6F2F2"/>
            </a:solidFill>
            <a:prstDash val="solid"/>
          </a:ln>
        </p:spPr>
        <p:txBody>
          <a:bodyPr/>
          <a:lstStyle/>
          <a:p>
            <a:endParaRPr lang="en-GB" sz="2400"/>
          </a:p>
        </p:txBody>
      </p:sp>
      <p:sp>
        <p:nvSpPr>
          <p:cNvPr id="8" name="Text 6"/>
          <p:cNvSpPr txBox="1"/>
          <p:nvPr/>
        </p:nvSpPr>
        <p:spPr>
          <a:xfrm>
            <a:off x="4389120" y="1767840"/>
            <a:ext cx="3413760" cy="853440"/>
          </a:xfrm>
          <a:prstGeom prst="rect">
            <a:avLst/>
          </a:prstGeom>
          <a:noFill/>
          <a:ln/>
        </p:spPr>
        <p:txBody>
          <a:bodyPr wrap="square" lIns="0" tIns="0" rIns="0" bIns="0" rtlCol="0" anchor="ctr"/>
          <a:lstStyle/>
          <a:p>
            <a:pPr algn="ctr"/>
            <a:r>
              <a:rPr lang="en-US" sz="4000" b="1" dirty="0">
                <a:solidFill>
                  <a:srgbClr val="D85A30"/>
                </a:solidFill>
              </a:rPr>
              <a:t>± 3 points</a:t>
            </a:r>
            <a:endParaRPr lang="en-US" sz="4000" dirty="0"/>
          </a:p>
        </p:txBody>
      </p:sp>
      <p:sp>
        <p:nvSpPr>
          <p:cNvPr id="9" name="Text 7"/>
          <p:cNvSpPr txBox="1"/>
          <p:nvPr/>
        </p:nvSpPr>
        <p:spPr>
          <a:xfrm>
            <a:off x="4511040" y="2621280"/>
            <a:ext cx="3169920" cy="975360"/>
          </a:xfrm>
          <a:prstGeom prst="rect">
            <a:avLst/>
          </a:prstGeom>
          <a:noFill/>
          <a:ln/>
        </p:spPr>
        <p:txBody>
          <a:bodyPr wrap="square" lIns="0" tIns="0" rIns="0" bIns="0" rtlCol="0" anchor="t"/>
          <a:lstStyle/>
          <a:p>
            <a:pPr algn="ctr"/>
            <a:r>
              <a:rPr lang="en-US" sz="1467" dirty="0">
                <a:solidFill>
                  <a:srgbClr val="6B6B6B"/>
                </a:solidFill>
              </a:rPr>
              <a:t>polls have historically missed the result by about this much, either way</a:t>
            </a:r>
            <a:endParaRPr lang="en-US" sz="1467" dirty="0"/>
          </a:p>
        </p:txBody>
      </p:sp>
      <p:sp>
        <p:nvSpPr>
          <p:cNvPr id="10" name="Shape 8"/>
          <p:cNvSpPr/>
          <p:nvPr/>
        </p:nvSpPr>
        <p:spPr>
          <a:xfrm>
            <a:off x="8168640" y="1645920"/>
            <a:ext cx="3413760" cy="2011680"/>
          </a:xfrm>
          <a:prstGeom prst="roundRect">
            <a:avLst>
              <a:gd name="adj" fmla="val 6061"/>
            </a:avLst>
          </a:prstGeom>
          <a:solidFill>
            <a:srgbClr val="F3F9F9"/>
          </a:solidFill>
          <a:ln w="12700">
            <a:solidFill>
              <a:srgbClr val="E6F2F2"/>
            </a:solidFill>
            <a:prstDash val="solid"/>
          </a:ln>
        </p:spPr>
        <p:txBody>
          <a:bodyPr/>
          <a:lstStyle/>
          <a:p>
            <a:endParaRPr lang="en-GB" sz="2400"/>
          </a:p>
        </p:txBody>
      </p:sp>
      <p:sp>
        <p:nvSpPr>
          <p:cNvPr id="11" name="Text 9"/>
          <p:cNvSpPr txBox="1"/>
          <p:nvPr/>
        </p:nvSpPr>
        <p:spPr>
          <a:xfrm>
            <a:off x="8168640" y="1767840"/>
            <a:ext cx="3413760" cy="853440"/>
          </a:xfrm>
          <a:prstGeom prst="rect">
            <a:avLst/>
          </a:prstGeom>
          <a:noFill/>
          <a:ln/>
        </p:spPr>
        <p:txBody>
          <a:bodyPr wrap="square" lIns="0" tIns="0" rIns="0" bIns="0" rtlCol="0" anchor="ctr"/>
          <a:lstStyle/>
          <a:p>
            <a:pPr algn="ctr"/>
            <a:r>
              <a:rPr lang="en-US" sz="4000" b="1" dirty="0">
                <a:solidFill>
                  <a:srgbClr val="C97B3A"/>
                </a:solidFill>
              </a:rPr>
              <a:t>−1 ± 1</a:t>
            </a:r>
            <a:endParaRPr lang="en-US" sz="4000" dirty="0"/>
          </a:p>
        </p:txBody>
      </p:sp>
      <p:sp>
        <p:nvSpPr>
          <p:cNvPr id="12" name="Text 10"/>
          <p:cNvSpPr txBox="1"/>
          <p:nvPr/>
        </p:nvSpPr>
        <p:spPr>
          <a:xfrm>
            <a:off x="8290560" y="2621280"/>
            <a:ext cx="3169920" cy="975360"/>
          </a:xfrm>
          <a:prstGeom prst="rect">
            <a:avLst/>
          </a:prstGeom>
          <a:noFill/>
          <a:ln/>
        </p:spPr>
        <p:txBody>
          <a:bodyPr wrap="square" lIns="0" tIns="0" rIns="0" bIns="0" rtlCol="0" anchor="t"/>
          <a:lstStyle/>
          <a:p>
            <a:pPr algn="ctr"/>
            <a:r>
              <a:rPr lang="en-US" sz="1467" dirty="0">
                <a:solidFill>
                  <a:srgbClr val="6B6B6B"/>
                </a:solidFill>
              </a:rPr>
              <a:t>the yes side tends to turn out slightly less, costing about a point</a:t>
            </a:r>
            <a:endParaRPr lang="en-US" sz="1467" dirty="0"/>
          </a:p>
        </p:txBody>
      </p:sp>
      <p:sp>
        <p:nvSpPr>
          <p:cNvPr id="13" name="Text 11"/>
          <p:cNvSpPr txBox="1"/>
          <p:nvPr/>
        </p:nvSpPr>
        <p:spPr>
          <a:xfrm>
            <a:off x="609600" y="3962400"/>
            <a:ext cx="10972800" cy="1828800"/>
          </a:xfrm>
          <a:prstGeom prst="rect">
            <a:avLst/>
          </a:prstGeom>
          <a:noFill/>
          <a:ln/>
        </p:spPr>
        <p:txBody>
          <a:bodyPr wrap="square" lIns="0" tIns="0" rIns="0" bIns="0" rtlCol="0" anchor="t"/>
          <a:lstStyle/>
          <a:p>
            <a:pPr marL="457189" indent="-457189">
              <a:spcAft>
                <a:spcPts val="1067"/>
              </a:spcAft>
              <a:buSzPct val="100000"/>
              <a:buChar char="•"/>
            </a:pPr>
            <a:r>
              <a:rPr lang="en-US" sz="1733" dirty="0">
                <a:solidFill>
                  <a:srgbClr val="3D3D3D"/>
                </a:solidFill>
              </a:rPr>
              <a:t>A single number cannot answer this. 52 − 1 = 51, “yes, narrowly”, ignores the ±3 and the ±1.</a:t>
            </a:r>
            <a:endParaRPr lang="en-US" sz="1733" dirty="0"/>
          </a:p>
          <a:p>
            <a:pPr marL="457189" indent="-457189">
              <a:spcAft>
                <a:spcPts val="1067"/>
              </a:spcAft>
              <a:buSzPct val="100000"/>
              <a:buChar char="•"/>
            </a:pPr>
            <a:r>
              <a:rPr lang="en-US" sz="1733" dirty="0">
                <a:solidFill>
                  <a:srgbClr val="3D3D3D"/>
                </a:solidFill>
              </a:rPr>
              <a:t>The honest answer is a probability. Monte Carlo gets it by simulating ten thousand election nights, each with its own random poll error and turnout effect.</a:t>
            </a:r>
            <a:endParaRPr lang="en-US" sz="1733" dirty="0"/>
          </a:p>
        </p:txBody>
      </p:sp>
      <p:sp>
        <p:nvSpPr>
          <p:cNvPr id="25" name="Slide Number Placeholder 0"/>
          <p:cNvSpPr>
            <a:spLocks noGrp="1"/>
          </p:cNvSpPr>
          <p:nvPr>
            <p:ph type="sldNum" sz="quarter" idx="4294967295"/>
          </p:nvPr>
        </p:nvSpPr>
        <p:spPr>
          <a:xfrm>
            <a:off x="10972800" y="6339840"/>
            <a:ext cx="609600" cy="365760"/>
          </a:xfrm>
          <a:prstGeom prst="rect">
            <a:avLst/>
          </a:prstGeom>
          <a:extLst>
            <a:ext uri="{C572A759-6A51-4108-AA02-DFA0A04FC94B}">
              <ma14:wrappingTextBoxFlag xmlns="" xmlns:ma14="http://schemas.microsoft.com/office/mac/drawingml/2011/main" val="0"/>
            </a:ext>
          </a:extLst>
        </p:spPr>
        <p:txBody>
          <a:bodyPr/>
          <a:lstStyle>
            <a:lvl1pPr>
              <a:defRPr sz="1200">
                <a:solidFill>
                  <a:srgbClr val="6B6B6B"/>
                </a:solidFill>
              </a:defRPr>
            </a:lvl1pPr>
          </a:lstStyle>
          <a:p>
            <a:pPr algn="r"/>
            <a:fld id="{F7021451-1387-4CA6-816F-3879F97B5CBC}" type="slidenum">
              <a:rPr lang="en-US" b="0"/>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09600" y="426720"/>
            <a:ext cx="10972800" cy="914400"/>
          </a:xfrm>
          <a:prstGeom prst="rect">
            <a:avLst/>
          </a:prstGeom>
          <a:noFill/>
          <a:ln/>
        </p:spPr>
        <p:txBody>
          <a:bodyPr vert="horz" wrap="square" lIns="0" tIns="0" rIns="0" bIns="0" rtlCol="0" anchor="ctr">
            <a:normAutofit/>
          </a:bodyPr>
          <a:lstStyle/>
          <a:p>
            <a:r>
              <a:rPr lang="en-US" dirty="0"/>
              <a:t>Ten thousand election nights</a:t>
            </a:r>
          </a:p>
        </p:txBody>
      </p:sp>
      <p:sp>
        <p:nvSpPr>
          <p:cNvPr id="3" name="Text 1"/>
          <p:cNvSpPr txBox="1"/>
          <p:nvPr/>
        </p:nvSpPr>
        <p:spPr>
          <a:xfrm>
            <a:off x="8046720" y="6303264"/>
            <a:ext cx="2682240" cy="365760"/>
          </a:xfrm>
          <a:prstGeom prst="rect">
            <a:avLst/>
          </a:prstGeom>
          <a:solidFill>
            <a:srgbClr val="E6F2F2"/>
          </a:solidFill>
          <a:ln/>
        </p:spPr>
        <p:txBody>
          <a:bodyPr wrap="square" lIns="0" tIns="0" rIns="0" bIns="0" rtlCol="0" anchor="ctr"/>
          <a:lstStyle/>
          <a:p>
            <a:pPr algn="ctr"/>
            <a:r>
              <a:rPr lang="en-US" sz="1333" b="1" dirty="0">
                <a:solidFill>
                  <a:srgbClr val="0A5C5C"/>
                </a:solidFill>
              </a:rPr>
              <a:t>STOP 3 · REFERENDUM</a:t>
            </a:r>
            <a:endParaRPr lang="en-US" sz="1333" dirty="0"/>
          </a:p>
        </p:txBody>
      </p:sp>
      <p:pic>
        <p:nvPicPr>
          <p:cNvPr id="4" name="Image 0" descr="figs/fig7_referendum.png"/>
          <p:cNvPicPr>
            <a:picLocks noChangeAspect="1"/>
          </p:cNvPicPr>
          <p:nvPr/>
        </p:nvPicPr>
        <p:blipFill>
          <a:blip r:embed="rId3"/>
          <a:stretch>
            <a:fillRect/>
          </a:stretch>
        </p:blipFill>
        <p:spPr>
          <a:xfrm>
            <a:off x="609600" y="1613408"/>
            <a:ext cx="7193280" cy="3356864"/>
          </a:xfrm>
          <a:prstGeom prst="rect">
            <a:avLst/>
          </a:prstGeom>
        </p:spPr>
      </p:pic>
      <p:sp>
        <p:nvSpPr>
          <p:cNvPr id="5" name="Shape 2"/>
          <p:cNvSpPr/>
          <p:nvPr/>
        </p:nvSpPr>
        <p:spPr>
          <a:xfrm>
            <a:off x="8046720" y="1584960"/>
            <a:ext cx="3535680" cy="2011680"/>
          </a:xfrm>
          <a:prstGeom prst="roundRect">
            <a:avLst>
              <a:gd name="adj" fmla="val 6061"/>
            </a:avLst>
          </a:prstGeom>
          <a:solidFill>
            <a:srgbClr val="F3F9F9"/>
          </a:solidFill>
          <a:ln w="12700">
            <a:solidFill>
              <a:srgbClr val="E6F2F2"/>
            </a:solidFill>
            <a:prstDash val="solid"/>
          </a:ln>
        </p:spPr>
        <p:txBody>
          <a:bodyPr/>
          <a:lstStyle/>
          <a:p>
            <a:endParaRPr lang="en-GB" sz="2400"/>
          </a:p>
        </p:txBody>
      </p:sp>
      <p:sp>
        <p:nvSpPr>
          <p:cNvPr id="6" name="Text 3"/>
          <p:cNvSpPr txBox="1"/>
          <p:nvPr/>
        </p:nvSpPr>
        <p:spPr>
          <a:xfrm>
            <a:off x="8046720" y="1706880"/>
            <a:ext cx="3535680" cy="853440"/>
          </a:xfrm>
          <a:prstGeom prst="rect">
            <a:avLst/>
          </a:prstGeom>
          <a:noFill/>
          <a:ln/>
        </p:spPr>
        <p:txBody>
          <a:bodyPr wrap="square" lIns="0" tIns="0" rIns="0" bIns="0" rtlCol="0" anchor="ctr"/>
          <a:lstStyle/>
          <a:p>
            <a:pPr algn="ctr"/>
            <a:r>
              <a:rPr lang="en-US" sz="4000" b="1" dirty="0">
                <a:solidFill>
                  <a:srgbClr val="1D9E75"/>
                </a:solidFill>
              </a:rPr>
              <a:t>62%</a:t>
            </a:r>
            <a:endParaRPr lang="en-US" sz="4000" dirty="0"/>
          </a:p>
        </p:txBody>
      </p:sp>
      <p:sp>
        <p:nvSpPr>
          <p:cNvPr id="7" name="Text 4"/>
          <p:cNvSpPr txBox="1"/>
          <p:nvPr/>
        </p:nvSpPr>
        <p:spPr>
          <a:xfrm>
            <a:off x="8168640" y="2560320"/>
            <a:ext cx="3291840" cy="975360"/>
          </a:xfrm>
          <a:prstGeom prst="rect">
            <a:avLst/>
          </a:prstGeom>
          <a:noFill/>
          <a:ln/>
        </p:spPr>
        <p:txBody>
          <a:bodyPr wrap="square" lIns="0" tIns="0" rIns="0" bIns="0" rtlCol="0" anchor="t"/>
          <a:lstStyle/>
          <a:p>
            <a:pPr algn="ctr"/>
            <a:r>
              <a:rPr lang="en-US" sz="1467" dirty="0">
                <a:solidFill>
                  <a:srgbClr val="6B6B6B"/>
                </a:solidFill>
              </a:rPr>
              <a:t>chance the proposal passes</a:t>
            </a:r>
            <a:endParaRPr lang="en-US" sz="1467" dirty="0"/>
          </a:p>
        </p:txBody>
      </p:sp>
      <p:sp>
        <p:nvSpPr>
          <p:cNvPr id="8" name="Shape 5"/>
          <p:cNvSpPr/>
          <p:nvPr/>
        </p:nvSpPr>
        <p:spPr>
          <a:xfrm>
            <a:off x="8046720" y="3779520"/>
            <a:ext cx="3535680" cy="2011680"/>
          </a:xfrm>
          <a:prstGeom prst="roundRect">
            <a:avLst>
              <a:gd name="adj" fmla="val 6061"/>
            </a:avLst>
          </a:prstGeom>
          <a:solidFill>
            <a:srgbClr val="F3F9F9"/>
          </a:solidFill>
          <a:ln w="12700">
            <a:solidFill>
              <a:srgbClr val="E6F2F2"/>
            </a:solidFill>
            <a:prstDash val="solid"/>
          </a:ln>
        </p:spPr>
        <p:txBody>
          <a:bodyPr/>
          <a:lstStyle/>
          <a:p>
            <a:endParaRPr lang="en-GB" sz="2400"/>
          </a:p>
        </p:txBody>
      </p:sp>
      <p:sp>
        <p:nvSpPr>
          <p:cNvPr id="9" name="Text 6"/>
          <p:cNvSpPr txBox="1"/>
          <p:nvPr/>
        </p:nvSpPr>
        <p:spPr>
          <a:xfrm>
            <a:off x="8046720" y="3901440"/>
            <a:ext cx="3535680" cy="853440"/>
          </a:xfrm>
          <a:prstGeom prst="rect">
            <a:avLst/>
          </a:prstGeom>
          <a:noFill/>
          <a:ln/>
        </p:spPr>
        <p:txBody>
          <a:bodyPr wrap="square" lIns="0" tIns="0" rIns="0" bIns="0" rtlCol="0" anchor="ctr"/>
          <a:lstStyle/>
          <a:p>
            <a:pPr algn="ctr"/>
            <a:r>
              <a:rPr lang="en-US" sz="4000" b="1" dirty="0">
                <a:solidFill>
                  <a:srgbClr val="0F7F7F"/>
                </a:solidFill>
              </a:rPr>
              <a:t>46% – 56%</a:t>
            </a:r>
            <a:endParaRPr lang="en-US" sz="4000" dirty="0"/>
          </a:p>
        </p:txBody>
      </p:sp>
      <p:sp>
        <p:nvSpPr>
          <p:cNvPr id="10" name="Text 7"/>
          <p:cNvSpPr txBox="1"/>
          <p:nvPr/>
        </p:nvSpPr>
        <p:spPr>
          <a:xfrm>
            <a:off x="8168640" y="4754880"/>
            <a:ext cx="3291840" cy="975360"/>
          </a:xfrm>
          <a:prstGeom prst="rect">
            <a:avLst/>
          </a:prstGeom>
          <a:noFill/>
          <a:ln/>
        </p:spPr>
        <p:txBody>
          <a:bodyPr wrap="square" lIns="0" tIns="0" rIns="0" bIns="0" rtlCol="0" anchor="t"/>
          <a:lstStyle/>
          <a:p>
            <a:pPr algn="ctr"/>
            <a:r>
              <a:rPr lang="en-US" sz="1467" dirty="0">
                <a:solidFill>
                  <a:srgbClr val="6B6B6B"/>
                </a:solidFill>
              </a:rPr>
              <a:t>90% of outcomes fall in this range</a:t>
            </a:r>
            <a:endParaRPr lang="en-US" sz="1467" dirty="0"/>
          </a:p>
        </p:txBody>
      </p:sp>
      <p:sp>
        <p:nvSpPr>
          <p:cNvPr id="11" name="Text 8"/>
          <p:cNvSpPr txBox="1"/>
          <p:nvPr/>
        </p:nvSpPr>
        <p:spPr>
          <a:xfrm>
            <a:off x="609600" y="5120640"/>
            <a:ext cx="7193280" cy="1097280"/>
          </a:xfrm>
          <a:prstGeom prst="rect">
            <a:avLst/>
          </a:prstGeom>
          <a:noFill/>
          <a:ln/>
        </p:spPr>
        <p:txBody>
          <a:bodyPr wrap="square" lIns="0" tIns="0" rIns="0" bIns="0" rtlCol="0" anchor="t"/>
          <a:lstStyle/>
          <a:p>
            <a:r>
              <a:rPr lang="en-US" sz="1600" dirty="0">
                <a:solidFill>
                  <a:srgbClr val="3D3D3D"/>
                </a:solidFill>
              </a:rPr>
              <a:t>Three things the number 52 could not say: it will probably pass; there is a real chance (38%) it fails; almost any result between 46 and 56 would be unsurprising.</a:t>
            </a:r>
            <a:endParaRPr lang="en-US" sz="1600" dirty="0"/>
          </a:p>
        </p:txBody>
      </p:sp>
      <p:sp>
        <p:nvSpPr>
          <p:cNvPr id="12" name="Text 9"/>
          <p:cNvSpPr txBox="1"/>
          <p:nvPr/>
        </p:nvSpPr>
        <p:spPr>
          <a:xfrm>
            <a:off x="609600" y="5913120"/>
            <a:ext cx="10241280" cy="365760"/>
          </a:xfrm>
          <a:prstGeom prst="rect">
            <a:avLst/>
          </a:prstGeom>
          <a:noFill/>
          <a:ln/>
        </p:spPr>
        <p:txBody>
          <a:bodyPr wrap="square" lIns="0" tIns="0" rIns="0" bIns="0" rtlCol="0" anchor="t"/>
          <a:lstStyle/>
          <a:p>
            <a:r>
              <a:rPr lang="en-US" sz="1200" i="1" dirty="0">
                <a:solidFill>
                  <a:srgbClr val="6B6B6B"/>
                </a:solidFill>
              </a:rPr>
              <a:t>Verschuuren, G. M. (2017). 100 Excel Simulations: “taming the future” with NORMINV.</a:t>
            </a:r>
            <a:endParaRPr lang="en-US" sz="1200" dirty="0"/>
          </a:p>
        </p:txBody>
      </p:sp>
      <p:sp>
        <p:nvSpPr>
          <p:cNvPr id="25" name="Slide Number Placeholder 0"/>
          <p:cNvSpPr>
            <a:spLocks noGrp="1"/>
          </p:cNvSpPr>
          <p:nvPr>
            <p:ph type="sldNum" sz="quarter" idx="4294967295"/>
          </p:nvPr>
        </p:nvSpPr>
        <p:spPr>
          <a:xfrm>
            <a:off x="10972800" y="6339840"/>
            <a:ext cx="609600" cy="365760"/>
          </a:xfrm>
          <a:prstGeom prst="rect">
            <a:avLst/>
          </a:prstGeom>
          <a:extLst>
            <a:ext uri="{C572A759-6A51-4108-AA02-DFA0A04FC94B}">
              <ma14:wrappingTextBoxFlag xmlns="" xmlns:ma14="http://schemas.microsoft.com/office/mac/drawingml/2011/main" val="0"/>
            </a:ext>
          </a:extLst>
        </p:spPr>
        <p:txBody>
          <a:bodyPr/>
          <a:lstStyle>
            <a:lvl1pPr>
              <a:defRPr sz="1200">
                <a:solidFill>
                  <a:srgbClr val="6B6B6B"/>
                </a:solidFill>
              </a:defRPr>
            </a:lvl1pPr>
          </a:lstStyle>
          <a:p>
            <a:pPr algn="r"/>
            <a:fld id="{F7021451-1387-4CA6-816F-3879F97B5CBC}" type="slidenum">
              <a:rPr lang="en-US" b="0"/>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09600" y="426720"/>
            <a:ext cx="10972800" cy="914400"/>
          </a:xfrm>
          <a:prstGeom prst="rect">
            <a:avLst/>
          </a:prstGeom>
          <a:noFill/>
          <a:ln/>
        </p:spPr>
        <p:txBody>
          <a:bodyPr vert="horz" wrap="square" lIns="0" tIns="0" rIns="0" bIns="0" rtlCol="0" anchor="ctr">
            <a:normAutofit/>
          </a:bodyPr>
          <a:lstStyle/>
          <a:p>
            <a:r>
              <a:rPr lang="en-US" dirty="0"/>
              <a:t>Stop 3 · On your screen</a:t>
            </a:r>
          </a:p>
        </p:txBody>
      </p:sp>
      <p:sp>
        <p:nvSpPr>
          <p:cNvPr id="3" name="Shape 1"/>
          <p:cNvSpPr/>
          <p:nvPr/>
        </p:nvSpPr>
        <p:spPr>
          <a:xfrm>
            <a:off x="609600" y="1463040"/>
            <a:ext cx="5303520" cy="1158240"/>
          </a:xfrm>
          <a:prstGeom prst="roundRect">
            <a:avLst>
              <a:gd name="adj" fmla="val 8421"/>
            </a:avLst>
          </a:prstGeom>
          <a:solidFill>
            <a:srgbClr val="E6F2F2"/>
          </a:solidFill>
          <a:ln w="12700">
            <a:solidFill>
              <a:srgbClr val="E6F2F2"/>
            </a:solidFill>
            <a:prstDash val="solid"/>
          </a:ln>
        </p:spPr>
        <p:txBody>
          <a:bodyPr/>
          <a:lstStyle/>
          <a:p>
            <a:endParaRPr lang="en-GB" sz="2400"/>
          </a:p>
        </p:txBody>
      </p:sp>
      <p:sp>
        <p:nvSpPr>
          <p:cNvPr id="4" name="Text 2"/>
          <p:cNvSpPr txBox="1"/>
          <p:nvPr/>
        </p:nvSpPr>
        <p:spPr>
          <a:xfrm>
            <a:off x="792480" y="1463040"/>
            <a:ext cx="4998720" cy="1158240"/>
          </a:xfrm>
          <a:prstGeom prst="rect">
            <a:avLst/>
          </a:prstGeom>
          <a:noFill/>
          <a:ln/>
        </p:spPr>
        <p:txBody>
          <a:bodyPr wrap="square" lIns="0" tIns="0" rIns="0" bIns="0" rtlCol="0" anchor="ctr"/>
          <a:lstStyle/>
          <a:p>
            <a:r>
              <a:rPr lang="en-US" sz="1600" b="1" dirty="0">
                <a:solidFill>
                  <a:srgbClr val="0A5C5C"/>
                </a:solidFill>
              </a:rPr>
              <a:t>Website animation  </a:t>
            </a:r>
            <a:r>
              <a:rPr lang="en-US" sz="1600" dirty="0">
                <a:solidFill>
                  <a:srgbClr val="3D3D3D"/>
                </a:solidFill>
              </a:rPr>
              <a:t>“Referendum”: three sliders for the inputs, one for the number of simulations.</a:t>
            </a:r>
            <a:endParaRPr lang="en-US" sz="1600" dirty="0"/>
          </a:p>
        </p:txBody>
      </p:sp>
      <p:sp>
        <p:nvSpPr>
          <p:cNvPr id="5" name="Shape 3"/>
          <p:cNvSpPr/>
          <p:nvPr/>
        </p:nvSpPr>
        <p:spPr>
          <a:xfrm>
            <a:off x="6278880" y="1463040"/>
            <a:ext cx="5303520" cy="1158240"/>
          </a:xfrm>
          <a:prstGeom prst="roundRect">
            <a:avLst>
              <a:gd name="adj" fmla="val 8421"/>
            </a:avLst>
          </a:prstGeom>
          <a:solidFill>
            <a:srgbClr val="FBEBDD"/>
          </a:solidFill>
          <a:ln w="12700">
            <a:solidFill>
              <a:srgbClr val="FBEBDD"/>
            </a:solidFill>
            <a:prstDash val="solid"/>
          </a:ln>
        </p:spPr>
        <p:txBody>
          <a:bodyPr/>
          <a:lstStyle/>
          <a:p>
            <a:endParaRPr lang="en-GB" sz="2400"/>
          </a:p>
        </p:txBody>
      </p:sp>
      <p:sp>
        <p:nvSpPr>
          <p:cNvPr id="6" name="Text 4"/>
          <p:cNvSpPr txBox="1"/>
          <p:nvPr/>
        </p:nvSpPr>
        <p:spPr>
          <a:xfrm>
            <a:off x="6461760" y="1463040"/>
            <a:ext cx="4998720" cy="1158240"/>
          </a:xfrm>
          <a:prstGeom prst="rect">
            <a:avLst/>
          </a:prstGeom>
          <a:noFill/>
          <a:ln/>
        </p:spPr>
        <p:txBody>
          <a:bodyPr wrap="square" lIns="0" tIns="0" rIns="0" bIns="0" rtlCol="0" anchor="ctr"/>
          <a:lstStyle/>
          <a:p>
            <a:r>
              <a:rPr lang="en-US" sz="1600" b="1" dirty="0">
                <a:solidFill>
                  <a:srgbClr val="7A4A1E"/>
                </a:solidFill>
              </a:rPr>
              <a:t>Notebook  </a:t>
            </a:r>
            <a:r>
              <a:rPr lang="en-US" sz="1600" dirty="0">
                <a:solidFill>
                  <a:srgbClr val="3D3D3D"/>
                </a:solidFill>
              </a:rPr>
              <a:t>sections 3.1 and 3.2, the ▶ Try it cell, and the budget exercise skeleton.</a:t>
            </a:r>
            <a:endParaRPr lang="en-US" sz="1600" dirty="0"/>
          </a:p>
        </p:txBody>
      </p:sp>
      <p:graphicFrame>
        <p:nvGraphicFramePr>
          <p:cNvPr id="30" name="Table 0"/>
          <p:cNvGraphicFramePr>
            <a:graphicFrameLocks noGrp="1"/>
          </p:cNvGraphicFramePr>
          <p:nvPr/>
        </p:nvGraphicFramePr>
        <p:xfrm>
          <a:off x="609600" y="2804160"/>
          <a:ext cx="10972800" cy="2560320"/>
        </p:xfrm>
        <a:graphic>
          <a:graphicData uri="http://schemas.openxmlformats.org/drawingml/2006/table">
            <a:tbl>
              <a:tblPr/>
              <a:tblGrid>
                <a:gridCol w="2072640">
                  <a:extLst>
                    <a:ext uri="{9D8B030D-6E8A-4147-A177-3AD203B41FA5}">
                      <a16:colId xmlns:a16="http://schemas.microsoft.com/office/drawing/2014/main" val="20000"/>
                    </a:ext>
                  </a:extLst>
                </a:gridCol>
                <a:gridCol w="4145280">
                  <a:extLst>
                    <a:ext uri="{9D8B030D-6E8A-4147-A177-3AD203B41FA5}">
                      <a16:colId xmlns:a16="http://schemas.microsoft.com/office/drawing/2014/main" val="20001"/>
                    </a:ext>
                  </a:extLst>
                </a:gridCol>
                <a:gridCol w="4754880">
                  <a:extLst>
                    <a:ext uri="{9D8B030D-6E8A-4147-A177-3AD203B41FA5}">
                      <a16:colId xmlns:a16="http://schemas.microsoft.com/office/drawing/2014/main" val="20002"/>
                    </a:ext>
                  </a:extLst>
                </a:gridCol>
              </a:tblGrid>
              <a:tr h="369824">
                <a:tc>
                  <a:txBody>
                    <a:bodyPr/>
                    <a:lstStyle/>
                    <a:p>
                      <a:pPr marL="0" indent="0">
                        <a:buNone/>
                      </a:pPr>
                      <a:r>
                        <a:rPr lang="en-US" sz="1500" b="1" dirty="0">
                          <a:solidFill>
                            <a:srgbClr val="0A5C5C"/>
                          </a:solidFill>
                          <a:latin typeface="Calibri" pitchFamily="34" charset="0"/>
                          <a:ea typeface="Calibri" pitchFamily="34" charset="-122"/>
                          <a:cs typeface="Calibri" pitchFamily="34" charset="-120"/>
                        </a:rPr>
                        <a:t>Parameter</a:t>
                      </a:r>
                      <a:endParaRPr lang="en-US" sz="1500" dirty="0">
                        <a:latin typeface="Calibri" charset="0"/>
                        <a:ea typeface="Calibri" charset="0"/>
                        <a:cs typeface="Calibri" charset="0"/>
                      </a:endParaRPr>
                    </a:p>
                  </a:txBody>
                  <a:tcPr marL="73152" marR="73152" marT="73152" marB="73152">
                    <a:lnL w="6350" cap="flat" cmpd="sng" algn="ctr">
                      <a:solidFill>
                        <a:srgbClr val="D9ECEC"/>
                      </a:solidFill>
                      <a:prstDash val="solid"/>
                      <a:round/>
                      <a:headEnd type="none" w="med" len="med"/>
                      <a:tailEnd type="none" w="med" len="med"/>
                    </a:lnL>
                    <a:lnR w="6350" cap="flat" cmpd="sng" algn="ctr">
                      <a:solidFill>
                        <a:srgbClr val="D9ECEC"/>
                      </a:solidFill>
                      <a:prstDash val="solid"/>
                      <a:round/>
                      <a:headEnd type="none" w="med" len="med"/>
                      <a:tailEnd type="none" w="med" len="med"/>
                    </a:lnR>
                    <a:lnT w="6350" cap="flat" cmpd="sng" algn="ctr">
                      <a:solidFill>
                        <a:srgbClr val="D9ECEC"/>
                      </a:solidFill>
                      <a:prstDash val="solid"/>
                      <a:round/>
                      <a:headEnd type="none" w="med" len="med"/>
                      <a:tailEnd type="none" w="med" len="med"/>
                    </a:lnT>
                    <a:lnB w="6350" cap="flat" cmpd="sng" algn="ctr">
                      <a:solidFill>
                        <a:srgbClr val="D9ECEC"/>
                      </a:solidFill>
                      <a:prstDash val="solid"/>
                      <a:round/>
                      <a:headEnd type="none" w="med" len="med"/>
                      <a:tailEnd type="none" w="med" len="med"/>
                    </a:lnB>
                    <a:solidFill>
                      <a:srgbClr val="F3F9F9"/>
                    </a:solidFill>
                  </a:tcPr>
                </a:tc>
                <a:tc>
                  <a:txBody>
                    <a:bodyPr/>
                    <a:lstStyle/>
                    <a:p>
                      <a:pPr marL="0" indent="0">
                        <a:buNone/>
                      </a:pPr>
                      <a:r>
                        <a:rPr lang="en-US" sz="1500" b="1" dirty="0">
                          <a:solidFill>
                            <a:srgbClr val="0A5C5C"/>
                          </a:solidFill>
                          <a:latin typeface="Calibri" pitchFamily="34" charset="0"/>
                          <a:ea typeface="Calibri" pitchFamily="34" charset="-122"/>
                          <a:cs typeface="Calibri" pitchFamily="34" charset="-120"/>
                        </a:rPr>
                        <a:t>What it means</a:t>
                      </a:r>
                      <a:endParaRPr lang="en-US" sz="1500" dirty="0">
                        <a:latin typeface="Calibri" charset="0"/>
                        <a:ea typeface="Calibri" charset="0"/>
                        <a:cs typeface="Calibri" charset="0"/>
                      </a:endParaRPr>
                    </a:p>
                  </a:txBody>
                  <a:tcPr marL="73152" marR="73152" marT="73152" marB="73152">
                    <a:lnL w="6350" cap="flat" cmpd="sng" algn="ctr">
                      <a:solidFill>
                        <a:srgbClr val="D9ECEC"/>
                      </a:solidFill>
                      <a:prstDash val="solid"/>
                      <a:round/>
                      <a:headEnd type="none" w="med" len="med"/>
                      <a:tailEnd type="none" w="med" len="med"/>
                    </a:lnL>
                    <a:lnR w="6350" cap="flat" cmpd="sng" algn="ctr">
                      <a:solidFill>
                        <a:srgbClr val="D9ECEC"/>
                      </a:solidFill>
                      <a:prstDash val="solid"/>
                      <a:round/>
                      <a:headEnd type="none" w="med" len="med"/>
                      <a:tailEnd type="none" w="med" len="med"/>
                    </a:lnR>
                    <a:lnT w="6350" cap="flat" cmpd="sng" algn="ctr">
                      <a:solidFill>
                        <a:srgbClr val="D9ECEC"/>
                      </a:solidFill>
                      <a:prstDash val="solid"/>
                      <a:round/>
                      <a:headEnd type="none" w="med" len="med"/>
                      <a:tailEnd type="none" w="med" len="med"/>
                    </a:lnT>
                    <a:lnB w="6350" cap="flat" cmpd="sng" algn="ctr">
                      <a:solidFill>
                        <a:srgbClr val="D9ECEC"/>
                      </a:solidFill>
                      <a:prstDash val="solid"/>
                      <a:round/>
                      <a:headEnd type="none" w="med" len="med"/>
                      <a:tailEnd type="none" w="med" len="med"/>
                    </a:lnB>
                    <a:solidFill>
                      <a:srgbClr val="F3F9F9"/>
                    </a:solidFill>
                  </a:tcPr>
                </a:tc>
                <a:tc>
                  <a:txBody>
                    <a:bodyPr/>
                    <a:lstStyle/>
                    <a:p>
                      <a:pPr marL="0" indent="0">
                        <a:buNone/>
                      </a:pPr>
                      <a:r>
                        <a:rPr lang="en-US" sz="1500" b="1" dirty="0">
                          <a:solidFill>
                            <a:srgbClr val="0A5C5C"/>
                          </a:solidFill>
                          <a:latin typeface="Calibri" pitchFamily="34" charset="0"/>
                          <a:ea typeface="Calibri" pitchFamily="34" charset="-122"/>
                          <a:cs typeface="Calibri" pitchFamily="34" charset="-120"/>
                        </a:rPr>
                        <a:t>What to watch</a:t>
                      </a:r>
                      <a:endParaRPr lang="en-US" sz="1500" dirty="0">
                        <a:latin typeface="Calibri" charset="0"/>
                        <a:ea typeface="Calibri" charset="0"/>
                        <a:cs typeface="Calibri" charset="0"/>
                      </a:endParaRPr>
                    </a:p>
                  </a:txBody>
                  <a:tcPr marL="73152" marR="73152" marT="73152" marB="73152">
                    <a:lnL w="6350" cap="flat" cmpd="sng" algn="ctr">
                      <a:solidFill>
                        <a:srgbClr val="D9ECEC"/>
                      </a:solidFill>
                      <a:prstDash val="solid"/>
                      <a:round/>
                      <a:headEnd type="none" w="med" len="med"/>
                      <a:tailEnd type="none" w="med" len="med"/>
                    </a:lnL>
                    <a:lnR w="6350" cap="flat" cmpd="sng" algn="ctr">
                      <a:solidFill>
                        <a:srgbClr val="D9ECEC"/>
                      </a:solidFill>
                      <a:prstDash val="solid"/>
                      <a:round/>
                      <a:headEnd type="none" w="med" len="med"/>
                      <a:tailEnd type="none" w="med" len="med"/>
                    </a:lnR>
                    <a:lnT w="6350" cap="flat" cmpd="sng" algn="ctr">
                      <a:solidFill>
                        <a:srgbClr val="D9ECEC"/>
                      </a:solidFill>
                      <a:prstDash val="solid"/>
                      <a:round/>
                      <a:headEnd type="none" w="med" len="med"/>
                      <a:tailEnd type="none" w="med" len="med"/>
                    </a:lnT>
                    <a:lnB w="6350" cap="flat" cmpd="sng" algn="ctr">
                      <a:solidFill>
                        <a:srgbClr val="D9ECEC"/>
                      </a:solidFill>
                      <a:prstDash val="solid"/>
                      <a:round/>
                      <a:headEnd type="none" w="med" len="med"/>
                      <a:tailEnd type="none" w="med" len="med"/>
                    </a:lnB>
                    <a:solidFill>
                      <a:srgbClr val="F3F9F9"/>
                    </a:solidFill>
                  </a:tcPr>
                </a:tc>
                <a:extLst>
                  <a:ext uri="{0D108BD9-81ED-4DB2-BD59-A6C34878D82A}">
                    <a16:rowId xmlns:a16="http://schemas.microsoft.com/office/drawing/2014/main" val="10000"/>
                  </a:ext>
                </a:extLst>
              </a:tr>
              <a:tr h="593344">
                <a:tc>
                  <a:txBody>
                    <a:bodyPr/>
                    <a:lstStyle/>
                    <a:p>
                      <a:pPr marL="0" indent="0">
                        <a:buNone/>
                      </a:pPr>
                      <a:r>
                        <a:rPr lang="en-US" sz="1500" b="1" dirty="0">
                          <a:solidFill>
                            <a:srgbClr val="3D3D3D"/>
                          </a:solidFill>
                          <a:latin typeface="Calibri" pitchFamily="34" charset="0"/>
                          <a:ea typeface="Calibri" pitchFamily="34" charset="-122"/>
                          <a:cs typeface="Calibri" pitchFamily="34" charset="-120"/>
                        </a:rPr>
                        <a:t>Polled yes %</a:t>
                      </a:r>
                      <a:endParaRPr lang="en-US" sz="1500" dirty="0">
                        <a:latin typeface="Calibri" charset="0"/>
                        <a:ea typeface="Calibri" charset="0"/>
                        <a:cs typeface="Calibri" charset="0"/>
                      </a:endParaRPr>
                    </a:p>
                  </a:txBody>
                  <a:tcPr marL="73152" marR="73152" marT="73152" marB="73152">
                    <a:lnL w="6350" cap="flat" cmpd="sng" algn="ctr">
                      <a:solidFill>
                        <a:srgbClr val="D9ECEC"/>
                      </a:solidFill>
                      <a:prstDash val="solid"/>
                      <a:round/>
                      <a:headEnd type="none" w="med" len="med"/>
                      <a:tailEnd type="none" w="med" len="med"/>
                    </a:lnL>
                    <a:lnR w="6350" cap="flat" cmpd="sng" algn="ctr">
                      <a:solidFill>
                        <a:srgbClr val="D9ECEC"/>
                      </a:solidFill>
                      <a:prstDash val="solid"/>
                      <a:round/>
                      <a:headEnd type="none" w="med" len="med"/>
                      <a:tailEnd type="none" w="med" len="med"/>
                    </a:lnR>
                    <a:lnT w="6350" cap="flat" cmpd="sng" algn="ctr">
                      <a:solidFill>
                        <a:srgbClr val="D9ECEC"/>
                      </a:solidFill>
                      <a:prstDash val="solid"/>
                      <a:round/>
                      <a:headEnd type="none" w="med" len="med"/>
                      <a:tailEnd type="none" w="med" len="med"/>
                    </a:lnT>
                    <a:lnB w="6350" cap="flat" cmpd="sng" algn="ctr">
                      <a:solidFill>
                        <a:srgbClr val="D9ECEC"/>
                      </a:solidFill>
                      <a:prstDash val="solid"/>
                      <a:round/>
                      <a:headEnd type="none" w="med" len="med"/>
                      <a:tailEnd type="none" w="med" len="med"/>
                    </a:lnB>
                  </a:tcPr>
                </a:tc>
                <a:tc>
                  <a:txBody>
                    <a:bodyPr/>
                    <a:lstStyle/>
                    <a:p>
                      <a:pPr marL="0" indent="0">
                        <a:buNone/>
                      </a:pPr>
                      <a:r>
                        <a:rPr lang="en-US" sz="1500" dirty="0">
                          <a:solidFill>
                            <a:srgbClr val="3D3D3D"/>
                          </a:solidFill>
                          <a:latin typeface="Calibri" pitchFamily="34" charset="0"/>
                          <a:ea typeface="Calibri" pitchFamily="34" charset="-122"/>
                          <a:cs typeface="Calibri" pitchFamily="34" charset="-120"/>
                        </a:rPr>
                        <a:t>What the last polls say</a:t>
                      </a:r>
                      <a:endParaRPr lang="en-US" sz="1500" dirty="0">
                        <a:latin typeface="Calibri" charset="0"/>
                        <a:ea typeface="Calibri" charset="0"/>
                        <a:cs typeface="Calibri" charset="0"/>
                      </a:endParaRPr>
                    </a:p>
                  </a:txBody>
                  <a:tcPr marL="73152" marR="73152" marT="73152" marB="73152">
                    <a:lnL w="6350" cap="flat" cmpd="sng" algn="ctr">
                      <a:solidFill>
                        <a:srgbClr val="D9ECEC"/>
                      </a:solidFill>
                      <a:prstDash val="solid"/>
                      <a:round/>
                      <a:headEnd type="none" w="med" len="med"/>
                      <a:tailEnd type="none" w="med" len="med"/>
                    </a:lnL>
                    <a:lnR w="6350" cap="flat" cmpd="sng" algn="ctr">
                      <a:solidFill>
                        <a:srgbClr val="D9ECEC"/>
                      </a:solidFill>
                      <a:prstDash val="solid"/>
                      <a:round/>
                      <a:headEnd type="none" w="med" len="med"/>
                      <a:tailEnd type="none" w="med" len="med"/>
                    </a:lnR>
                    <a:lnT w="6350" cap="flat" cmpd="sng" algn="ctr">
                      <a:solidFill>
                        <a:srgbClr val="D9ECEC"/>
                      </a:solidFill>
                      <a:prstDash val="solid"/>
                      <a:round/>
                      <a:headEnd type="none" w="med" len="med"/>
                      <a:tailEnd type="none" w="med" len="med"/>
                    </a:lnT>
                    <a:lnB w="6350" cap="flat" cmpd="sng" algn="ctr">
                      <a:solidFill>
                        <a:srgbClr val="D9ECEC"/>
                      </a:solidFill>
                      <a:prstDash val="solid"/>
                      <a:round/>
                      <a:headEnd type="none" w="med" len="med"/>
                      <a:tailEnd type="none" w="med" len="med"/>
                    </a:lnB>
                  </a:tcPr>
                </a:tc>
                <a:tc>
                  <a:txBody>
                    <a:bodyPr/>
                    <a:lstStyle/>
                    <a:p>
                      <a:pPr marL="0" indent="0">
                        <a:buNone/>
                      </a:pPr>
                      <a:r>
                        <a:rPr lang="en-US" sz="1500" dirty="0">
                          <a:solidFill>
                            <a:srgbClr val="3D3D3D"/>
                          </a:solidFill>
                          <a:latin typeface="Calibri" pitchFamily="34" charset="0"/>
                          <a:ea typeface="Calibri" pitchFamily="34" charset="-122"/>
                          <a:cs typeface="Calibri" pitchFamily="34" charset="-120"/>
                        </a:rPr>
                        <a:t>Move it toward 50: the pass probability falls fast near the line</a:t>
                      </a:r>
                      <a:endParaRPr lang="en-US" sz="1500" dirty="0">
                        <a:latin typeface="Calibri" charset="0"/>
                        <a:ea typeface="Calibri" charset="0"/>
                        <a:cs typeface="Calibri" charset="0"/>
                      </a:endParaRPr>
                    </a:p>
                  </a:txBody>
                  <a:tcPr marL="73152" marR="73152" marT="73152" marB="73152">
                    <a:lnL w="6350" cap="flat" cmpd="sng" algn="ctr">
                      <a:solidFill>
                        <a:srgbClr val="D9ECEC"/>
                      </a:solidFill>
                      <a:prstDash val="solid"/>
                      <a:round/>
                      <a:headEnd type="none" w="med" len="med"/>
                      <a:tailEnd type="none" w="med" len="med"/>
                    </a:lnL>
                    <a:lnR w="6350" cap="flat" cmpd="sng" algn="ctr">
                      <a:solidFill>
                        <a:srgbClr val="D9ECEC"/>
                      </a:solidFill>
                      <a:prstDash val="solid"/>
                      <a:round/>
                      <a:headEnd type="none" w="med" len="med"/>
                      <a:tailEnd type="none" w="med" len="med"/>
                    </a:lnR>
                    <a:lnT w="6350" cap="flat" cmpd="sng" algn="ctr">
                      <a:solidFill>
                        <a:srgbClr val="D9ECEC"/>
                      </a:solidFill>
                      <a:prstDash val="solid"/>
                      <a:round/>
                      <a:headEnd type="none" w="med" len="med"/>
                      <a:tailEnd type="none" w="med" len="med"/>
                    </a:lnT>
                    <a:lnB w="6350" cap="flat" cmpd="sng" algn="ctr">
                      <a:solidFill>
                        <a:srgbClr val="D9ECEC"/>
                      </a:solidFill>
                      <a:prstDash val="solid"/>
                      <a:round/>
                      <a:headEnd type="none" w="med" len="med"/>
                      <a:tailEnd type="none" w="med" len="med"/>
                    </a:lnB>
                  </a:tcPr>
                </a:tc>
                <a:extLst>
                  <a:ext uri="{0D108BD9-81ED-4DB2-BD59-A6C34878D82A}">
                    <a16:rowId xmlns:a16="http://schemas.microsoft.com/office/drawing/2014/main" val="10001"/>
                  </a:ext>
                </a:extLst>
              </a:tr>
              <a:tr h="593344">
                <a:tc>
                  <a:txBody>
                    <a:bodyPr/>
                    <a:lstStyle/>
                    <a:p>
                      <a:pPr marL="0" indent="0">
                        <a:buNone/>
                      </a:pPr>
                      <a:r>
                        <a:rPr lang="en-US" sz="1500" b="1" dirty="0">
                          <a:solidFill>
                            <a:srgbClr val="3D3D3D"/>
                          </a:solidFill>
                          <a:latin typeface="Calibri" pitchFamily="34" charset="0"/>
                          <a:ea typeface="Calibri" pitchFamily="34" charset="-122"/>
                          <a:cs typeface="Calibri" pitchFamily="34" charset="-120"/>
                        </a:rPr>
                        <a:t>Poll error ±</a:t>
                      </a:r>
                      <a:endParaRPr lang="en-US" sz="1500" dirty="0">
                        <a:latin typeface="Calibri" charset="0"/>
                        <a:ea typeface="Calibri" charset="0"/>
                        <a:cs typeface="Calibri" charset="0"/>
                      </a:endParaRPr>
                    </a:p>
                  </a:txBody>
                  <a:tcPr marL="73152" marR="73152" marT="73152" marB="73152">
                    <a:lnL w="6350" cap="flat" cmpd="sng" algn="ctr">
                      <a:solidFill>
                        <a:srgbClr val="D9ECEC"/>
                      </a:solidFill>
                      <a:prstDash val="solid"/>
                      <a:round/>
                      <a:headEnd type="none" w="med" len="med"/>
                      <a:tailEnd type="none" w="med" len="med"/>
                    </a:lnL>
                    <a:lnR w="6350" cap="flat" cmpd="sng" algn="ctr">
                      <a:solidFill>
                        <a:srgbClr val="D9ECEC"/>
                      </a:solidFill>
                      <a:prstDash val="solid"/>
                      <a:round/>
                      <a:headEnd type="none" w="med" len="med"/>
                      <a:tailEnd type="none" w="med" len="med"/>
                    </a:lnR>
                    <a:lnT w="6350" cap="flat" cmpd="sng" algn="ctr">
                      <a:solidFill>
                        <a:srgbClr val="D9ECEC"/>
                      </a:solidFill>
                      <a:prstDash val="solid"/>
                      <a:round/>
                      <a:headEnd type="none" w="med" len="med"/>
                      <a:tailEnd type="none" w="med" len="med"/>
                    </a:lnT>
                    <a:lnB w="6350" cap="flat" cmpd="sng" algn="ctr">
                      <a:solidFill>
                        <a:srgbClr val="D9ECEC"/>
                      </a:solidFill>
                      <a:prstDash val="solid"/>
                      <a:round/>
                      <a:headEnd type="none" w="med" len="med"/>
                      <a:tailEnd type="none" w="med" len="med"/>
                    </a:lnB>
                  </a:tcPr>
                </a:tc>
                <a:tc>
                  <a:txBody>
                    <a:bodyPr/>
                    <a:lstStyle/>
                    <a:p>
                      <a:pPr marL="0" indent="0">
                        <a:buNone/>
                      </a:pPr>
                      <a:r>
                        <a:rPr lang="en-US" sz="1500" dirty="0">
                          <a:solidFill>
                            <a:srgbClr val="3D3D3D"/>
                          </a:solidFill>
                          <a:latin typeface="Calibri" pitchFamily="34" charset="0"/>
                          <a:ea typeface="Calibri" pitchFamily="34" charset="-122"/>
                          <a:cs typeface="Calibri" pitchFamily="34" charset="-120"/>
                        </a:rPr>
                        <a:t>How wrong polls usually are (SD, points)</a:t>
                      </a:r>
                      <a:endParaRPr lang="en-US" sz="1500" dirty="0">
                        <a:latin typeface="Calibri" charset="0"/>
                        <a:ea typeface="Calibri" charset="0"/>
                        <a:cs typeface="Calibri" charset="0"/>
                      </a:endParaRPr>
                    </a:p>
                  </a:txBody>
                  <a:tcPr marL="73152" marR="73152" marT="73152" marB="73152">
                    <a:lnL w="6350" cap="flat" cmpd="sng" algn="ctr">
                      <a:solidFill>
                        <a:srgbClr val="D9ECEC"/>
                      </a:solidFill>
                      <a:prstDash val="solid"/>
                      <a:round/>
                      <a:headEnd type="none" w="med" len="med"/>
                      <a:tailEnd type="none" w="med" len="med"/>
                    </a:lnL>
                    <a:lnR w="6350" cap="flat" cmpd="sng" algn="ctr">
                      <a:solidFill>
                        <a:srgbClr val="D9ECEC"/>
                      </a:solidFill>
                      <a:prstDash val="solid"/>
                      <a:round/>
                      <a:headEnd type="none" w="med" len="med"/>
                      <a:tailEnd type="none" w="med" len="med"/>
                    </a:lnR>
                    <a:lnT w="6350" cap="flat" cmpd="sng" algn="ctr">
                      <a:solidFill>
                        <a:srgbClr val="D9ECEC"/>
                      </a:solidFill>
                      <a:prstDash val="solid"/>
                      <a:round/>
                      <a:headEnd type="none" w="med" len="med"/>
                      <a:tailEnd type="none" w="med" len="med"/>
                    </a:lnT>
                    <a:lnB w="6350" cap="flat" cmpd="sng" algn="ctr">
                      <a:solidFill>
                        <a:srgbClr val="D9ECEC"/>
                      </a:solidFill>
                      <a:prstDash val="solid"/>
                      <a:round/>
                      <a:headEnd type="none" w="med" len="med"/>
                      <a:tailEnd type="none" w="med" len="med"/>
                    </a:lnB>
                  </a:tcPr>
                </a:tc>
                <a:tc>
                  <a:txBody>
                    <a:bodyPr/>
                    <a:lstStyle/>
                    <a:p>
                      <a:pPr marL="0" indent="0">
                        <a:buNone/>
                      </a:pPr>
                      <a:r>
                        <a:rPr lang="en-US" sz="1500" dirty="0">
                          <a:solidFill>
                            <a:srgbClr val="3D3D3D"/>
                          </a:solidFill>
                          <a:latin typeface="Calibri" pitchFamily="34" charset="0"/>
                          <a:ea typeface="Calibri" pitchFamily="34" charset="-122"/>
                          <a:cs typeface="Calibri" pitchFamily="34" charset="-120"/>
                        </a:rPr>
                        <a:t>Widen it: the histogram flattens and the probability moves toward 50/50</a:t>
                      </a:r>
                      <a:endParaRPr lang="en-US" sz="1500" dirty="0">
                        <a:latin typeface="Calibri" charset="0"/>
                        <a:ea typeface="Calibri" charset="0"/>
                        <a:cs typeface="Calibri" charset="0"/>
                      </a:endParaRPr>
                    </a:p>
                  </a:txBody>
                  <a:tcPr marL="73152" marR="73152" marT="73152" marB="73152">
                    <a:lnL w="6350" cap="flat" cmpd="sng" algn="ctr">
                      <a:solidFill>
                        <a:srgbClr val="D9ECEC"/>
                      </a:solidFill>
                      <a:prstDash val="solid"/>
                      <a:round/>
                      <a:headEnd type="none" w="med" len="med"/>
                      <a:tailEnd type="none" w="med" len="med"/>
                    </a:lnL>
                    <a:lnR w="6350" cap="flat" cmpd="sng" algn="ctr">
                      <a:solidFill>
                        <a:srgbClr val="D9ECEC"/>
                      </a:solidFill>
                      <a:prstDash val="solid"/>
                      <a:round/>
                      <a:headEnd type="none" w="med" len="med"/>
                      <a:tailEnd type="none" w="med" len="med"/>
                    </a:lnR>
                    <a:lnT w="6350" cap="flat" cmpd="sng" algn="ctr">
                      <a:solidFill>
                        <a:srgbClr val="D9ECEC"/>
                      </a:solidFill>
                      <a:prstDash val="solid"/>
                      <a:round/>
                      <a:headEnd type="none" w="med" len="med"/>
                      <a:tailEnd type="none" w="med" len="med"/>
                    </a:lnT>
                    <a:lnB w="6350" cap="flat" cmpd="sng" algn="ctr">
                      <a:solidFill>
                        <a:srgbClr val="D9ECEC"/>
                      </a:solidFill>
                      <a:prstDash val="solid"/>
                      <a:round/>
                      <a:headEnd type="none" w="med" len="med"/>
                      <a:tailEnd type="none" w="med" len="med"/>
                    </a:lnB>
                  </a:tcPr>
                </a:tc>
                <a:extLst>
                  <a:ext uri="{0D108BD9-81ED-4DB2-BD59-A6C34878D82A}">
                    <a16:rowId xmlns:a16="http://schemas.microsoft.com/office/drawing/2014/main" val="10002"/>
                  </a:ext>
                </a:extLst>
              </a:tr>
              <a:tr h="369824">
                <a:tc>
                  <a:txBody>
                    <a:bodyPr/>
                    <a:lstStyle/>
                    <a:p>
                      <a:pPr marL="0" indent="0">
                        <a:buNone/>
                      </a:pPr>
                      <a:r>
                        <a:rPr lang="en-US" sz="1500" b="1" dirty="0">
                          <a:solidFill>
                            <a:srgbClr val="3D3D3D"/>
                          </a:solidFill>
                          <a:latin typeface="Calibri" pitchFamily="34" charset="0"/>
                          <a:ea typeface="Calibri" pitchFamily="34" charset="-122"/>
                          <a:cs typeface="Calibri" pitchFamily="34" charset="-120"/>
                        </a:rPr>
                        <a:t>Turnout tilt</a:t>
                      </a:r>
                      <a:endParaRPr lang="en-US" sz="1500" dirty="0">
                        <a:latin typeface="Calibri" charset="0"/>
                        <a:ea typeface="Calibri" charset="0"/>
                        <a:cs typeface="Calibri" charset="0"/>
                      </a:endParaRPr>
                    </a:p>
                  </a:txBody>
                  <a:tcPr marL="73152" marR="73152" marT="73152" marB="73152">
                    <a:lnL w="6350" cap="flat" cmpd="sng" algn="ctr">
                      <a:solidFill>
                        <a:srgbClr val="D9ECEC"/>
                      </a:solidFill>
                      <a:prstDash val="solid"/>
                      <a:round/>
                      <a:headEnd type="none" w="med" len="med"/>
                      <a:tailEnd type="none" w="med" len="med"/>
                    </a:lnL>
                    <a:lnR w="6350" cap="flat" cmpd="sng" algn="ctr">
                      <a:solidFill>
                        <a:srgbClr val="D9ECEC"/>
                      </a:solidFill>
                      <a:prstDash val="solid"/>
                      <a:round/>
                      <a:headEnd type="none" w="med" len="med"/>
                      <a:tailEnd type="none" w="med" len="med"/>
                    </a:lnR>
                    <a:lnT w="6350" cap="flat" cmpd="sng" algn="ctr">
                      <a:solidFill>
                        <a:srgbClr val="D9ECEC"/>
                      </a:solidFill>
                      <a:prstDash val="solid"/>
                      <a:round/>
                      <a:headEnd type="none" w="med" len="med"/>
                      <a:tailEnd type="none" w="med" len="med"/>
                    </a:lnT>
                    <a:lnB w="6350" cap="flat" cmpd="sng" algn="ctr">
                      <a:solidFill>
                        <a:srgbClr val="D9ECEC"/>
                      </a:solidFill>
                      <a:prstDash val="solid"/>
                      <a:round/>
                      <a:headEnd type="none" w="med" len="med"/>
                      <a:tailEnd type="none" w="med" len="med"/>
                    </a:lnB>
                  </a:tcPr>
                </a:tc>
                <a:tc>
                  <a:txBody>
                    <a:bodyPr/>
                    <a:lstStyle/>
                    <a:p>
                      <a:pPr marL="0" indent="0">
                        <a:buNone/>
                      </a:pPr>
                      <a:r>
                        <a:rPr lang="en-US" sz="1500" dirty="0">
                          <a:solidFill>
                            <a:srgbClr val="3D3D3D"/>
                          </a:solidFill>
                          <a:latin typeface="Calibri" pitchFamily="34" charset="0"/>
                          <a:ea typeface="Calibri" pitchFamily="34" charset="-122"/>
                          <a:cs typeface="Calibri" pitchFamily="34" charset="-120"/>
                        </a:rPr>
                        <a:t>Average points gained or lost through turnout</a:t>
                      </a:r>
                      <a:endParaRPr lang="en-US" sz="1500" dirty="0">
                        <a:latin typeface="Calibri" charset="0"/>
                        <a:ea typeface="Calibri" charset="0"/>
                        <a:cs typeface="Calibri" charset="0"/>
                      </a:endParaRPr>
                    </a:p>
                  </a:txBody>
                  <a:tcPr marL="73152" marR="73152" marT="73152" marB="73152">
                    <a:lnL w="6350" cap="flat" cmpd="sng" algn="ctr">
                      <a:solidFill>
                        <a:srgbClr val="D9ECEC"/>
                      </a:solidFill>
                      <a:prstDash val="solid"/>
                      <a:round/>
                      <a:headEnd type="none" w="med" len="med"/>
                      <a:tailEnd type="none" w="med" len="med"/>
                    </a:lnL>
                    <a:lnR w="6350" cap="flat" cmpd="sng" algn="ctr">
                      <a:solidFill>
                        <a:srgbClr val="D9ECEC"/>
                      </a:solidFill>
                      <a:prstDash val="solid"/>
                      <a:round/>
                      <a:headEnd type="none" w="med" len="med"/>
                      <a:tailEnd type="none" w="med" len="med"/>
                    </a:lnR>
                    <a:lnT w="6350" cap="flat" cmpd="sng" algn="ctr">
                      <a:solidFill>
                        <a:srgbClr val="D9ECEC"/>
                      </a:solidFill>
                      <a:prstDash val="solid"/>
                      <a:round/>
                      <a:headEnd type="none" w="med" len="med"/>
                      <a:tailEnd type="none" w="med" len="med"/>
                    </a:lnT>
                    <a:lnB w="6350" cap="flat" cmpd="sng" algn="ctr">
                      <a:solidFill>
                        <a:srgbClr val="D9ECEC"/>
                      </a:solidFill>
                      <a:prstDash val="solid"/>
                      <a:round/>
                      <a:headEnd type="none" w="med" len="med"/>
                      <a:tailEnd type="none" w="med" len="med"/>
                    </a:lnB>
                  </a:tcPr>
                </a:tc>
                <a:tc>
                  <a:txBody>
                    <a:bodyPr/>
                    <a:lstStyle/>
                    <a:p>
                      <a:pPr marL="0" indent="0">
                        <a:buNone/>
                      </a:pPr>
                      <a:r>
                        <a:rPr lang="en-US" sz="1500" dirty="0">
                          <a:solidFill>
                            <a:srgbClr val="3D3D3D"/>
                          </a:solidFill>
                          <a:latin typeface="Calibri" pitchFamily="34" charset="0"/>
                          <a:ea typeface="Calibri" pitchFamily="34" charset="-122"/>
                          <a:cs typeface="Calibri" pitchFamily="34" charset="-120"/>
                        </a:rPr>
                        <a:t>Shifts the whole histogram left or right</a:t>
                      </a:r>
                      <a:endParaRPr lang="en-US" sz="1500" dirty="0">
                        <a:latin typeface="Calibri" charset="0"/>
                        <a:ea typeface="Calibri" charset="0"/>
                        <a:cs typeface="Calibri" charset="0"/>
                      </a:endParaRPr>
                    </a:p>
                  </a:txBody>
                  <a:tcPr marL="73152" marR="73152" marT="73152" marB="73152">
                    <a:lnL w="6350" cap="flat" cmpd="sng" algn="ctr">
                      <a:solidFill>
                        <a:srgbClr val="D9ECEC"/>
                      </a:solidFill>
                      <a:prstDash val="solid"/>
                      <a:round/>
                      <a:headEnd type="none" w="med" len="med"/>
                      <a:tailEnd type="none" w="med" len="med"/>
                    </a:lnL>
                    <a:lnR w="6350" cap="flat" cmpd="sng" algn="ctr">
                      <a:solidFill>
                        <a:srgbClr val="D9ECEC"/>
                      </a:solidFill>
                      <a:prstDash val="solid"/>
                      <a:round/>
                      <a:headEnd type="none" w="med" len="med"/>
                      <a:tailEnd type="none" w="med" len="med"/>
                    </a:lnR>
                    <a:lnT w="6350" cap="flat" cmpd="sng" algn="ctr">
                      <a:solidFill>
                        <a:srgbClr val="D9ECEC"/>
                      </a:solidFill>
                      <a:prstDash val="solid"/>
                      <a:round/>
                      <a:headEnd type="none" w="med" len="med"/>
                      <a:tailEnd type="none" w="med" len="med"/>
                    </a:lnT>
                    <a:lnB w="6350" cap="flat" cmpd="sng" algn="ctr">
                      <a:solidFill>
                        <a:srgbClr val="D9ECEC"/>
                      </a:solidFill>
                      <a:prstDash val="solid"/>
                      <a:round/>
                      <a:headEnd type="none" w="med" len="med"/>
                      <a:tailEnd type="none" w="med" len="med"/>
                    </a:lnB>
                  </a:tcPr>
                </a:tc>
                <a:extLst>
                  <a:ext uri="{0D108BD9-81ED-4DB2-BD59-A6C34878D82A}">
                    <a16:rowId xmlns:a16="http://schemas.microsoft.com/office/drawing/2014/main" val="10003"/>
                  </a:ext>
                </a:extLst>
              </a:tr>
              <a:tr h="593344">
                <a:tc>
                  <a:txBody>
                    <a:bodyPr/>
                    <a:lstStyle/>
                    <a:p>
                      <a:pPr marL="0" indent="0">
                        <a:buNone/>
                      </a:pPr>
                      <a:r>
                        <a:rPr lang="en-US" sz="1500" b="1" dirty="0">
                          <a:solidFill>
                            <a:srgbClr val="3D3D3D"/>
                          </a:solidFill>
                          <a:latin typeface="Calibri" pitchFamily="34" charset="0"/>
                          <a:ea typeface="Calibri" pitchFamily="34" charset="-122"/>
                          <a:cs typeface="Calibri" pitchFamily="34" charset="-120"/>
                        </a:rPr>
                        <a:t>Simulations</a:t>
                      </a:r>
                      <a:endParaRPr lang="en-US" sz="1500" dirty="0">
                        <a:latin typeface="Calibri" charset="0"/>
                        <a:ea typeface="Calibri" charset="0"/>
                        <a:cs typeface="Calibri" charset="0"/>
                      </a:endParaRPr>
                    </a:p>
                  </a:txBody>
                  <a:tcPr marL="73152" marR="73152" marT="73152" marB="73152">
                    <a:lnL w="6350" cap="flat" cmpd="sng" algn="ctr">
                      <a:solidFill>
                        <a:srgbClr val="D9ECEC"/>
                      </a:solidFill>
                      <a:prstDash val="solid"/>
                      <a:round/>
                      <a:headEnd type="none" w="med" len="med"/>
                      <a:tailEnd type="none" w="med" len="med"/>
                    </a:lnL>
                    <a:lnR w="6350" cap="flat" cmpd="sng" algn="ctr">
                      <a:solidFill>
                        <a:srgbClr val="D9ECEC"/>
                      </a:solidFill>
                      <a:prstDash val="solid"/>
                      <a:round/>
                      <a:headEnd type="none" w="med" len="med"/>
                      <a:tailEnd type="none" w="med" len="med"/>
                    </a:lnR>
                    <a:lnT w="6350" cap="flat" cmpd="sng" algn="ctr">
                      <a:solidFill>
                        <a:srgbClr val="D9ECEC"/>
                      </a:solidFill>
                      <a:prstDash val="solid"/>
                      <a:round/>
                      <a:headEnd type="none" w="med" len="med"/>
                      <a:tailEnd type="none" w="med" len="med"/>
                    </a:lnT>
                    <a:lnB w="6350" cap="flat" cmpd="sng" algn="ctr">
                      <a:solidFill>
                        <a:srgbClr val="D9ECEC"/>
                      </a:solidFill>
                      <a:prstDash val="solid"/>
                      <a:round/>
                      <a:headEnd type="none" w="med" len="med"/>
                      <a:tailEnd type="none" w="med" len="med"/>
                    </a:lnB>
                  </a:tcPr>
                </a:tc>
                <a:tc>
                  <a:txBody>
                    <a:bodyPr/>
                    <a:lstStyle/>
                    <a:p>
                      <a:pPr marL="0" indent="0">
                        <a:buNone/>
                      </a:pPr>
                      <a:r>
                        <a:rPr lang="en-US" sz="1500" dirty="0">
                          <a:solidFill>
                            <a:srgbClr val="3D3D3D"/>
                          </a:solidFill>
                          <a:latin typeface="Calibri" pitchFamily="34" charset="0"/>
                          <a:ea typeface="Calibri" pitchFamily="34" charset="-122"/>
                          <a:cs typeface="Calibri" pitchFamily="34" charset="-120"/>
                        </a:rPr>
                        <a:t>How many election nights are played</a:t>
                      </a:r>
                      <a:endParaRPr lang="en-US" sz="1500" dirty="0">
                        <a:latin typeface="Calibri" charset="0"/>
                        <a:ea typeface="Calibri" charset="0"/>
                        <a:cs typeface="Calibri" charset="0"/>
                      </a:endParaRPr>
                    </a:p>
                  </a:txBody>
                  <a:tcPr marL="73152" marR="73152" marT="73152" marB="73152">
                    <a:lnL w="6350" cap="flat" cmpd="sng" algn="ctr">
                      <a:solidFill>
                        <a:srgbClr val="D9ECEC"/>
                      </a:solidFill>
                      <a:prstDash val="solid"/>
                      <a:round/>
                      <a:headEnd type="none" w="med" len="med"/>
                      <a:tailEnd type="none" w="med" len="med"/>
                    </a:lnL>
                    <a:lnR w="6350" cap="flat" cmpd="sng" algn="ctr">
                      <a:solidFill>
                        <a:srgbClr val="D9ECEC"/>
                      </a:solidFill>
                      <a:prstDash val="solid"/>
                      <a:round/>
                      <a:headEnd type="none" w="med" len="med"/>
                      <a:tailEnd type="none" w="med" len="med"/>
                    </a:lnR>
                    <a:lnT w="6350" cap="flat" cmpd="sng" algn="ctr">
                      <a:solidFill>
                        <a:srgbClr val="D9ECEC"/>
                      </a:solidFill>
                      <a:prstDash val="solid"/>
                      <a:round/>
                      <a:headEnd type="none" w="med" len="med"/>
                      <a:tailEnd type="none" w="med" len="med"/>
                    </a:lnT>
                    <a:lnB w="6350" cap="flat" cmpd="sng" algn="ctr">
                      <a:solidFill>
                        <a:srgbClr val="D9ECEC"/>
                      </a:solidFill>
                      <a:prstDash val="solid"/>
                      <a:round/>
                      <a:headEnd type="none" w="med" len="med"/>
                      <a:tailEnd type="none" w="med" len="med"/>
                    </a:lnB>
                  </a:tcPr>
                </a:tc>
                <a:tc>
                  <a:txBody>
                    <a:bodyPr/>
                    <a:lstStyle/>
                    <a:p>
                      <a:pPr marL="0" indent="0">
                        <a:buNone/>
                      </a:pPr>
                      <a:r>
                        <a:rPr lang="en-US" sz="1500" dirty="0">
                          <a:solidFill>
                            <a:srgbClr val="3D3D3D"/>
                          </a:solidFill>
                          <a:latin typeface="Calibri" pitchFamily="34" charset="0"/>
                          <a:ea typeface="Calibri" pitchFamily="34" charset="-122"/>
                          <a:cs typeface="Calibri" pitchFamily="34" charset="-120"/>
                        </a:rPr>
                        <a:t>At 100 the histogram is ragged; at 10,000 it is smooth (1/√N again)</a:t>
                      </a:r>
                      <a:endParaRPr lang="en-US" sz="1500" dirty="0">
                        <a:latin typeface="Calibri" charset="0"/>
                        <a:ea typeface="Calibri" charset="0"/>
                        <a:cs typeface="Calibri" charset="0"/>
                      </a:endParaRPr>
                    </a:p>
                  </a:txBody>
                  <a:tcPr marL="73152" marR="73152" marT="73152" marB="73152">
                    <a:lnL w="6350" cap="flat" cmpd="sng" algn="ctr">
                      <a:solidFill>
                        <a:srgbClr val="D9ECEC"/>
                      </a:solidFill>
                      <a:prstDash val="solid"/>
                      <a:round/>
                      <a:headEnd type="none" w="med" len="med"/>
                      <a:tailEnd type="none" w="med" len="med"/>
                    </a:lnL>
                    <a:lnR w="6350" cap="flat" cmpd="sng" algn="ctr">
                      <a:solidFill>
                        <a:srgbClr val="D9ECEC"/>
                      </a:solidFill>
                      <a:prstDash val="solid"/>
                      <a:round/>
                      <a:headEnd type="none" w="med" len="med"/>
                      <a:tailEnd type="none" w="med" len="med"/>
                    </a:lnR>
                    <a:lnT w="6350" cap="flat" cmpd="sng" algn="ctr">
                      <a:solidFill>
                        <a:srgbClr val="D9ECEC"/>
                      </a:solidFill>
                      <a:prstDash val="solid"/>
                      <a:round/>
                      <a:headEnd type="none" w="med" len="med"/>
                      <a:tailEnd type="none" w="med" len="med"/>
                    </a:lnT>
                    <a:lnB w="6350" cap="flat" cmpd="sng" algn="ctr">
                      <a:solidFill>
                        <a:srgbClr val="D9ECEC"/>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8" name="Text 5"/>
          <p:cNvSpPr txBox="1"/>
          <p:nvPr/>
        </p:nvSpPr>
        <p:spPr>
          <a:xfrm>
            <a:off x="609600" y="5547360"/>
            <a:ext cx="10972800" cy="670560"/>
          </a:xfrm>
          <a:prstGeom prst="rect">
            <a:avLst/>
          </a:prstGeom>
          <a:noFill/>
          <a:ln/>
        </p:spPr>
        <p:txBody>
          <a:bodyPr wrap="square" lIns="0" tIns="0" rIns="0" bIns="0" rtlCol="0" anchor="t"/>
          <a:lstStyle/>
          <a:p>
            <a:r>
              <a:rPr lang="en-US" sz="1467" b="1" dirty="0">
                <a:solidFill>
                  <a:srgbClr val="C97B3A"/>
                </a:solidFill>
              </a:rPr>
              <a:t>✎ Exercise, for later (notebook):  </a:t>
            </a:r>
            <a:r>
              <a:rPr lang="en-US" sz="1467" dirty="0">
                <a:solidFill>
                  <a:srgbClr val="3D3D3D"/>
                </a:solidFill>
              </a:rPr>
              <a:t>the fieldwork budget: three uncertain cost items, find the probability of exceeding €12,000, then the budget that is safe 95% of the time.</a:t>
            </a:r>
            <a:endParaRPr lang="en-US" sz="1467" dirty="0"/>
          </a:p>
        </p:txBody>
      </p:sp>
      <p:sp>
        <p:nvSpPr>
          <p:cNvPr id="25" name="Slide Number Placeholder 0"/>
          <p:cNvSpPr>
            <a:spLocks noGrp="1"/>
          </p:cNvSpPr>
          <p:nvPr>
            <p:ph type="sldNum" sz="quarter" idx="4294967295"/>
          </p:nvPr>
        </p:nvSpPr>
        <p:spPr>
          <a:xfrm>
            <a:off x="10972800" y="6339840"/>
            <a:ext cx="609600" cy="365760"/>
          </a:xfrm>
          <a:prstGeom prst="rect">
            <a:avLst/>
          </a:prstGeom>
          <a:extLst>
            <a:ext uri="{C572A759-6A51-4108-AA02-DFA0A04FC94B}">
              <ma14:wrappingTextBoxFlag xmlns="" xmlns:ma14="http://schemas.microsoft.com/office/mac/drawingml/2011/main" val="0"/>
            </a:ext>
          </a:extLst>
        </p:spPr>
        <p:txBody>
          <a:bodyPr/>
          <a:lstStyle>
            <a:lvl1pPr>
              <a:defRPr sz="1200">
                <a:solidFill>
                  <a:srgbClr val="6B6B6B"/>
                </a:solidFill>
              </a:defRPr>
            </a:lvl1pPr>
          </a:lstStyle>
          <a:p>
            <a:pPr algn="r"/>
            <a:fld id="{F7021451-1387-4CA6-816F-3879F97B5CBC}" type="slidenum">
              <a:rPr lang="en-US" b="0"/>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09600" y="426720"/>
            <a:ext cx="10972800" cy="914400"/>
          </a:xfrm>
          <a:prstGeom prst="rect">
            <a:avLst/>
          </a:prstGeom>
          <a:noFill/>
          <a:ln/>
        </p:spPr>
        <p:txBody>
          <a:bodyPr vert="horz" wrap="square" lIns="0" tIns="0" rIns="0" bIns="0" rtlCol="0" anchor="ctr">
            <a:normAutofit/>
          </a:bodyPr>
          <a:lstStyle/>
          <a:p>
            <a:r>
              <a:rPr lang="en-US" dirty="0"/>
              <a:t>What we learned at stop 3</a:t>
            </a:r>
          </a:p>
        </p:txBody>
      </p:sp>
      <p:sp>
        <p:nvSpPr>
          <p:cNvPr id="3" name="Shape 1"/>
          <p:cNvSpPr/>
          <p:nvPr/>
        </p:nvSpPr>
        <p:spPr>
          <a:xfrm>
            <a:off x="609600" y="1584960"/>
            <a:ext cx="10972800" cy="4145280"/>
          </a:xfrm>
          <a:prstGeom prst="roundRect">
            <a:avLst>
              <a:gd name="adj" fmla="val 3529"/>
            </a:avLst>
          </a:prstGeom>
          <a:solidFill>
            <a:srgbClr val="E6F2F2"/>
          </a:solidFill>
          <a:ln w="12700">
            <a:solidFill>
              <a:srgbClr val="E6F2F2"/>
            </a:solidFill>
            <a:prstDash val="solid"/>
          </a:ln>
        </p:spPr>
        <p:txBody>
          <a:bodyPr/>
          <a:lstStyle/>
          <a:p>
            <a:endParaRPr lang="en-GB" sz="2400"/>
          </a:p>
        </p:txBody>
      </p:sp>
      <p:sp>
        <p:nvSpPr>
          <p:cNvPr id="4" name="Text 2"/>
          <p:cNvSpPr txBox="1"/>
          <p:nvPr/>
        </p:nvSpPr>
        <p:spPr>
          <a:xfrm>
            <a:off x="1097280" y="1950720"/>
            <a:ext cx="10119360" cy="3535680"/>
          </a:xfrm>
          <a:prstGeom prst="rect">
            <a:avLst/>
          </a:prstGeom>
          <a:noFill/>
          <a:ln/>
        </p:spPr>
        <p:txBody>
          <a:bodyPr wrap="square" lIns="0" tIns="0" rIns="0" bIns="0" rtlCol="0" anchor="t"/>
          <a:lstStyle/>
          <a:p>
            <a:pPr marL="457189" indent="-457189">
              <a:spcAft>
                <a:spcPts val="1867"/>
              </a:spcAft>
              <a:buSzPct val="100000"/>
              <a:buChar char="•"/>
            </a:pPr>
            <a:r>
              <a:rPr lang="en-US" sz="2400" dirty="0">
                <a:solidFill>
                  <a:srgbClr val="0A5C5C"/>
                </a:solidFill>
              </a:rPr>
              <a:t>Replace every fixed input by a distribution; the output becomes a distribution too.</a:t>
            </a:r>
            <a:endParaRPr lang="en-US" sz="2400" dirty="0"/>
          </a:p>
          <a:p>
            <a:pPr marL="457189" indent="-457189">
              <a:spcAft>
                <a:spcPts val="1867"/>
              </a:spcAft>
              <a:buSzPct val="100000"/>
              <a:buChar char="•"/>
            </a:pPr>
            <a:r>
              <a:rPr lang="en-US" sz="2400" dirty="0">
                <a:solidFill>
                  <a:srgbClr val="0A5C5C"/>
                </a:solidFill>
              </a:rPr>
              <a:t>Summarise it as a probability, a median, and a range (for example the 5th to 95th percentile).</a:t>
            </a:r>
            <a:endParaRPr lang="en-US" sz="2400" dirty="0"/>
          </a:p>
          <a:p>
            <a:pPr marL="457189" indent="-457189">
              <a:spcAft>
                <a:spcPts val="1867"/>
              </a:spcAft>
              <a:buSzPct val="100000"/>
              <a:buChar char="•"/>
            </a:pPr>
            <a:r>
              <a:rPr lang="en-US" sz="2400" dirty="0">
                <a:solidFill>
                  <a:srgbClr val="0A5C5C"/>
                </a:solidFill>
              </a:rPr>
              <a:t>The histogram is more honest, and more useful, than any single number.</a:t>
            </a:r>
            <a:endParaRPr lang="en-US" sz="2400" dirty="0"/>
          </a:p>
        </p:txBody>
      </p:sp>
      <p:sp>
        <p:nvSpPr>
          <p:cNvPr id="25" name="Slide Number Placeholder 0"/>
          <p:cNvSpPr>
            <a:spLocks noGrp="1"/>
          </p:cNvSpPr>
          <p:nvPr>
            <p:ph type="sldNum" sz="quarter" idx="4294967295"/>
          </p:nvPr>
        </p:nvSpPr>
        <p:spPr>
          <a:xfrm>
            <a:off x="10972800" y="6339840"/>
            <a:ext cx="609600" cy="365760"/>
          </a:xfrm>
          <a:prstGeom prst="rect">
            <a:avLst/>
          </a:prstGeom>
          <a:extLst>
            <a:ext uri="{C572A759-6A51-4108-AA02-DFA0A04FC94B}">
              <ma14:wrappingTextBoxFlag xmlns="" xmlns:ma14="http://schemas.microsoft.com/office/mac/drawingml/2011/main" val="0"/>
            </a:ext>
          </a:extLst>
        </p:spPr>
        <p:txBody>
          <a:bodyPr/>
          <a:lstStyle>
            <a:lvl1pPr>
              <a:defRPr sz="1200">
                <a:solidFill>
                  <a:srgbClr val="6B6B6B"/>
                </a:solidFill>
              </a:defRPr>
            </a:lvl1pPr>
          </a:lstStyle>
          <a:p>
            <a:pPr algn="r"/>
            <a:fld id="{F7021451-1387-4CA6-816F-3879F97B5CBC}" type="slidenum">
              <a:rPr lang="en-US" b="0"/>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731520" y="1706880"/>
            <a:ext cx="10728960" cy="609600"/>
          </a:xfrm>
          <a:prstGeom prst="rect">
            <a:avLst/>
          </a:prstGeom>
          <a:noFill/>
          <a:ln/>
        </p:spPr>
        <p:txBody>
          <a:bodyPr vert="horz" wrap="square" lIns="0" tIns="0" rIns="0" bIns="0" rtlCol="0">
            <a:normAutofit/>
          </a:bodyPr>
          <a:lstStyle/>
          <a:p>
            <a:endParaRPr lang="en-US" dirty="0"/>
          </a:p>
        </p:txBody>
      </p:sp>
      <p:sp>
        <p:nvSpPr>
          <p:cNvPr id="3" name="Text 0"/>
          <p:cNvSpPr>
            <a:spLocks noGrp="1"/>
          </p:cNvSpPr>
          <p:nvPr>
            <p:ph type="title" idx="101" hasCustomPrompt="1"/>
          </p:nvPr>
        </p:nvSpPr>
        <p:spPr>
          <a:xfrm>
            <a:off x="731520" y="2316480"/>
            <a:ext cx="10728960" cy="2194560"/>
          </a:xfrm>
          <a:prstGeom prst="rect">
            <a:avLst/>
          </a:prstGeom>
          <a:noFill/>
          <a:ln/>
        </p:spPr>
        <p:txBody>
          <a:bodyPr vert="horz" wrap="square" lIns="0" tIns="0" rIns="0" bIns="0" rtlCol="0" anchor="ctr">
            <a:normAutofit/>
          </a:bodyPr>
          <a:lstStyle/>
          <a:p>
            <a:r>
              <a:rPr lang="en-US" dirty="0"/>
              <a:t>Five-minute break</a:t>
            </a:r>
          </a:p>
        </p:txBody>
      </p:sp>
      <p:sp>
        <p:nvSpPr>
          <p:cNvPr id="4" name="Text 0"/>
          <p:cNvSpPr>
            <a:spLocks noGrp="1"/>
          </p:cNvSpPr>
          <p:nvPr>
            <p:ph type="body" idx="102" hasCustomPrompt="1"/>
          </p:nvPr>
        </p:nvSpPr>
        <p:spPr>
          <a:xfrm>
            <a:off x="731520" y="4754880"/>
            <a:ext cx="10728960" cy="1097280"/>
          </a:xfrm>
          <a:prstGeom prst="rect">
            <a:avLst/>
          </a:prstGeom>
          <a:noFill/>
          <a:ln/>
        </p:spPr>
        <p:txBody>
          <a:bodyPr vert="horz" wrap="square" lIns="0" tIns="0" rIns="0" bIns="0" rtlCol="0">
            <a:normAutofit/>
          </a:bodyPr>
          <a:lstStyle/>
          <a:p>
            <a:r>
              <a:rPr lang="en-US" dirty="0"/>
              <a:t>Next: testing a study design before collecting any data, then Schelling's city.</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731520" y="1706880"/>
            <a:ext cx="10728960" cy="609600"/>
          </a:xfrm>
          <a:prstGeom prst="rect">
            <a:avLst/>
          </a:prstGeom>
          <a:noFill/>
          <a:ln/>
        </p:spPr>
        <p:txBody>
          <a:bodyPr vert="horz" wrap="square" lIns="0" tIns="0" rIns="0" bIns="0" rtlCol="0">
            <a:normAutofit/>
          </a:bodyPr>
          <a:lstStyle/>
          <a:p>
            <a:r>
              <a:rPr lang="en-US" dirty="0"/>
              <a:t>Stop 4</a:t>
            </a:r>
          </a:p>
        </p:txBody>
      </p:sp>
      <p:sp>
        <p:nvSpPr>
          <p:cNvPr id="3" name="Text 0"/>
          <p:cNvSpPr>
            <a:spLocks noGrp="1"/>
          </p:cNvSpPr>
          <p:nvPr>
            <p:ph type="title" idx="101" hasCustomPrompt="1"/>
          </p:nvPr>
        </p:nvSpPr>
        <p:spPr>
          <a:xfrm>
            <a:off x="731520" y="2316480"/>
            <a:ext cx="10728960" cy="2194560"/>
          </a:xfrm>
          <a:prstGeom prst="rect">
            <a:avLst/>
          </a:prstGeom>
          <a:noFill/>
          <a:ln/>
        </p:spPr>
        <p:txBody>
          <a:bodyPr vert="horz" wrap="square" lIns="0" tIns="0" rIns="0" bIns="0" rtlCol="0" anchor="ctr">
            <a:normAutofit/>
          </a:bodyPr>
          <a:lstStyle/>
          <a:p>
            <a:r>
              <a:rPr lang="en-US" dirty="0"/>
              <a:t>Planning a survey by simulating fake data</a:t>
            </a:r>
          </a:p>
        </p:txBody>
      </p:sp>
      <p:sp>
        <p:nvSpPr>
          <p:cNvPr id="4" name="Text 0"/>
          <p:cNvSpPr>
            <a:spLocks noGrp="1"/>
          </p:cNvSpPr>
          <p:nvPr>
            <p:ph type="body" idx="102" hasCustomPrompt="1"/>
          </p:nvPr>
        </p:nvSpPr>
        <p:spPr>
          <a:xfrm>
            <a:off x="731520" y="4754880"/>
            <a:ext cx="10728960" cy="1097280"/>
          </a:xfrm>
          <a:prstGeom prst="rect">
            <a:avLst/>
          </a:prstGeom>
          <a:noFill/>
          <a:ln/>
        </p:spPr>
        <p:txBody>
          <a:bodyPr vert="horz" wrap="square" lIns="0" tIns="0" rIns="0" bIns="0" rtlCol="0">
            <a:normAutofit/>
          </a:bodyPr>
          <a:lstStyle/>
          <a:p>
            <a:r>
              <a:rPr lang="en-US" dirty="0"/>
              <a:t>Invent a world where you know the truth. Check whether your analysis finds it.</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09600" y="426720"/>
            <a:ext cx="10972800" cy="914400"/>
          </a:xfrm>
          <a:prstGeom prst="rect">
            <a:avLst/>
          </a:prstGeom>
          <a:noFill/>
          <a:ln/>
        </p:spPr>
        <p:txBody>
          <a:bodyPr vert="horz" wrap="square" lIns="0" tIns="0" rIns="0" bIns="0" rtlCol="0" anchor="ctr">
            <a:normAutofit/>
          </a:bodyPr>
          <a:lstStyle/>
          <a:p>
            <a:r>
              <a:rPr lang="en-US" dirty="0"/>
              <a:t>How many people do I need?</a:t>
            </a:r>
          </a:p>
        </p:txBody>
      </p:sp>
      <p:sp>
        <p:nvSpPr>
          <p:cNvPr id="3" name="Text 1"/>
          <p:cNvSpPr txBox="1"/>
          <p:nvPr/>
        </p:nvSpPr>
        <p:spPr>
          <a:xfrm>
            <a:off x="8046720" y="6303264"/>
            <a:ext cx="2682240" cy="365760"/>
          </a:xfrm>
          <a:prstGeom prst="rect">
            <a:avLst/>
          </a:prstGeom>
          <a:solidFill>
            <a:srgbClr val="E6F2F2"/>
          </a:solidFill>
          <a:ln/>
        </p:spPr>
        <p:txBody>
          <a:bodyPr wrap="square" lIns="0" tIns="0" rIns="0" bIns="0" rtlCol="0" anchor="ctr"/>
          <a:lstStyle/>
          <a:p>
            <a:pPr algn="ctr"/>
            <a:r>
              <a:rPr lang="en-US" sz="1333" b="1" dirty="0">
                <a:solidFill>
                  <a:srgbClr val="0A5C5C"/>
                </a:solidFill>
              </a:rPr>
              <a:t>STOP 4 · POWER</a:t>
            </a:r>
            <a:endParaRPr lang="en-US" sz="1333" dirty="0"/>
          </a:p>
        </p:txBody>
      </p:sp>
      <p:sp>
        <p:nvSpPr>
          <p:cNvPr id="4" name="Text 2"/>
          <p:cNvSpPr txBox="1"/>
          <p:nvPr/>
        </p:nvSpPr>
        <p:spPr>
          <a:xfrm>
            <a:off x="609600" y="1584960"/>
            <a:ext cx="10972800" cy="609600"/>
          </a:xfrm>
          <a:prstGeom prst="rect">
            <a:avLst/>
          </a:prstGeom>
          <a:noFill/>
          <a:ln/>
        </p:spPr>
        <p:txBody>
          <a:bodyPr wrap="square" lIns="0" tIns="0" rIns="0" bIns="0" rtlCol="0" anchor="t"/>
          <a:lstStyle/>
          <a:p>
            <a:r>
              <a:rPr lang="en-US" sz="1867" dirty="0">
                <a:solidFill>
                  <a:srgbClr val="3D3D3D"/>
                </a:solidFill>
              </a:rPr>
              <a:t>Statistical power: the chance a study detects an effect that is really there. The usual target is 80%.</a:t>
            </a:r>
            <a:endParaRPr lang="en-US" sz="1867" dirty="0"/>
          </a:p>
        </p:txBody>
      </p:sp>
      <p:sp>
        <p:nvSpPr>
          <p:cNvPr id="5" name="Shape 3"/>
          <p:cNvSpPr/>
          <p:nvPr/>
        </p:nvSpPr>
        <p:spPr>
          <a:xfrm>
            <a:off x="609600" y="2438400"/>
            <a:ext cx="609600" cy="609600"/>
          </a:xfrm>
          <a:prstGeom prst="ellipse">
            <a:avLst/>
          </a:prstGeom>
          <a:solidFill>
            <a:srgbClr val="0F7F7F"/>
          </a:solidFill>
          <a:ln w="12700">
            <a:solidFill>
              <a:srgbClr val="0F7F7F"/>
            </a:solidFill>
            <a:prstDash val="solid"/>
          </a:ln>
        </p:spPr>
        <p:txBody>
          <a:bodyPr/>
          <a:lstStyle/>
          <a:p>
            <a:endParaRPr lang="en-GB" sz="2400"/>
          </a:p>
        </p:txBody>
      </p:sp>
      <p:sp>
        <p:nvSpPr>
          <p:cNvPr id="6" name="Text 4"/>
          <p:cNvSpPr txBox="1"/>
          <p:nvPr/>
        </p:nvSpPr>
        <p:spPr>
          <a:xfrm>
            <a:off x="609600" y="2438400"/>
            <a:ext cx="609600" cy="609600"/>
          </a:xfrm>
          <a:prstGeom prst="rect">
            <a:avLst/>
          </a:prstGeom>
          <a:noFill/>
          <a:ln/>
        </p:spPr>
        <p:txBody>
          <a:bodyPr wrap="square" lIns="0" tIns="0" rIns="0" bIns="0" rtlCol="0" anchor="ctr"/>
          <a:lstStyle/>
          <a:p>
            <a:pPr algn="ctr"/>
            <a:r>
              <a:rPr lang="en-US" sz="1867" b="1" dirty="0">
                <a:solidFill>
                  <a:srgbClr val="FFFFFF"/>
                </a:solidFill>
              </a:rPr>
              <a:t>1</a:t>
            </a:r>
            <a:endParaRPr lang="en-US" sz="1867" dirty="0"/>
          </a:p>
        </p:txBody>
      </p:sp>
      <p:sp>
        <p:nvSpPr>
          <p:cNvPr id="7" name="Text 5"/>
          <p:cNvSpPr txBox="1"/>
          <p:nvPr/>
        </p:nvSpPr>
        <p:spPr>
          <a:xfrm>
            <a:off x="609600" y="3169920"/>
            <a:ext cx="2560320" cy="1463040"/>
          </a:xfrm>
          <a:prstGeom prst="rect">
            <a:avLst/>
          </a:prstGeom>
          <a:noFill/>
          <a:ln/>
        </p:spPr>
        <p:txBody>
          <a:bodyPr wrap="square" lIns="0" tIns="0" rIns="0" bIns="0" rtlCol="0" anchor="t"/>
          <a:lstStyle/>
          <a:p>
            <a:r>
              <a:rPr lang="en-US" sz="1600" dirty="0">
                <a:solidFill>
                  <a:srgbClr val="3D3D3D"/>
                </a:solidFill>
              </a:rPr>
              <a:t>Invent a world in which the difference is real, of a given size</a:t>
            </a:r>
            <a:endParaRPr lang="en-US" sz="1600" dirty="0"/>
          </a:p>
        </p:txBody>
      </p:sp>
      <p:sp>
        <p:nvSpPr>
          <p:cNvPr id="8" name="Shape 6"/>
          <p:cNvSpPr/>
          <p:nvPr/>
        </p:nvSpPr>
        <p:spPr>
          <a:xfrm>
            <a:off x="3413760" y="2438400"/>
            <a:ext cx="609600" cy="609600"/>
          </a:xfrm>
          <a:prstGeom prst="ellipse">
            <a:avLst/>
          </a:prstGeom>
          <a:solidFill>
            <a:srgbClr val="0F7F7F"/>
          </a:solidFill>
          <a:ln w="12700">
            <a:solidFill>
              <a:srgbClr val="0F7F7F"/>
            </a:solidFill>
            <a:prstDash val="solid"/>
          </a:ln>
        </p:spPr>
        <p:txBody>
          <a:bodyPr/>
          <a:lstStyle/>
          <a:p>
            <a:endParaRPr lang="en-GB" sz="2400"/>
          </a:p>
        </p:txBody>
      </p:sp>
      <p:sp>
        <p:nvSpPr>
          <p:cNvPr id="9" name="Text 7"/>
          <p:cNvSpPr txBox="1"/>
          <p:nvPr/>
        </p:nvSpPr>
        <p:spPr>
          <a:xfrm>
            <a:off x="3413760" y="2438400"/>
            <a:ext cx="609600" cy="609600"/>
          </a:xfrm>
          <a:prstGeom prst="rect">
            <a:avLst/>
          </a:prstGeom>
          <a:noFill/>
          <a:ln/>
        </p:spPr>
        <p:txBody>
          <a:bodyPr wrap="square" lIns="0" tIns="0" rIns="0" bIns="0" rtlCol="0" anchor="ctr"/>
          <a:lstStyle/>
          <a:p>
            <a:pPr algn="ctr"/>
            <a:r>
              <a:rPr lang="en-US" sz="1867" b="1" dirty="0">
                <a:solidFill>
                  <a:srgbClr val="FFFFFF"/>
                </a:solidFill>
              </a:rPr>
              <a:t>2</a:t>
            </a:r>
            <a:endParaRPr lang="en-US" sz="1867" dirty="0"/>
          </a:p>
        </p:txBody>
      </p:sp>
      <p:sp>
        <p:nvSpPr>
          <p:cNvPr id="10" name="Text 8"/>
          <p:cNvSpPr txBox="1"/>
          <p:nvPr/>
        </p:nvSpPr>
        <p:spPr>
          <a:xfrm>
            <a:off x="3413760" y="3169920"/>
            <a:ext cx="2560320" cy="1463040"/>
          </a:xfrm>
          <a:prstGeom prst="rect">
            <a:avLst/>
          </a:prstGeom>
          <a:noFill/>
          <a:ln/>
        </p:spPr>
        <p:txBody>
          <a:bodyPr wrap="square" lIns="0" tIns="0" rIns="0" bIns="0" rtlCol="0" anchor="t"/>
          <a:lstStyle/>
          <a:p>
            <a:r>
              <a:rPr lang="en-US" sz="1600" dirty="0">
                <a:solidFill>
                  <a:srgbClr val="3D3D3D"/>
                </a:solidFill>
              </a:rPr>
              <a:t>Simulate one fake study: a sample from each group, run your test, note whether p &lt; 0.05</a:t>
            </a:r>
            <a:endParaRPr lang="en-US" sz="1600" dirty="0"/>
          </a:p>
        </p:txBody>
      </p:sp>
      <p:sp>
        <p:nvSpPr>
          <p:cNvPr id="11" name="Shape 9"/>
          <p:cNvSpPr/>
          <p:nvPr/>
        </p:nvSpPr>
        <p:spPr>
          <a:xfrm>
            <a:off x="6217920" y="2438400"/>
            <a:ext cx="609600" cy="609600"/>
          </a:xfrm>
          <a:prstGeom prst="ellipse">
            <a:avLst/>
          </a:prstGeom>
          <a:solidFill>
            <a:srgbClr val="0F7F7F"/>
          </a:solidFill>
          <a:ln w="12700">
            <a:solidFill>
              <a:srgbClr val="0F7F7F"/>
            </a:solidFill>
            <a:prstDash val="solid"/>
          </a:ln>
        </p:spPr>
        <p:txBody>
          <a:bodyPr/>
          <a:lstStyle/>
          <a:p>
            <a:endParaRPr lang="en-GB" sz="2400"/>
          </a:p>
        </p:txBody>
      </p:sp>
      <p:sp>
        <p:nvSpPr>
          <p:cNvPr id="12" name="Text 10"/>
          <p:cNvSpPr txBox="1"/>
          <p:nvPr/>
        </p:nvSpPr>
        <p:spPr>
          <a:xfrm>
            <a:off x="6217920" y="2438400"/>
            <a:ext cx="609600" cy="609600"/>
          </a:xfrm>
          <a:prstGeom prst="rect">
            <a:avLst/>
          </a:prstGeom>
          <a:noFill/>
          <a:ln/>
        </p:spPr>
        <p:txBody>
          <a:bodyPr wrap="square" lIns="0" tIns="0" rIns="0" bIns="0" rtlCol="0" anchor="ctr"/>
          <a:lstStyle/>
          <a:p>
            <a:pPr algn="ctr"/>
            <a:r>
              <a:rPr lang="en-US" sz="1867" b="1" dirty="0">
                <a:solidFill>
                  <a:srgbClr val="FFFFFF"/>
                </a:solidFill>
              </a:rPr>
              <a:t>3</a:t>
            </a:r>
            <a:endParaRPr lang="en-US" sz="1867" dirty="0"/>
          </a:p>
        </p:txBody>
      </p:sp>
      <p:sp>
        <p:nvSpPr>
          <p:cNvPr id="13" name="Text 11"/>
          <p:cNvSpPr txBox="1"/>
          <p:nvPr/>
        </p:nvSpPr>
        <p:spPr>
          <a:xfrm>
            <a:off x="6217920" y="3169920"/>
            <a:ext cx="2560320" cy="1463040"/>
          </a:xfrm>
          <a:prstGeom prst="rect">
            <a:avLst/>
          </a:prstGeom>
          <a:noFill/>
          <a:ln/>
        </p:spPr>
        <p:txBody>
          <a:bodyPr wrap="square" lIns="0" tIns="0" rIns="0" bIns="0" rtlCol="0" anchor="t"/>
          <a:lstStyle/>
          <a:p>
            <a:r>
              <a:rPr lang="en-US" sz="1600" dirty="0">
                <a:solidFill>
                  <a:srgbClr val="3D3D3D"/>
                </a:solidFill>
              </a:rPr>
              <a:t>Repeat 1,000 times. The share that detected the effect is the power</a:t>
            </a:r>
            <a:endParaRPr lang="en-US" sz="1600" dirty="0"/>
          </a:p>
        </p:txBody>
      </p:sp>
      <p:sp>
        <p:nvSpPr>
          <p:cNvPr id="14" name="Shape 12"/>
          <p:cNvSpPr/>
          <p:nvPr/>
        </p:nvSpPr>
        <p:spPr>
          <a:xfrm>
            <a:off x="9022080" y="2438400"/>
            <a:ext cx="609600" cy="609600"/>
          </a:xfrm>
          <a:prstGeom prst="ellipse">
            <a:avLst/>
          </a:prstGeom>
          <a:solidFill>
            <a:srgbClr val="0F7F7F"/>
          </a:solidFill>
          <a:ln w="12700">
            <a:solidFill>
              <a:srgbClr val="0F7F7F"/>
            </a:solidFill>
            <a:prstDash val="solid"/>
          </a:ln>
        </p:spPr>
        <p:txBody>
          <a:bodyPr/>
          <a:lstStyle/>
          <a:p>
            <a:endParaRPr lang="en-GB" sz="2400"/>
          </a:p>
        </p:txBody>
      </p:sp>
      <p:sp>
        <p:nvSpPr>
          <p:cNvPr id="15" name="Text 13"/>
          <p:cNvSpPr txBox="1"/>
          <p:nvPr/>
        </p:nvSpPr>
        <p:spPr>
          <a:xfrm>
            <a:off x="9022080" y="2438400"/>
            <a:ext cx="609600" cy="609600"/>
          </a:xfrm>
          <a:prstGeom prst="rect">
            <a:avLst/>
          </a:prstGeom>
          <a:noFill/>
          <a:ln/>
        </p:spPr>
        <p:txBody>
          <a:bodyPr wrap="square" lIns="0" tIns="0" rIns="0" bIns="0" rtlCol="0" anchor="ctr"/>
          <a:lstStyle/>
          <a:p>
            <a:pPr algn="ctr"/>
            <a:r>
              <a:rPr lang="en-US" sz="1867" b="1" dirty="0">
                <a:solidFill>
                  <a:srgbClr val="FFFFFF"/>
                </a:solidFill>
              </a:rPr>
              <a:t>4</a:t>
            </a:r>
            <a:endParaRPr lang="en-US" sz="1867" dirty="0"/>
          </a:p>
        </p:txBody>
      </p:sp>
      <p:sp>
        <p:nvSpPr>
          <p:cNvPr id="16" name="Text 14"/>
          <p:cNvSpPr txBox="1"/>
          <p:nvPr/>
        </p:nvSpPr>
        <p:spPr>
          <a:xfrm>
            <a:off x="9022080" y="3169920"/>
            <a:ext cx="2560320" cy="1463040"/>
          </a:xfrm>
          <a:prstGeom prst="rect">
            <a:avLst/>
          </a:prstGeom>
          <a:noFill/>
          <a:ln/>
        </p:spPr>
        <p:txBody>
          <a:bodyPr wrap="square" lIns="0" tIns="0" rIns="0" bIns="0" rtlCol="0" anchor="t"/>
          <a:lstStyle/>
          <a:p>
            <a:r>
              <a:rPr lang="en-US" sz="1600" dirty="0">
                <a:solidFill>
                  <a:srgbClr val="3D3D3D"/>
                </a:solidFill>
              </a:rPr>
              <a:t>Change the sample size until the power reaches 80%</a:t>
            </a:r>
            <a:endParaRPr lang="en-US" sz="1600" dirty="0"/>
          </a:p>
        </p:txBody>
      </p:sp>
      <p:sp>
        <p:nvSpPr>
          <p:cNvPr id="17" name="Shape 15"/>
          <p:cNvSpPr/>
          <p:nvPr/>
        </p:nvSpPr>
        <p:spPr>
          <a:xfrm>
            <a:off x="609600" y="4754880"/>
            <a:ext cx="10972800" cy="975360"/>
          </a:xfrm>
          <a:prstGeom prst="roundRect">
            <a:avLst>
              <a:gd name="adj" fmla="val 10000"/>
            </a:avLst>
          </a:prstGeom>
          <a:solidFill>
            <a:srgbClr val="E6F2F2"/>
          </a:solidFill>
          <a:ln w="12700">
            <a:solidFill>
              <a:srgbClr val="E6F2F2"/>
            </a:solidFill>
            <a:prstDash val="solid"/>
          </a:ln>
        </p:spPr>
        <p:txBody>
          <a:bodyPr/>
          <a:lstStyle/>
          <a:p>
            <a:endParaRPr lang="en-GB" sz="2400"/>
          </a:p>
        </p:txBody>
      </p:sp>
      <p:sp>
        <p:nvSpPr>
          <p:cNvPr id="18" name="Text 16"/>
          <p:cNvSpPr txBox="1"/>
          <p:nvPr/>
        </p:nvSpPr>
        <p:spPr>
          <a:xfrm>
            <a:off x="853440" y="4754880"/>
            <a:ext cx="10485120" cy="975360"/>
          </a:xfrm>
          <a:prstGeom prst="rect">
            <a:avLst/>
          </a:prstGeom>
          <a:noFill/>
          <a:ln/>
        </p:spPr>
        <p:txBody>
          <a:bodyPr wrap="square" lIns="0" tIns="0" rIns="0" bIns="0" rtlCol="0" anchor="ctr"/>
          <a:lstStyle/>
          <a:p>
            <a:r>
              <a:rPr lang="en-US" sz="1600" dirty="0">
                <a:solidFill>
                  <a:srgbClr val="0A5C5C"/>
                </a:solidFill>
              </a:rPr>
              <a:t>This is the recipe of Part B with your own statistical test sitting inside the model. There are formulas for simple cases; the simulation works for any design, however complicated.</a:t>
            </a:r>
            <a:endParaRPr lang="en-US" sz="1600" dirty="0"/>
          </a:p>
        </p:txBody>
      </p:sp>
      <p:sp>
        <p:nvSpPr>
          <p:cNvPr id="19" name="Text 17"/>
          <p:cNvSpPr txBox="1"/>
          <p:nvPr/>
        </p:nvSpPr>
        <p:spPr>
          <a:xfrm>
            <a:off x="609600" y="5913120"/>
            <a:ext cx="10241280" cy="365760"/>
          </a:xfrm>
          <a:prstGeom prst="rect">
            <a:avLst/>
          </a:prstGeom>
          <a:noFill/>
          <a:ln/>
        </p:spPr>
        <p:txBody>
          <a:bodyPr wrap="square" lIns="0" tIns="0" rIns="0" bIns="0" rtlCol="0" anchor="t"/>
          <a:lstStyle/>
          <a:p>
            <a:r>
              <a:rPr lang="en-US" sz="1200" i="1" dirty="0">
                <a:solidFill>
                  <a:srgbClr val="6B6B6B"/>
                </a:solidFill>
              </a:rPr>
              <a:t>Effect sizes in SD units follow Cohen, J. (1988). Statistical Power Analysis for the Behavioral Sciences.</a:t>
            </a:r>
            <a:endParaRPr lang="en-US" sz="1200" dirty="0"/>
          </a:p>
        </p:txBody>
      </p:sp>
      <p:sp>
        <p:nvSpPr>
          <p:cNvPr id="25" name="Slide Number Placeholder 0"/>
          <p:cNvSpPr>
            <a:spLocks noGrp="1"/>
          </p:cNvSpPr>
          <p:nvPr>
            <p:ph type="sldNum" sz="quarter" idx="4294967295"/>
          </p:nvPr>
        </p:nvSpPr>
        <p:spPr>
          <a:xfrm>
            <a:off x="10972800" y="6339840"/>
            <a:ext cx="609600" cy="365760"/>
          </a:xfrm>
          <a:prstGeom prst="rect">
            <a:avLst/>
          </a:prstGeom>
          <a:extLst>
            <a:ext uri="{C572A759-6A51-4108-AA02-DFA0A04FC94B}">
              <ma14:wrappingTextBoxFlag xmlns="" xmlns:ma14="http://schemas.microsoft.com/office/mac/drawingml/2011/main" val="0"/>
            </a:ext>
          </a:extLst>
        </p:spPr>
        <p:txBody>
          <a:bodyPr/>
          <a:lstStyle>
            <a:lvl1pPr>
              <a:defRPr sz="1200">
                <a:solidFill>
                  <a:srgbClr val="6B6B6B"/>
                </a:solidFill>
              </a:defRPr>
            </a:lvl1pPr>
          </a:lstStyle>
          <a:p>
            <a:pPr algn="r"/>
            <a:fld id="{F7021451-1387-4CA6-816F-3879F97B5CBC}" type="slidenum">
              <a:rPr lang="en-US" b="0"/>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09600" y="426720"/>
            <a:ext cx="10972800" cy="914400"/>
          </a:xfrm>
          <a:prstGeom prst="rect">
            <a:avLst/>
          </a:prstGeom>
          <a:noFill/>
          <a:ln/>
        </p:spPr>
        <p:txBody>
          <a:bodyPr vert="horz" wrap="square" lIns="0" tIns="0" rIns="0" bIns="0" rtlCol="0" anchor="ctr">
            <a:normAutofit/>
          </a:bodyPr>
          <a:lstStyle/>
          <a:p>
            <a:r>
              <a:rPr lang="en-US" dirty="0"/>
              <a:t>Power by simulation</a:t>
            </a:r>
          </a:p>
        </p:txBody>
      </p:sp>
      <p:sp>
        <p:nvSpPr>
          <p:cNvPr id="3" name="Text 1"/>
          <p:cNvSpPr txBox="1"/>
          <p:nvPr/>
        </p:nvSpPr>
        <p:spPr>
          <a:xfrm>
            <a:off x="8046720" y="6303264"/>
            <a:ext cx="2682240" cy="365760"/>
          </a:xfrm>
          <a:prstGeom prst="rect">
            <a:avLst/>
          </a:prstGeom>
          <a:solidFill>
            <a:srgbClr val="E6F2F2"/>
          </a:solidFill>
          <a:ln/>
        </p:spPr>
        <p:txBody>
          <a:bodyPr wrap="square" lIns="0" tIns="0" rIns="0" bIns="0" rtlCol="0" anchor="ctr"/>
          <a:lstStyle/>
          <a:p>
            <a:pPr algn="ctr"/>
            <a:r>
              <a:rPr lang="en-US" sz="1333" b="1" dirty="0">
                <a:solidFill>
                  <a:srgbClr val="0A5C5C"/>
                </a:solidFill>
              </a:rPr>
              <a:t>STOP 4 · POWER</a:t>
            </a:r>
            <a:endParaRPr lang="en-US" sz="1333" dirty="0"/>
          </a:p>
        </p:txBody>
      </p:sp>
      <p:pic>
        <p:nvPicPr>
          <p:cNvPr id="4" name="Image 0" descr="figs/fig8_power.png"/>
          <p:cNvPicPr>
            <a:picLocks noChangeAspect="1"/>
          </p:cNvPicPr>
          <p:nvPr/>
        </p:nvPicPr>
        <p:blipFill>
          <a:blip r:embed="rId3"/>
          <a:stretch>
            <a:fillRect/>
          </a:stretch>
        </p:blipFill>
        <p:spPr>
          <a:xfrm>
            <a:off x="609600" y="1645920"/>
            <a:ext cx="7315200" cy="3413760"/>
          </a:xfrm>
          <a:prstGeom prst="rect">
            <a:avLst/>
          </a:prstGeom>
        </p:spPr>
      </p:pic>
      <p:sp>
        <p:nvSpPr>
          <p:cNvPr id="5" name="Text 2"/>
          <p:cNvSpPr txBox="1"/>
          <p:nvPr/>
        </p:nvSpPr>
        <p:spPr>
          <a:xfrm>
            <a:off x="8168640" y="1584960"/>
            <a:ext cx="3413760" cy="4389120"/>
          </a:xfrm>
          <a:prstGeom prst="rect">
            <a:avLst/>
          </a:prstGeom>
          <a:noFill/>
          <a:ln/>
        </p:spPr>
        <p:txBody>
          <a:bodyPr wrap="square" lIns="0" tIns="0" rIns="0" bIns="0" rtlCol="0" anchor="t"/>
          <a:lstStyle/>
          <a:p>
            <a:pPr marL="457189" indent="-457189">
              <a:spcAft>
                <a:spcPts val="1067"/>
              </a:spcAft>
              <a:buSzPct val="100000"/>
              <a:buChar char="•"/>
            </a:pPr>
            <a:r>
              <a:rPr lang="en-US" sz="1600" dirty="0">
                <a:solidFill>
                  <a:srgbClr val="3D3D3D"/>
                </a:solidFill>
              </a:rPr>
              <a:t>Effect sizes in standard-deviation units: small 0.2, medium 0.5, large 0.8.</a:t>
            </a:r>
            <a:endParaRPr lang="en-US" sz="1600" dirty="0"/>
          </a:p>
          <a:p>
            <a:pPr marL="457189" indent="-457189">
              <a:spcAft>
                <a:spcPts val="1067"/>
              </a:spcAft>
              <a:buSzPct val="100000"/>
              <a:buChar char="•"/>
            </a:pPr>
            <a:r>
              <a:rPr lang="en-US" sz="1600" dirty="0">
                <a:solidFill>
                  <a:srgbClr val="3D3D3D"/>
                </a:solidFill>
              </a:rPr>
              <a:t>A medium effect needs about 64 people per group for 80% power.</a:t>
            </a:r>
            <a:endParaRPr lang="en-US" sz="1600" dirty="0"/>
          </a:p>
          <a:p>
            <a:pPr marL="457189" indent="-457189">
              <a:spcAft>
                <a:spcPts val="1067"/>
              </a:spcAft>
              <a:buSzPct val="100000"/>
              <a:buChar char="•"/>
            </a:pPr>
            <a:r>
              <a:rPr lang="en-US" sz="1600" dirty="0">
                <a:solidFill>
                  <a:srgbClr val="3D3D3D"/>
                </a:solidFill>
              </a:rPr>
              <a:t>A small effect needs about 400. This is why underpowered studies of small effects are so common.</a:t>
            </a:r>
            <a:endParaRPr lang="en-US" sz="1600" dirty="0"/>
          </a:p>
        </p:txBody>
      </p:sp>
      <p:sp>
        <p:nvSpPr>
          <p:cNvPr id="6" name="Text 3"/>
          <p:cNvSpPr txBox="1"/>
          <p:nvPr/>
        </p:nvSpPr>
        <p:spPr>
          <a:xfrm>
            <a:off x="609600" y="5242560"/>
            <a:ext cx="10972800" cy="731520"/>
          </a:xfrm>
          <a:prstGeom prst="rect">
            <a:avLst/>
          </a:prstGeom>
          <a:noFill/>
          <a:ln/>
        </p:spPr>
        <p:txBody>
          <a:bodyPr wrap="square" lIns="0" tIns="0" rIns="0" bIns="0" rtlCol="0" anchor="t"/>
          <a:lstStyle/>
          <a:p>
            <a:r>
              <a:rPr lang="en-US" sz="1600" i="1" dirty="0">
                <a:solidFill>
                  <a:srgbClr val="0F7F7F"/>
                </a:solidFill>
              </a:rPr>
              <a:t>The same trick checks whether any method behaves as advertised: is my estimator unbiased? Does my 95% interval really contain the truth 95% of the time? (Notebook 4.3.)</a:t>
            </a:r>
            <a:endParaRPr lang="en-US" sz="1600" dirty="0"/>
          </a:p>
        </p:txBody>
      </p:sp>
      <p:sp>
        <p:nvSpPr>
          <p:cNvPr id="25" name="Slide Number Placeholder 0"/>
          <p:cNvSpPr>
            <a:spLocks noGrp="1"/>
          </p:cNvSpPr>
          <p:nvPr>
            <p:ph type="sldNum" sz="quarter" idx="4294967295"/>
          </p:nvPr>
        </p:nvSpPr>
        <p:spPr>
          <a:xfrm>
            <a:off x="10972800" y="6339840"/>
            <a:ext cx="609600" cy="365760"/>
          </a:xfrm>
          <a:prstGeom prst="rect">
            <a:avLst/>
          </a:prstGeom>
          <a:extLst>
            <a:ext uri="{C572A759-6A51-4108-AA02-DFA0A04FC94B}">
              <ma14:wrappingTextBoxFlag xmlns="" xmlns:ma14="http://schemas.microsoft.com/office/mac/drawingml/2011/main" val="0"/>
            </a:ext>
          </a:extLst>
        </p:spPr>
        <p:txBody>
          <a:bodyPr/>
          <a:lstStyle>
            <a:lvl1pPr>
              <a:defRPr sz="1200">
                <a:solidFill>
                  <a:srgbClr val="6B6B6B"/>
                </a:solidFill>
              </a:defRPr>
            </a:lvl1pPr>
          </a:lstStyle>
          <a:p>
            <a:pPr algn="r"/>
            <a:fld id="{F7021451-1387-4CA6-816F-3879F97B5CBC}" type="slidenum">
              <a:rPr lang="en-US" b="0"/>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09600" y="426720"/>
            <a:ext cx="10972800" cy="914400"/>
          </a:xfrm>
          <a:prstGeom prst="rect">
            <a:avLst/>
          </a:prstGeom>
          <a:noFill/>
          <a:ln/>
        </p:spPr>
        <p:txBody>
          <a:bodyPr vert="horz" wrap="square" lIns="0" tIns="0" rIns="0" bIns="0" rtlCol="0" anchor="ctr">
            <a:normAutofit/>
          </a:bodyPr>
          <a:lstStyle/>
          <a:p>
            <a:r>
              <a:rPr lang="en-US" dirty="0"/>
              <a:t>Stop 4 · On your screen</a:t>
            </a:r>
          </a:p>
        </p:txBody>
      </p:sp>
      <p:sp>
        <p:nvSpPr>
          <p:cNvPr id="3" name="Shape 1"/>
          <p:cNvSpPr/>
          <p:nvPr/>
        </p:nvSpPr>
        <p:spPr>
          <a:xfrm>
            <a:off x="609600" y="1463040"/>
            <a:ext cx="5303520" cy="1158240"/>
          </a:xfrm>
          <a:prstGeom prst="roundRect">
            <a:avLst>
              <a:gd name="adj" fmla="val 8421"/>
            </a:avLst>
          </a:prstGeom>
          <a:solidFill>
            <a:srgbClr val="E6F2F2"/>
          </a:solidFill>
          <a:ln w="12700">
            <a:solidFill>
              <a:srgbClr val="E6F2F2"/>
            </a:solidFill>
            <a:prstDash val="solid"/>
          </a:ln>
        </p:spPr>
        <p:txBody>
          <a:bodyPr/>
          <a:lstStyle/>
          <a:p>
            <a:endParaRPr lang="en-GB" sz="2400"/>
          </a:p>
        </p:txBody>
      </p:sp>
      <p:sp>
        <p:nvSpPr>
          <p:cNvPr id="4" name="Text 2"/>
          <p:cNvSpPr txBox="1"/>
          <p:nvPr/>
        </p:nvSpPr>
        <p:spPr>
          <a:xfrm>
            <a:off x="792480" y="1463040"/>
            <a:ext cx="4998720" cy="1158240"/>
          </a:xfrm>
          <a:prstGeom prst="rect">
            <a:avLst/>
          </a:prstGeom>
          <a:noFill/>
          <a:ln/>
        </p:spPr>
        <p:txBody>
          <a:bodyPr wrap="square" lIns="0" tIns="0" rIns="0" bIns="0" rtlCol="0" anchor="ctr"/>
          <a:lstStyle/>
          <a:p>
            <a:r>
              <a:rPr lang="en-US" sz="1600" b="1" dirty="0">
                <a:solidFill>
                  <a:srgbClr val="0A5C5C"/>
                </a:solidFill>
              </a:rPr>
              <a:t>Website animation  </a:t>
            </a:r>
            <a:r>
              <a:rPr lang="en-US" sz="1600" dirty="0">
                <a:solidFill>
                  <a:srgbClr val="3D3D3D"/>
                </a:solidFill>
              </a:rPr>
              <a:t>“Power”: two sliders, a bar that turns green at 80%.</a:t>
            </a:r>
            <a:endParaRPr lang="en-US" sz="1600" dirty="0"/>
          </a:p>
        </p:txBody>
      </p:sp>
      <p:sp>
        <p:nvSpPr>
          <p:cNvPr id="5" name="Shape 3"/>
          <p:cNvSpPr/>
          <p:nvPr/>
        </p:nvSpPr>
        <p:spPr>
          <a:xfrm>
            <a:off x="6278880" y="1463040"/>
            <a:ext cx="5303520" cy="1158240"/>
          </a:xfrm>
          <a:prstGeom prst="roundRect">
            <a:avLst>
              <a:gd name="adj" fmla="val 8421"/>
            </a:avLst>
          </a:prstGeom>
          <a:solidFill>
            <a:srgbClr val="FBEBDD"/>
          </a:solidFill>
          <a:ln w="12700">
            <a:solidFill>
              <a:srgbClr val="FBEBDD"/>
            </a:solidFill>
            <a:prstDash val="solid"/>
          </a:ln>
        </p:spPr>
        <p:txBody>
          <a:bodyPr/>
          <a:lstStyle/>
          <a:p>
            <a:endParaRPr lang="en-GB" sz="2400"/>
          </a:p>
        </p:txBody>
      </p:sp>
      <p:sp>
        <p:nvSpPr>
          <p:cNvPr id="6" name="Text 4"/>
          <p:cNvSpPr txBox="1"/>
          <p:nvPr/>
        </p:nvSpPr>
        <p:spPr>
          <a:xfrm>
            <a:off x="6461760" y="1463040"/>
            <a:ext cx="4998720" cy="1158240"/>
          </a:xfrm>
          <a:prstGeom prst="rect">
            <a:avLst/>
          </a:prstGeom>
          <a:noFill/>
          <a:ln/>
        </p:spPr>
        <p:txBody>
          <a:bodyPr wrap="square" lIns="0" tIns="0" rIns="0" bIns="0" rtlCol="0" anchor="ctr"/>
          <a:lstStyle/>
          <a:p>
            <a:r>
              <a:rPr lang="en-US" sz="1600" b="1" dirty="0">
                <a:solidFill>
                  <a:srgbClr val="7A4A1E"/>
                </a:solidFill>
              </a:rPr>
              <a:t>Notebook  </a:t>
            </a:r>
            <a:r>
              <a:rPr lang="en-US" sz="1600" dirty="0">
                <a:solidFill>
                  <a:srgbClr val="3D3D3D"/>
                </a:solidFill>
              </a:rPr>
              <a:t>sections 4.1 to 4.3 (4.3 is the coverage check).</a:t>
            </a:r>
            <a:endParaRPr lang="en-US" sz="1600" dirty="0"/>
          </a:p>
        </p:txBody>
      </p:sp>
      <p:graphicFrame>
        <p:nvGraphicFramePr>
          <p:cNvPr id="36" name="Table 0"/>
          <p:cNvGraphicFramePr>
            <a:graphicFrameLocks noGrp="1"/>
          </p:cNvGraphicFramePr>
          <p:nvPr/>
        </p:nvGraphicFramePr>
        <p:xfrm>
          <a:off x="609600" y="2804160"/>
          <a:ext cx="10972800" cy="1581912"/>
        </p:xfrm>
        <a:graphic>
          <a:graphicData uri="http://schemas.openxmlformats.org/drawingml/2006/table">
            <a:tbl>
              <a:tblPr/>
              <a:tblGrid>
                <a:gridCol w="2072640">
                  <a:extLst>
                    <a:ext uri="{9D8B030D-6E8A-4147-A177-3AD203B41FA5}">
                      <a16:colId xmlns:a16="http://schemas.microsoft.com/office/drawing/2014/main" val="20000"/>
                    </a:ext>
                  </a:extLst>
                </a:gridCol>
                <a:gridCol w="4145280">
                  <a:extLst>
                    <a:ext uri="{9D8B030D-6E8A-4147-A177-3AD203B41FA5}">
                      <a16:colId xmlns:a16="http://schemas.microsoft.com/office/drawing/2014/main" val="20001"/>
                    </a:ext>
                  </a:extLst>
                </a:gridCol>
                <a:gridCol w="4754880">
                  <a:extLst>
                    <a:ext uri="{9D8B030D-6E8A-4147-A177-3AD203B41FA5}">
                      <a16:colId xmlns:a16="http://schemas.microsoft.com/office/drawing/2014/main" val="20002"/>
                    </a:ext>
                  </a:extLst>
                </a:gridCol>
              </a:tblGrid>
              <a:tr h="369824">
                <a:tc>
                  <a:txBody>
                    <a:bodyPr/>
                    <a:lstStyle/>
                    <a:p>
                      <a:pPr marL="0" indent="0">
                        <a:buNone/>
                      </a:pPr>
                      <a:r>
                        <a:rPr lang="en-US" sz="1500" b="1" dirty="0">
                          <a:solidFill>
                            <a:srgbClr val="0A5C5C"/>
                          </a:solidFill>
                          <a:latin typeface="Calibri" pitchFamily="34" charset="0"/>
                          <a:ea typeface="Calibri" pitchFamily="34" charset="-122"/>
                          <a:cs typeface="Calibri" pitchFamily="34" charset="-120"/>
                        </a:rPr>
                        <a:t>Parameter</a:t>
                      </a:r>
                      <a:endParaRPr lang="en-US" sz="1500" dirty="0">
                        <a:latin typeface="Calibri" charset="0"/>
                        <a:ea typeface="Calibri" charset="0"/>
                        <a:cs typeface="Calibri" charset="0"/>
                      </a:endParaRPr>
                    </a:p>
                  </a:txBody>
                  <a:tcPr marL="73152" marR="73152" marT="73152" marB="73152">
                    <a:lnL w="6350" cap="flat" cmpd="sng" algn="ctr">
                      <a:solidFill>
                        <a:srgbClr val="D9ECEC"/>
                      </a:solidFill>
                      <a:prstDash val="solid"/>
                      <a:round/>
                      <a:headEnd type="none" w="med" len="med"/>
                      <a:tailEnd type="none" w="med" len="med"/>
                    </a:lnL>
                    <a:lnR w="6350" cap="flat" cmpd="sng" algn="ctr">
                      <a:solidFill>
                        <a:srgbClr val="D9ECEC"/>
                      </a:solidFill>
                      <a:prstDash val="solid"/>
                      <a:round/>
                      <a:headEnd type="none" w="med" len="med"/>
                      <a:tailEnd type="none" w="med" len="med"/>
                    </a:lnR>
                    <a:lnT w="6350" cap="flat" cmpd="sng" algn="ctr">
                      <a:solidFill>
                        <a:srgbClr val="D9ECEC"/>
                      </a:solidFill>
                      <a:prstDash val="solid"/>
                      <a:round/>
                      <a:headEnd type="none" w="med" len="med"/>
                      <a:tailEnd type="none" w="med" len="med"/>
                    </a:lnT>
                    <a:lnB w="6350" cap="flat" cmpd="sng" algn="ctr">
                      <a:solidFill>
                        <a:srgbClr val="D9ECEC"/>
                      </a:solidFill>
                      <a:prstDash val="solid"/>
                      <a:round/>
                      <a:headEnd type="none" w="med" len="med"/>
                      <a:tailEnd type="none" w="med" len="med"/>
                    </a:lnB>
                    <a:solidFill>
                      <a:srgbClr val="F3F9F9"/>
                    </a:solidFill>
                  </a:tcPr>
                </a:tc>
                <a:tc>
                  <a:txBody>
                    <a:bodyPr/>
                    <a:lstStyle/>
                    <a:p>
                      <a:pPr marL="0" indent="0">
                        <a:buNone/>
                      </a:pPr>
                      <a:r>
                        <a:rPr lang="en-US" sz="1500" b="1" dirty="0">
                          <a:solidFill>
                            <a:srgbClr val="0A5C5C"/>
                          </a:solidFill>
                          <a:latin typeface="Calibri" pitchFamily="34" charset="0"/>
                          <a:ea typeface="Calibri" pitchFamily="34" charset="-122"/>
                          <a:cs typeface="Calibri" pitchFamily="34" charset="-120"/>
                        </a:rPr>
                        <a:t>What it means</a:t>
                      </a:r>
                      <a:endParaRPr lang="en-US" sz="1500" dirty="0">
                        <a:latin typeface="Calibri" charset="0"/>
                        <a:ea typeface="Calibri" charset="0"/>
                        <a:cs typeface="Calibri" charset="0"/>
                      </a:endParaRPr>
                    </a:p>
                  </a:txBody>
                  <a:tcPr marL="73152" marR="73152" marT="73152" marB="73152">
                    <a:lnL w="6350" cap="flat" cmpd="sng" algn="ctr">
                      <a:solidFill>
                        <a:srgbClr val="D9ECEC"/>
                      </a:solidFill>
                      <a:prstDash val="solid"/>
                      <a:round/>
                      <a:headEnd type="none" w="med" len="med"/>
                      <a:tailEnd type="none" w="med" len="med"/>
                    </a:lnL>
                    <a:lnR w="6350" cap="flat" cmpd="sng" algn="ctr">
                      <a:solidFill>
                        <a:srgbClr val="D9ECEC"/>
                      </a:solidFill>
                      <a:prstDash val="solid"/>
                      <a:round/>
                      <a:headEnd type="none" w="med" len="med"/>
                      <a:tailEnd type="none" w="med" len="med"/>
                    </a:lnR>
                    <a:lnT w="6350" cap="flat" cmpd="sng" algn="ctr">
                      <a:solidFill>
                        <a:srgbClr val="D9ECEC"/>
                      </a:solidFill>
                      <a:prstDash val="solid"/>
                      <a:round/>
                      <a:headEnd type="none" w="med" len="med"/>
                      <a:tailEnd type="none" w="med" len="med"/>
                    </a:lnT>
                    <a:lnB w="6350" cap="flat" cmpd="sng" algn="ctr">
                      <a:solidFill>
                        <a:srgbClr val="D9ECEC"/>
                      </a:solidFill>
                      <a:prstDash val="solid"/>
                      <a:round/>
                      <a:headEnd type="none" w="med" len="med"/>
                      <a:tailEnd type="none" w="med" len="med"/>
                    </a:lnB>
                    <a:solidFill>
                      <a:srgbClr val="F3F9F9"/>
                    </a:solidFill>
                  </a:tcPr>
                </a:tc>
                <a:tc>
                  <a:txBody>
                    <a:bodyPr/>
                    <a:lstStyle/>
                    <a:p>
                      <a:pPr marL="0" indent="0">
                        <a:buNone/>
                      </a:pPr>
                      <a:r>
                        <a:rPr lang="en-US" sz="1500" b="1" dirty="0">
                          <a:solidFill>
                            <a:srgbClr val="0A5C5C"/>
                          </a:solidFill>
                          <a:latin typeface="Calibri" pitchFamily="34" charset="0"/>
                          <a:ea typeface="Calibri" pitchFamily="34" charset="-122"/>
                          <a:cs typeface="Calibri" pitchFamily="34" charset="-120"/>
                        </a:rPr>
                        <a:t>What to watch</a:t>
                      </a:r>
                      <a:endParaRPr lang="en-US" sz="1500" dirty="0">
                        <a:latin typeface="Calibri" charset="0"/>
                        <a:ea typeface="Calibri" charset="0"/>
                        <a:cs typeface="Calibri" charset="0"/>
                      </a:endParaRPr>
                    </a:p>
                  </a:txBody>
                  <a:tcPr marL="73152" marR="73152" marT="73152" marB="73152">
                    <a:lnL w="6350" cap="flat" cmpd="sng" algn="ctr">
                      <a:solidFill>
                        <a:srgbClr val="D9ECEC"/>
                      </a:solidFill>
                      <a:prstDash val="solid"/>
                      <a:round/>
                      <a:headEnd type="none" w="med" len="med"/>
                      <a:tailEnd type="none" w="med" len="med"/>
                    </a:lnL>
                    <a:lnR w="6350" cap="flat" cmpd="sng" algn="ctr">
                      <a:solidFill>
                        <a:srgbClr val="D9ECEC"/>
                      </a:solidFill>
                      <a:prstDash val="solid"/>
                      <a:round/>
                      <a:headEnd type="none" w="med" len="med"/>
                      <a:tailEnd type="none" w="med" len="med"/>
                    </a:lnR>
                    <a:lnT w="6350" cap="flat" cmpd="sng" algn="ctr">
                      <a:solidFill>
                        <a:srgbClr val="D9ECEC"/>
                      </a:solidFill>
                      <a:prstDash val="solid"/>
                      <a:round/>
                      <a:headEnd type="none" w="med" len="med"/>
                      <a:tailEnd type="none" w="med" len="med"/>
                    </a:lnT>
                    <a:lnB w="6350" cap="flat" cmpd="sng" algn="ctr">
                      <a:solidFill>
                        <a:srgbClr val="D9ECEC"/>
                      </a:solidFill>
                      <a:prstDash val="solid"/>
                      <a:round/>
                      <a:headEnd type="none" w="med" len="med"/>
                      <a:tailEnd type="none" w="med" len="med"/>
                    </a:lnB>
                    <a:solidFill>
                      <a:srgbClr val="F3F9F9"/>
                    </a:solidFill>
                  </a:tcPr>
                </a:tc>
                <a:extLst>
                  <a:ext uri="{0D108BD9-81ED-4DB2-BD59-A6C34878D82A}">
                    <a16:rowId xmlns:a16="http://schemas.microsoft.com/office/drawing/2014/main" val="10000"/>
                  </a:ext>
                </a:extLst>
              </a:tr>
              <a:tr h="593344">
                <a:tc>
                  <a:txBody>
                    <a:bodyPr/>
                    <a:lstStyle/>
                    <a:p>
                      <a:pPr marL="0" indent="0">
                        <a:buNone/>
                      </a:pPr>
                      <a:r>
                        <a:rPr lang="en-US" sz="1500" b="1" dirty="0">
                          <a:solidFill>
                            <a:srgbClr val="3D3D3D"/>
                          </a:solidFill>
                          <a:latin typeface="Calibri" pitchFamily="34" charset="0"/>
                          <a:ea typeface="Calibri" pitchFamily="34" charset="-122"/>
                          <a:cs typeface="Calibri" pitchFamily="34" charset="-120"/>
                        </a:rPr>
                        <a:t>People per group</a:t>
                      </a:r>
                      <a:endParaRPr lang="en-US" sz="1500" dirty="0">
                        <a:latin typeface="Calibri" charset="0"/>
                        <a:ea typeface="Calibri" charset="0"/>
                        <a:cs typeface="Calibri" charset="0"/>
                      </a:endParaRPr>
                    </a:p>
                  </a:txBody>
                  <a:tcPr marL="73152" marR="73152" marT="73152" marB="73152">
                    <a:lnL w="6350" cap="flat" cmpd="sng" algn="ctr">
                      <a:solidFill>
                        <a:srgbClr val="D9ECEC"/>
                      </a:solidFill>
                      <a:prstDash val="solid"/>
                      <a:round/>
                      <a:headEnd type="none" w="med" len="med"/>
                      <a:tailEnd type="none" w="med" len="med"/>
                    </a:lnL>
                    <a:lnR w="6350" cap="flat" cmpd="sng" algn="ctr">
                      <a:solidFill>
                        <a:srgbClr val="D9ECEC"/>
                      </a:solidFill>
                      <a:prstDash val="solid"/>
                      <a:round/>
                      <a:headEnd type="none" w="med" len="med"/>
                      <a:tailEnd type="none" w="med" len="med"/>
                    </a:lnR>
                    <a:lnT w="6350" cap="flat" cmpd="sng" algn="ctr">
                      <a:solidFill>
                        <a:srgbClr val="D9ECEC"/>
                      </a:solidFill>
                      <a:prstDash val="solid"/>
                      <a:round/>
                      <a:headEnd type="none" w="med" len="med"/>
                      <a:tailEnd type="none" w="med" len="med"/>
                    </a:lnT>
                    <a:lnB w="6350" cap="flat" cmpd="sng" algn="ctr">
                      <a:solidFill>
                        <a:srgbClr val="D9ECEC"/>
                      </a:solidFill>
                      <a:prstDash val="solid"/>
                      <a:round/>
                      <a:headEnd type="none" w="med" len="med"/>
                      <a:tailEnd type="none" w="med" len="med"/>
                    </a:lnB>
                  </a:tcPr>
                </a:tc>
                <a:tc>
                  <a:txBody>
                    <a:bodyPr/>
                    <a:lstStyle/>
                    <a:p>
                      <a:pPr marL="0" indent="0">
                        <a:buNone/>
                      </a:pPr>
                      <a:r>
                        <a:rPr lang="en-US" sz="1500" dirty="0">
                          <a:solidFill>
                            <a:srgbClr val="3D3D3D"/>
                          </a:solidFill>
                          <a:latin typeface="Calibri" pitchFamily="34" charset="0"/>
                          <a:ea typeface="Calibri" pitchFamily="34" charset="-122"/>
                          <a:cs typeface="Calibri" pitchFamily="34" charset="-120"/>
                        </a:rPr>
                        <a:t>Sample size of each of the two groups</a:t>
                      </a:r>
                      <a:endParaRPr lang="en-US" sz="1500" dirty="0">
                        <a:latin typeface="Calibri" charset="0"/>
                        <a:ea typeface="Calibri" charset="0"/>
                        <a:cs typeface="Calibri" charset="0"/>
                      </a:endParaRPr>
                    </a:p>
                  </a:txBody>
                  <a:tcPr marL="73152" marR="73152" marT="73152" marB="73152">
                    <a:lnL w="6350" cap="flat" cmpd="sng" algn="ctr">
                      <a:solidFill>
                        <a:srgbClr val="D9ECEC"/>
                      </a:solidFill>
                      <a:prstDash val="solid"/>
                      <a:round/>
                      <a:headEnd type="none" w="med" len="med"/>
                      <a:tailEnd type="none" w="med" len="med"/>
                    </a:lnL>
                    <a:lnR w="6350" cap="flat" cmpd="sng" algn="ctr">
                      <a:solidFill>
                        <a:srgbClr val="D9ECEC"/>
                      </a:solidFill>
                      <a:prstDash val="solid"/>
                      <a:round/>
                      <a:headEnd type="none" w="med" len="med"/>
                      <a:tailEnd type="none" w="med" len="med"/>
                    </a:lnR>
                    <a:lnT w="6350" cap="flat" cmpd="sng" algn="ctr">
                      <a:solidFill>
                        <a:srgbClr val="D9ECEC"/>
                      </a:solidFill>
                      <a:prstDash val="solid"/>
                      <a:round/>
                      <a:headEnd type="none" w="med" len="med"/>
                      <a:tailEnd type="none" w="med" len="med"/>
                    </a:lnT>
                    <a:lnB w="6350" cap="flat" cmpd="sng" algn="ctr">
                      <a:solidFill>
                        <a:srgbClr val="D9ECEC"/>
                      </a:solidFill>
                      <a:prstDash val="solid"/>
                      <a:round/>
                      <a:headEnd type="none" w="med" len="med"/>
                      <a:tailEnd type="none" w="med" len="med"/>
                    </a:lnB>
                  </a:tcPr>
                </a:tc>
                <a:tc>
                  <a:txBody>
                    <a:bodyPr/>
                    <a:lstStyle/>
                    <a:p>
                      <a:pPr marL="0" indent="0">
                        <a:buNone/>
                      </a:pPr>
                      <a:r>
                        <a:rPr lang="en-US" sz="1500" dirty="0">
                          <a:solidFill>
                            <a:srgbClr val="3D3D3D"/>
                          </a:solidFill>
                          <a:latin typeface="Calibri" pitchFamily="34" charset="0"/>
                          <a:ea typeface="Calibri" pitchFamily="34" charset="-122"/>
                          <a:cs typeface="Calibri" pitchFamily="34" charset="-120"/>
                        </a:rPr>
                        <a:t>Power rises with n but flattens: going from 100 to 200 buys little for a medium effect</a:t>
                      </a:r>
                      <a:endParaRPr lang="en-US" sz="1500" dirty="0">
                        <a:latin typeface="Calibri" charset="0"/>
                        <a:ea typeface="Calibri" charset="0"/>
                        <a:cs typeface="Calibri" charset="0"/>
                      </a:endParaRPr>
                    </a:p>
                  </a:txBody>
                  <a:tcPr marL="73152" marR="73152" marT="73152" marB="73152">
                    <a:lnL w="6350" cap="flat" cmpd="sng" algn="ctr">
                      <a:solidFill>
                        <a:srgbClr val="D9ECEC"/>
                      </a:solidFill>
                      <a:prstDash val="solid"/>
                      <a:round/>
                      <a:headEnd type="none" w="med" len="med"/>
                      <a:tailEnd type="none" w="med" len="med"/>
                    </a:lnL>
                    <a:lnR w="6350" cap="flat" cmpd="sng" algn="ctr">
                      <a:solidFill>
                        <a:srgbClr val="D9ECEC"/>
                      </a:solidFill>
                      <a:prstDash val="solid"/>
                      <a:round/>
                      <a:headEnd type="none" w="med" len="med"/>
                      <a:tailEnd type="none" w="med" len="med"/>
                    </a:lnR>
                    <a:lnT w="6350" cap="flat" cmpd="sng" algn="ctr">
                      <a:solidFill>
                        <a:srgbClr val="D9ECEC"/>
                      </a:solidFill>
                      <a:prstDash val="solid"/>
                      <a:round/>
                      <a:headEnd type="none" w="med" len="med"/>
                      <a:tailEnd type="none" w="med" len="med"/>
                    </a:lnT>
                    <a:lnB w="6350" cap="flat" cmpd="sng" algn="ctr">
                      <a:solidFill>
                        <a:srgbClr val="D9ECEC"/>
                      </a:solidFill>
                      <a:prstDash val="solid"/>
                      <a:round/>
                      <a:headEnd type="none" w="med" len="med"/>
                      <a:tailEnd type="none" w="med" len="med"/>
                    </a:lnB>
                  </a:tcPr>
                </a:tc>
                <a:extLst>
                  <a:ext uri="{0D108BD9-81ED-4DB2-BD59-A6C34878D82A}">
                    <a16:rowId xmlns:a16="http://schemas.microsoft.com/office/drawing/2014/main" val="10001"/>
                  </a:ext>
                </a:extLst>
              </a:tr>
              <a:tr h="593344">
                <a:tc>
                  <a:txBody>
                    <a:bodyPr/>
                    <a:lstStyle/>
                    <a:p>
                      <a:pPr marL="0" indent="0">
                        <a:buNone/>
                      </a:pPr>
                      <a:r>
                        <a:rPr lang="en-US" sz="1500" b="1" dirty="0">
                          <a:solidFill>
                            <a:srgbClr val="3D3D3D"/>
                          </a:solidFill>
                          <a:latin typeface="Calibri" pitchFamily="34" charset="0"/>
                          <a:ea typeface="Calibri" pitchFamily="34" charset="-122"/>
                          <a:cs typeface="Calibri" pitchFamily="34" charset="-120"/>
                        </a:rPr>
                        <a:t>Effect size (d)</a:t>
                      </a:r>
                      <a:endParaRPr lang="en-US" sz="1500" dirty="0">
                        <a:latin typeface="Calibri" charset="0"/>
                        <a:ea typeface="Calibri" charset="0"/>
                        <a:cs typeface="Calibri" charset="0"/>
                      </a:endParaRPr>
                    </a:p>
                  </a:txBody>
                  <a:tcPr marL="73152" marR="73152" marT="73152" marB="73152">
                    <a:lnL w="6350" cap="flat" cmpd="sng" algn="ctr">
                      <a:solidFill>
                        <a:srgbClr val="D9ECEC"/>
                      </a:solidFill>
                      <a:prstDash val="solid"/>
                      <a:round/>
                      <a:headEnd type="none" w="med" len="med"/>
                      <a:tailEnd type="none" w="med" len="med"/>
                    </a:lnL>
                    <a:lnR w="6350" cap="flat" cmpd="sng" algn="ctr">
                      <a:solidFill>
                        <a:srgbClr val="D9ECEC"/>
                      </a:solidFill>
                      <a:prstDash val="solid"/>
                      <a:round/>
                      <a:headEnd type="none" w="med" len="med"/>
                      <a:tailEnd type="none" w="med" len="med"/>
                    </a:lnR>
                    <a:lnT w="6350" cap="flat" cmpd="sng" algn="ctr">
                      <a:solidFill>
                        <a:srgbClr val="D9ECEC"/>
                      </a:solidFill>
                      <a:prstDash val="solid"/>
                      <a:round/>
                      <a:headEnd type="none" w="med" len="med"/>
                      <a:tailEnd type="none" w="med" len="med"/>
                    </a:lnT>
                    <a:lnB w="6350" cap="flat" cmpd="sng" algn="ctr">
                      <a:solidFill>
                        <a:srgbClr val="D9ECEC"/>
                      </a:solidFill>
                      <a:prstDash val="solid"/>
                      <a:round/>
                      <a:headEnd type="none" w="med" len="med"/>
                      <a:tailEnd type="none" w="med" len="med"/>
                    </a:lnB>
                  </a:tcPr>
                </a:tc>
                <a:tc>
                  <a:txBody>
                    <a:bodyPr/>
                    <a:lstStyle/>
                    <a:p>
                      <a:pPr marL="0" indent="0">
                        <a:buNone/>
                      </a:pPr>
                      <a:r>
                        <a:rPr lang="en-US" sz="1500" dirty="0">
                          <a:solidFill>
                            <a:srgbClr val="3D3D3D"/>
                          </a:solidFill>
                          <a:latin typeface="Calibri" pitchFamily="34" charset="0"/>
                          <a:ea typeface="Calibri" pitchFamily="34" charset="-122"/>
                          <a:cs typeface="Calibri" pitchFamily="34" charset="-120"/>
                        </a:rPr>
                        <a:t>How big the real difference is, in SD units</a:t>
                      </a:r>
                      <a:endParaRPr lang="en-US" sz="1500" dirty="0">
                        <a:latin typeface="Calibri" charset="0"/>
                        <a:ea typeface="Calibri" charset="0"/>
                        <a:cs typeface="Calibri" charset="0"/>
                      </a:endParaRPr>
                    </a:p>
                  </a:txBody>
                  <a:tcPr marL="73152" marR="73152" marT="73152" marB="73152">
                    <a:lnL w="6350" cap="flat" cmpd="sng" algn="ctr">
                      <a:solidFill>
                        <a:srgbClr val="D9ECEC"/>
                      </a:solidFill>
                      <a:prstDash val="solid"/>
                      <a:round/>
                      <a:headEnd type="none" w="med" len="med"/>
                      <a:tailEnd type="none" w="med" len="med"/>
                    </a:lnL>
                    <a:lnR w="6350" cap="flat" cmpd="sng" algn="ctr">
                      <a:solidFill>
                        <a:srgbClr val="D9ECEC"/>
                      </a:solidFill>
                      <a:prstDash val="solid"/>
                      <a:round/>
                      <a:headEnd type="none" w="med" len="med"/>
                      <a:tailEnd type="none" w="med" len="med"/>
                    </a:lnR>
                    <a:lnT w="6350" cap="flat" cmpd="sng" algn="ctr">
                      <a:solidFill>
                        <a:srgbClr val="D9ECEC"/>
                      </a:solidFill>
                      <a:prstDash val="solid"/>
                      <a:round/>
                      <a:headEnd type="none" w="med" len="med"/>
                      <a:tailEnd type="none" w="med" len="med"/>
                    </a:lnT>
                    <a:lnB w="6350" cap="flat" cmpd="sng" algn="ctr">
                      <a:solidFill>
                        <a:srgbClr val="D9ECEC"/>
                      </a:solidFill>
                      <a:prstDash val="solid"/>
                      <a:round/>
                      <a:headEnd type="none" w="med" len="med"/>
                      <a:tailEnd type="none" w="med" len="med"/>
                    </a:lnB>
                  </a:tcPr>
                </a:tc>
                <a:tc>
                  <a:txBody>
                    <a:bodyPr/>
                    <a:lstStyle/>
                    <a:p>
                      <a:pPr marL="0" indent="0">
                        <a:buNone/>
                      </a:pPr>
                      <a:r>
                        <a:rPr lang="en-US" sz="1500" dirty="0">
                          <a:solidFill>
                            <a:srgbClr val="3D3D3D"/>
                          </a:solidFill>
                          <a:latin typeface="Calibri" pitchFamily="34" charset="0"/>
                          <a:ea typeface="Calibri" pitchFamily="34" charset="-122"/>
                          <a:cs typeface="Calibri" pitchFamily="34" charset="-120"/>
                        </a:rPr>
                        <a:t>Small effects need very large samples; at d = 0.2 the bar stays red until several hundred per group</a:t>
                      </a:r>
                      <a:endParaRPr lang="en-US" sz="1500" dirty="0">
                        <a:latin typeface="Calibri" charset="0"/>
                        <a:ea typeface="Calibri" charset="0"/>
                        <a:cs typeface="Calibri" charset="0"/>
                      </a:endParaRPr>
                    </a:p>
                  </a:txBody>
                  <a:tcPr marL="73152" marR="73152" marT="73152" marB="73152">
                    <a:lnL w="6350" cap="flat" cmpd="sng" algn="ctr">
                      <a:solidFill>
                        <a:srgbClr val="D9ECEC"/>
                      </a:solidFill>
                      <a:prstDash val="solid"/>
                      <a:round/>
                      <a:headEnd type="none" w="med" len="med"/>
                      <a:tailEnd type="none" w="med" len="med"/>
                    </a:lnL>
                    <a:lnR w="6350" cap="flat" cmpd="sng" algn="ctr">
                      <a:solidFill>
                        <a:srgbClr val="D9ECEC"/>
                      </a:solidFill>
                      <a:prstDash val="solid"/>
                      <a:round/>
                      <a:headEnd type="none" w="med" len="med"/>
                      <a:tailEnd type="none" w="med" len="med"/>
                    </a:lnR>
                    <a:lnT w="6350" cap="flat" cmpd="sng" algn="ctr">
                      <a:solidFill>
                        <a:srgbClr val="D9ECEC"/>
                      </a:solidFill>
                      <a:prstDash val="solid"/>
                      <a:round/>
                      <a:headEnd type="none" w="med" len="med"/>
                      <a:tailEnd type="none" w="med" len="med"/>
                    </a:lnT>
                    <a:lnB w="6350" cap="flat" cmpd="sng" algn="ctr">
                      <a:solidFill>
                        <a:srgbClr val="D9ECEC"/>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
        <p:nvSpPr>
          <p:cNvPr id="8" name="Text 5"/>
          <p:cNvSpPr txBox="1"/>
          <p:nvPr/>
        </p:nvSpPr>
        <p:spPr>
          <a:xfrm>
            <a:off x="609600" y="5547360"/>
            <a:ext cx="10972800" cy="670560"/>
          </a:xfrm>
          <a:prstGeom prst="rect">
            <a:avLst/>
          </a:prstGeom>
          <a:noFill/>
          <a:ln/>
        </p:spPr>
        <p:txBody>
          <a:bodyPr wrap="square" lIns="0" tIns="0" rIns="0" bIns="0" rtlCol="0" anchor="t"/>
          <a:lstStyle/>
          <a:p>
            <a:r>
              <a:rPr lang="en-US" sz="1467" b="1" dirty="0">
                <a:solidFill>
                  <a:srgbClr val="C97B3A"/>
                </a:solidFill>
              </a:rPr>
              <a:t>✎ Exercise, for later (notebook):  </a:t>
            </a:r>
            <a:r>
              <a:rPr lang="en-US" sz="1467" dirty="0">
                <a:solidFill>
                  <a:srgbClr val="3D3D3D"/>
                </a:solidFill>
              </a:rPr>
              <a:t>an unequal design (40 vs 20): modify power() to take two sample sizes and find how many are needed in the smaller group.</a:t>
            </a:r>
            <a:endParaRPr lang="en-US" sz="1467" dirty="0"/>
          </a:p>
        </p:txBody>
      </p:sp>
      <p:sp>
        <p:nvSpPr>
          <p:cNvPr id="25" name="Slide Number Placeholder 0"/>
          <p:cNvSpPr>
            <a:spLocks noGrp="1"/>
          </p:cNvSpPr>
          <p:nvPr>
            <p:ph type="sldNum" sz="quarter" idx="4294967295"/>
          </p:nvPr>
        </p:nvSpPr>
        <p:spPr>
          <a:xfrm>
            <a:off x="10972800" y="6339840"/>
            <a:ext cx="609600" cy="365760"/>
          </a:xfrm>
          <a:prstGeom prst="rect">
            <a:avLst/>
          </a:prstGeom>
          <a:extLst>
            <a:ext uri="{C572A759-6A51-4108-AA02-DFA0A04FC94B}">
              <ma14:wrappingTextBoxFlag xmlns="" xmlns:ma14="http://schemas.microsoft.com/office/mac/drawingml/2011/main" val="0"/>
            </a:ext>
          </a:extLst>
        </p:spPr>
        <p:txBody>
          <a:bodyPr/>
          <a:lstStyle>
            <a:lvl1pPr>
              <a:defRPr sz="1200">
                <a:solidFill>
                  <a:srgbClr val="6B6B6B"/>
                </a:solidFill>
              </a:defRPr>
            </a:lvl1pPr>
          </a:lstStyle>
          <a:p>
            <a:pPr algn="r"/>
            <a:fld id="{F7021451-1387-4CA6-816F-3879F97B5CBC}" type="slidenum">
              <a:rPr lang="en-US" b="0"/>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09600" y="426720"/>
            <a:ext cx="10972800" cy="914400"/>
          </a:xfrm>
          <a:prstGeom prst="rect">
            <a:avLst/>
          </a:prstGeom>
          <a:noFill/>
          <a:ln/>
        </p:spPr>
        <p:txBody>
          <a:bodyPr vert="horz" wrap="square" lIns="0" tIns="0" rIns="0" bIns="0" rtlCol="0" anchor="ctr">
            <a:normAutofit/>
          </a:bodyPr>
          <a:lstStyle/>
          <a:p>
            <a:r>
              <a:rPr lang="en-US" dirty="0"/>
              <a:t>What we learned at stop 4</a:t>
            </a:r>
          </a:p>
        </p:txBody>
      </p:sp>
      <p:sp>
        <p:nvSpPr>
          <p:cNvPr id="3" name="Shape 1"/>
          <p:cNvSpPr/>
          <p:nvPr/>
        </p:nvSpPr>
        <p:spPr>
          <a:xfrm>
            <a:off x="609600" y="1584960"/>
            <a:ext cx="10972800" cy="4145280"/>
          </a:xfrm>
          <a:prstGeom prst="roundRect">
            <a:avLst>
              <a:gd name="adj" fmla="val 3529"/>
            </a:avLst>
          </a:prstGeom>
          <a:solidFill>
            <a:srgbClr val="E6F2F2"/>
          </a:solidFill>
          <a:ln w="12700">
            <a:solidFill>
              <a:srgbClr val="E6F2F2"/>
            </a:solidFill>
            <a:prstDash val="solid"/>
          </a:ln>
        </p:spPr>
        <p:txBody>
          <a:bodyPr/>
          <a:lstStyle/>
          <a:p>
            <a:endParaRPr lang="en-GB" sz="2400"/>
          </a:p>
        </p:txBody>
      </p:sp>
      <p:sp>
        <p:nvSpPr>
          <p:cNvPr id="4" name="Text 2"/>
          <p:cNvSpPr txBox="1"/>
          <p:nvPr/>
        </p:nvSpPr>
        <p:spPr>
          <a:xfrm>
            <a:off x="1097280" y="1950720"/>
            <a:ext cx="10119360" cy="3535680"/>
          </a:xfrm>
          <a:prstGeom prst="rect">
            <a:avLst/>
          </a:prstGeom>
          <a:noFill/>
          <a:ln/>
        </p:spPr>
        <p:txBody>
          <a:bodyPr wrap="square" lIns="0" tIns="0" rIns="0" bIns="0" rtlCol="0" anchor="t"/>
          <a:lstStyle/>
          <a:p>
            <a:pPr marL="457189" indent="-457189">
              <a:spcAft>
                <a:spcPts val="1867"/>
              </a:spcAft>
              <a:buSzPct val="100000"/>
              <a:buChar char="•"/>
            </a:pPr>
            <a:r>
              <a:rPr lang="en-US" sz="2400" dirty="0">
                <a:solidFill>
                  <a:srgbClr val="0A5C5C"/>
                </a:solidFill>
              </a:rPr>
              <a:t>You can test a study design by simulation before collecting any data.</a:t>
            </a:r>
            <a:endParaRPr lang="en-US" sz="2400" dirty="0"/>
          </a:p>
          <a:p>
            <a:pPr marL="457189" indent="-457189">
              <a:spcAft>
                <a:spcPts val="1867"/>
              </a:spcAft>
              <a:buSzPct val="100000"/>
              <a:buChar char="•"/>
            </a:pPr>
            <a:r>
              <a:rPr lang="en-US" sz="2400" dirty="0">
                <a:solidFill>
                  <a:srgbClr val="0A5C5C"/>
                </a:solidFill>
              </a:rPr>
              <a:t>Power is simply the share of simulated studies that find the real effect.</a:t>
            </a:r>
            <a:endParaRPr lang="en-US" sz="2400" dirty="0"/>
          </a:p>
          <a:p>
            <a:pPr marL="457189" indent="-457189">
              <a:spcAft>
                <a:spcPts val="1867"/>
              </a:spcAft>
              <a:buSzPct val="100000"/>
              <a:buChar char="•"/>
            </a:pPr>
            <a:r>
              <a:rPr lang="en-US" sz="2400" dirty="0">
                <a:solidFill>
                  <a:srgbClr val="0A5C5C"/>
                </a:solidFill>
              </a:rPr>
              <a:t>The same trick checks whether any statistical method behaves as advertised.</a:t>
            </a:r>
            <a:endParaRPr lang="en-US" sz="2400" dirty="0"/>
          </a:p>
        </p:txBody>
      </p:sp>
      <p:sp>
        <p:nvSpPr>
          <p:cNvPr id="25" name="Slide Number Placeholder 0"/>
          <p:cNvSpPr>
            <a:spLocks noGrp="1"/>
          </p:cNvSpPr>
          <p:nvPr>
            <p:ph type="sldNum" sz="quarter" idx="4294967295"/>
          </p:nvPr>
        </p:nvSpPr>
        <p:spPr>
          <a:xfrm>
            <a:off x="10972800" y="6339840"/>
            <a:ext cx="609600" cy="365760"/>
          </a:xfrm>
          <a:prstGeom prst="rect">
            <a:avLst/>
          </a:prstGeom>
          <a:extLst>
            <a:ext uri="{C572A759-6A51-4108-AA02-DFA0A04FC94B}">
              <ma14:wrappingTextBoxFlag xmlns="" xmlns:ma14="http://schemas.microsoft.com/office/mac/drawingml/2011/main" val="0"/>
            </a:ext>
          </a:extLst>
        </p:spPr>
        <p:txBody>
          <a:bodyPr/>
          <a:lstStyle>
            <a:lvl1pPr>
              <a:defRPr sz="1200">
                <a:solidFill>
                  <a:srgbClr val="6B6B6B"/>
                </a:solidFill>
              </a:defRPr>
            </a:lvl1pPr>
          </a:lstStyle>
          <a:p>
            <a:pPr algn="r"/>
            <a:fld id="{F7021451-1387-4CA6-816F-3879F97B5CBC}" type="slidenum">
              <a:rPr lang="en-US" b="0"/>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731520" y="1706880"/>
            <a:ext cx="10728960" cy="609600"/>
          </a:xfrm>
          <a:prstGeom prst="rect">
            <a:avLst/>
          </a:prstGeom>
          <a:noFill/>
          <a:ln/>
        </p:spPr>
        <p:txBody>
          <a:bodyPr vert="horz" wrap="square" lIns="0" tIns="0" rIns="0" bIns="0" rtlCol="0">
            <a:normAutofit/>
          </a:bodyPr>
          <a:lstStyle/>
          <a:p>
            <a:r>
              <a:rPr lang="en-US" dirty="0"/>
              <a:t>Stop 5</a:t>
            </a:r>
          </a:p>
        </p:txBody>
      </p:sp>
      <p:sp>
        <p:nvSpPr>
          <p:cNvPr id="3" name="Text 0"/>
          <p:cNvSpPr>
            <a:spLocks noGrp="1"/>
          </p:cNvSpPr>
          <p:nvPr>
            <p:ph type="title" idx="101" hasCustomPrompt="1"/>
          </p:nvPr>
        </p:nvSpPr>
        <p:spPr>
          <a:xfrm>
            <a:off x="731520" y="2316480"/>
            <a:ext cx="10728960" cy="2194560"/>
          </a:xfrm>
          <a:prstGeom prst="rect">
            <a:avLst/>
          </a:prstGeom>
          <a:noFill/>
          <a:ln/>
        </p:spPr>
        <p:txBody>
          <a:bodyPr vert="horz" wrap="square" lIns="0" tIns="0" rIns="0" bIns="0" rtlCol="0" anchor="ctr">
            <a:normAutofit/>
          </a:bodyPr>
          <a:lstStyle/>
          <a:p>
            <a:r>
              <a:rPr lang="en-US" dirty="0"/>
              <a:t>Schelling's neighbourhood, and Monte Carlo over an agent-based model</a:t>
            </a:r>
          </a:p>
        </p:txBody>
      </p:sp>
      <p:sp>
        <p:nvSpPr>
          <p:cNvPr id="4" name="Text 0"/>
          <p:cNvSpPr>
            <a:spLocks noGrp="1"/>
          </p:cNvSpPr>
          <p:nvPr>
            <p:ph type="body" idx="102" hasCustomPrompt="1"/>
          </p:nvPr>
        </p:nvSpPr>
        <p:spPr>
          <a:xfrm>
            <a:off x="731520" y="4754880"/>
            <a:ext cx="10728960" cy="1097280"/>
          </a:xfrm>
          <a:prstGeom prst="rect">
            <a:avLst/>
          </a:prstGeom>
          <a:noFill/>
          <a:ln/>
        </p:spPr>
        <p:txBody>
          <a:bodyPr vert="horz" wrap="square" lIns="0" tIns="0" rIns="0" bIns="0" rtlCol="0">
            <a:normAutofit/>
          </a:bodyPr>
          <a:lstStyle/>
          <a:p>
            <a:r>
              <a:rPr lang="en-US" dirty="0"/>
              <a:t>One run is an anecdote. Many runs are an experiment.</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09600" y="426720"/>
            <a:ext cx="10972800" cy="914400"/>
          </a:xfrm>
          <a:prstGeom prst="rect">
            <a:avLst/>
          </a:prstGeom>
          <a:noFill/>
          <a:ln/>
        </p:spPr>
        <p:txBody>
          <a:bodyPr vert="horz" wrap="square" lIns="0" tIns="0" rIns="0" bIns="0" rtlCol="0" anchor="ctr">
            <a:normAutofit/>
          </a:bodyPr>
          <a:lstStyle/>
          <a:p>
            <a:r>
              <a:rPr lang="en-US" dirty="0"/>
              <a:t>The model: a city of particular households</a:t>
            </a:r>
          </a:p>
        </p:txBody>
      </p:sp>
      <p:sp>
        <p:nvSpPr>
          <p:cNvPr id="3" name="Text 1"/>
          <p:cNvSpPr txBox="1"/>
          <p:nvPr/>
        </p:nvSpPr>
        <p:spPr>
          <a:xfrm>
            <a:off x="8046720" y="6303264"/>
            <a:ext cx="2682240" cy="365760"/>
          </a:xfrm>
          <a:prstGeom prst="rect">
            <a:avLst/>
          </a:prstGeom>
          <a:solidFill>
            <a:srgbClr val="E6F2F2"/>
          </a:solidFill>
          <a:ln/>
        </p:spPr>
        <p:txBody>
          <a:bodyPr wrap="square" lIns="0" tIns="0" rIns="0" bIns="0" rtlCol="0" anchor="ctr"/>
          <a:lstStyle/>
          <a:p>
            <a:pPr algn="ctr"/>
            <a:r>
              <a:rPr lang="en-US" sz="1333" b="1" dirty="0">
                <a:solidFill>
                  <a:srgbClr val="0A5C5C"/>
                </a:solidFill>
              </a:rPr>
              <a:t>STOP 5 · SCHELLING</a:t>
            </a:r>
            <a:endParaRPr lang="en-US" sz="1333" dirty="0"/>
          </a:p>
        </p:txBody>
      </p:sp>
      <p:sp>
        <p:nvSpPr>
          <p:cNvPr id="4" name="Shape 2"/>
          <p:cNvSpPr/>
          <p:nvPr/>
        </p:nvSpPr>
        <p:spPr>
          <a:xfrm>
            <a:off x="609600" y="1584960"/>
            <a:ext cx="2438400" cy="3048000"/>
          </a:xfrm>
          <a:prstGeom prst="rect">
            <a:avLst/>
          </a:prstGeom>
          <a:solidFill>
            <a:srgbClr val="F3F9F9"/>
          </a:solidFill>
          <a:ln w="12700">
            <a:solidFill>
              <a:srgbClr val="9FCFCF"/>
            </a:solidFill>
            <a:prstDash val="dash"/>
          </a:ln>
        </p:spPr>
        <p:txBody>
          <a:bodyPr/>
          <a:lstStyle/>
          <a:p>
            <a:endParaRPr lang="en-GB" sz="2400"/>
          </a:p>
        </p:txBody>
      </p:sp>
      <p:sp>
        <p:nvSpPr>
          <p:cNvPr id="5" name="Text 3"/>
          <p:cNvSpPr txBox="1"/>
          <p:nvPr/>
        </p:nvSpPr>
        <p:spPr>
          <a:xfrm>
            <a:off x="679409" y="1146048"/>
            <a:ext cx="2298782" cy="390144"/>
          </a:xfrm>
          <a:prstGeom prst="rect">
            <a:avLst/>
          </a:prstGeom>
          <a:noFill/>
          <a:ln/>
        </p:spPr>
        <p:txBody>
          <a:bodyPr wrap="square" lIns="0" tIns="0" rIns="0" bIns="0" rtlCol="0" anchor="ctr"/>
          <a:lstStyle/>
          <a:p>
            <a:pPr algn="ctr"/>
            <a:r>
              <a:rPr lang="en-US" sz="1333" dirty="0">
                <a:solidFill>
                  <a:srgbClr val="6B6B6B"/>
                </a:solidFill>
              </a:rPr>
              <a:t>
</a:t>
            </a:r>
            <a:r>
              <a:rPr lang="en-US" sz="1600" b="1" dirty="0">
                <a:solidFill>
                  <a:srgbClr val="0A5C5C"/>
                </a:solidFill>
              </a:rPr>
              <a:t>Thomas C. Schelling</a:t>
            </a:r>
            <a:endParaRPr lang="en-US" sz="1333" dirty="0"/>
          </a:p>
        </p:txBody>
      </p:sp>
      <p:sp>
        <p:nvSpPr>
          <p:cNvPr id="7" name="Text 5"/>
          <p:cNvSpPr txBox="1"/>
          <p:nvPr/>
        </p:nvSpPr>
        <p:spPr>
          <a:xfrm>
            <a:off x="3535680" y="1584960"/>
            <a:ext cx="8046720" cy="4389120"/>
          </a:xfrm>
          <a:prstGeom prst="rect">
            <a:avLst/>
          </a:prstGeom>
          <a:noFill/>
          <a:ln/>
        </p:spPr>
        <p:txBody>
          <a:bodyPr wrap="square" lIns="0" tIns="0" rIns="0" bIns="0" rtlCol="0" anchor="t"/>
          <a:lstStyle/>
          <a:p>
            <a:pPr marL="457189" indent="-457189">
              <a:spcAft>
                <a:spcPts val="1067"/>
              </a:spcAft>
              <a:buSzPct val="100000"/>
              <a:buChar char="•"/>
            </a:pPr>
            <a:r>
              <a:rPr lang="en-US" sz="1733" dirty="0">
                <a:solidFill>
                  <a:srgbClr val="3D3D3D"/>
                </a:solidFill>
              </a:rPr>
              <a:t>A grid of houses. Each is empty or holds a household of one of two kinds.</a:t>
            </a:r>
            <a:endParaRPr lang="en-US" sz="1733" dirty="0"/>
          </a:p>
          <a:p>
            <a:pPr marL="457189" indent="-457189">
              <a:spcAft>
                <a:spcPts val="1067"/>
              </a:spcAft>
              <a:buSzPct val="100000"/>
              <a:buChar char="•"/>
            </a:pPr>
            <a:r>
              <a:rPr lang="en-US" sz="1733" dirty="0">
                <a:solidFill>
                  <a:srgbClr val="3D3D3D"/>
                </a:solidFill>
              </a:rPr>
              <a:t>Every household wants at least some share of its eight nearest neighbours to be its own kind: the tolerance threshold.</a:t>
            </a:r>
            <a:endParaRPr lang="en-US" sz="1733" dirty="0"/>
          </a:p>
          <a:p>
            <a:pPr marL="457189" indent="-457189">
              <a:spcAft>
                <a:spcPts val="1067"/>
              </a:spcAft>
              <a:buSzPct val="100000"/>
              <a:buChar char="•"/>
            </a:pPr>
            <a:r>
              <a:rPr lang="en-US" sz="1733" dirty="0">
                <a:solidFill>
                  <a:srgbClr val="3D3D3D"/>
                </a:solidFill>
              </a:rPr>
              <a:t>Unhappy households move to a random empty house. Happy ones stay. That is the whole model.</a:t>
            </a:r>
            <a:endParaRPr lang="en-US" sz="1733" dirty="0"/>
          </a:p>
          <a:p>
            <a:pPr marL="457189" indent="-457189">
              <a:spcAft>
                <a:spcPts val="1067"/>
              </a:spcAft>
              <a:buSzPct val="100000"/>
              <a:buChar char="•"/>
            </a:pPr>
            <a:r>
              <a:rPr lang="en-US" sz="1733" dirty="0">
                <a:solidFill>
                  <a:srgbClr val="3D3D3D"/>
                </a:solidFill>
              </a:rPr>
              <a:t>Schelling's question: how strong must the preference be before the city segregates? His answer: not strong at all.</a:t>
            </a:r>
            <a:endParaRPr lang="en-US" sz="1733" dirty="0"/>
          </a:p>
        </p:txBody>
      </p:sp>
      <p:sp>
        <p:nvSpPr>
          <p:cNvPr id="8" name="Text 6"/>
          <p:cNvSpPr txBox="1"/>
          <p:nvPr/>
        </p:nvSpPr>
        <p:spPr>
          <a:xfrm>
            <a:off x="609600" y="5913120"/>
            <a:ext cx="10241280" cy="365760"/>
          </a:xfrm>
          <a:prstGeom prst="rect">
            <a:avLst/>
          </a:prstGeom>
          <a:noFill/>
          <a:ln/>
        </p:spPr>
        <p:txBody>
          <a:bodyPr wrap="square" lIns="0" tIns="0" rIns="0" bIns="0" rtlCol="0" anchor="t"/>
          <a:lstStyle/>
          <a:p>
            <a:r>
              <a:rPr lang="en-US" sz="1200" i="1" dirty="0">
                <a:solidFill>
                  <a:srgbClr val="6B6B6B"/>
                </a:solidFill>
              </a:rPr>
              <a:t>Schelling, T. C. (1971). Dynamic models of segregation. Journal of Mathematical Sociology, 1(2), 143–186. · Schelling (1978). Micromotives and Macrobehavior.</a:t>
            </a:r>
            <a:endParaRPr lang="en-US" sz="1200" dirty="0"/>
          </a:p>
        </p:txBody>
      </p:sp>
      <p:sp>
        <p:nvSpPr>
          <p:cNvPr id="25" name="Slide Number Placeholder 0"/>
          <p:cNvSpPr>
            <a:spLocks noGrp="1"/>
          </p:cNvSpPr>
          <p:nvPr>
            <p:ph type="sldNum" sz="quarter" idx="4294967295"/>
          </p:nvPr>
        </p:nvSpPr>
        <p:spPr>
          <a:xfrm>
            <a:off x="10972800" y="6339840"/>
            <a:ext cx="609600" cy="365760"/>
          </a:xfrm>
          <a:prstGeom prst="rect">
            <a:avLst/>
          </a:prstGeom>
          <a:extLst>
            <a:ext uri="{C572A759-6A51-4108-AA02-DFA0A04FC94B}">
              <ma14:wrappingTextBoxFlag xmlns="" xmlns:ma14="http://schemas.microsoft.com/office/mac/drawingml/2011/main" val="0"/>
            </a:ext>
          </a:extLst>
        </p:spPr>
        <p:txBody>
          <a:bodyPr/>
          <a:lstStyle>
            <a:lvl1pPr>
              <a:defRPr sz="1200">
                <a:solidFill>
                  <a:srgbClr val="6B6B6B"/>
                </a:solidFill>
              </a:defRPr>
            </a:lvl1pPr>
          </a:lstStyle>
          <a:p>
            <a:pPr algn="r"/>
            <a:fld id="{F7021451-1387-4CA6-816F-3879F97B5CBC}" type="slidenum">
              <a:rPr lang="en-US" b="0"/>
              <a:t>38</a:t>
            </a:fld>
            <a:endParaRPr lang="en-US"/>
          </a:p>
        </p:txBody>
      </p:sp>
      <p:pic>
        <p:nvPicPr>
          <p:cNvPr id="9" name="Picture 8">
            <a:extLst>
              <a:ext uri="{FF2B5EF4-FFF2-40B4-BE49-F238E27FC236}">
                <a16:creationId xmlns:a16="http://schemas.microsoft.com/office/drawing/2014/main" id="{7A9B986A-6773-C26D-BDFB-788F7EC1CF28}"/>
              </a:ext>
            </a:extLst>
          </p:cNvPr>
          <p:cNvPicPr>
            <a:picLocks noChangeAspect="1"/>
          </p:cNvPicPr>
          <p:nvPr/>
        </p:nvPicPr>
        <p:blipFill>
          <a:blip r:embed="rId3"/>
          <a:stretch>
            <a:fillRect/>
          </a:stretch>
        </p:blipFill>
        <p:spPr>
          <a:xfrm>
            <a:off x="638175" y="1875472"/>
            <a:ext cx="2381250" cy="2466975"/>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09600" y="426720"/>
            <a:ext cx="10972800" cy="914400"/>
          </a:xfrm>
          <a:prstGeom prst="rect">
            <a:avLst/>
          </a:prstGeom>
          <a:noFill/>
          <a:ln/>
        </p:spPr>
        <p:txBody>
          <a:bodyPr vert="horz" wrap="square" lIns="0" tIns="0" rIns="0" bIns="0" rtlCol="0" anchor="ctr">
            <a:normAutofit/>
          </a:bodyPr>
          <a:lstStyle/>
          <a:p>
            <a:r>
              <a:rPr lang="en-US" dirty="0"/>
              <a:t>One run of the model</a:t>
            </a:r>
          </a:p>
        </p:txBody>
      </p:sp>
      <p:sp>
        <p:nvSpPr>
          <p:cNvPr id="3" name="Text 1"/>
          <p:cNvSpPr txBox="1"/>
          <p:nvPr/>
        </p:nvSpPr>
        <p:spPr>
          <a:xfrm>
            <a:off x="8046720" y="6303264"/>
            <a:ext cx="2682240" cy="365760"/>
          </a:xfrm>
          <a:prstGeom prst="rect">
            <a:avLst/>
          </a:prstGeom>
          <a:solidFill>
            <a:srgbClr val="E6F2F2"/>
          </a:solidFill>
          <a:ln/>
        </p:spPr>
        <p:txBody>
          <a:bodyPr wrap="square" lIns="0" tIns="0" rIns="0" bIns="0" rtlCol="0" anchor="ctr"/>
          <a:lstStyle/>
          <a:p>
            <a:pPr algn="ctr"/>
            <a:r>
              <a:rPr lang="en-US" sz="1333" b="1" dirty="0">
                <a:solidFill>
                  <a:srgbClr val="0A5C5C"/>
                </a:solidFill>
              </a:rPr>
              <a:t>STOP 5 · SCHELLING</a:t>
            </a:r>
            <a:endParaRPr lang="en-US" sz="1333" dirty="0"/>
          </a:p>
        </p:txBody>
      </p:sp>
      <p:pic>
        <p:nvPicPr>
          <p:cNvPr id="4" name="Image 0" descr="figs/fig9_schelling_grids.png"/>
          <p:cNvPicPr>
            <a:picLocks noChangeAspect="1"/>
          </p:cNvPicPr>
          <p:nvPr/>
        </p:nvPicPr>
        <p:blipFill>
          <a:blip r:embed="rId3"/>
          <a:stretch>
            <a:fillRect/>
          </a:stretch>
        </p:blipFill>
        <p:spPr>
          <a:xfrm>
            <a:off x="1197429" y="1524000"/>
            <a:ext cx="9797143" cy="3657600"/>
          </a:xfrm>
          <a:prstGeom prst="rect">
            <a:avLst/>
          </a:prstGeom>
        </p:spPr>
      </p:pic>
      <p:sp>
        <p:nvSpPr>
          <p:cNvPr id="5" name="Text 2"/>
          <p:cNvSpPr txBox="1"/>
          <p:nvPr/>
        </p:nvSpPr>
        <p:spPr>
          <a:xfrm>
            <a:off x="609600" y="5242560"/>
            <a:ext cx="10972800" cy="426720"/>
          </a:xfrm>
          <a:prstGeom prst="rect">
            <a:avLst/>
          </a:prstGeom>
          <a:noFill/>
          <a:ln/>
        </p:spPr>
        <p:txBody>
          <a:bodyPr wrap="square" lIns="0" tIns="0" rIns="0" bIns="0" rtlCol="0" anchor="t"/>
          <a:lstStyle/>
          <a:p>
            <a:r>
              <a:rPr lang="en-US" sz="1333" i="1" dirty="0">
                <a:solidFill>
                  <a:srgbClr val="6B6B6B"/>
                </a:solidFill>
              </a:rPr>
              <a:t>Left: the random starting city. Middle: after households with a 30% threshold have moved. Right: the same with a 50% threshold.</a:t>
            </a:r>
            <a:endParaRPr lang="en-US" sz="1333" dirty="0"/>
          </a:p>
        </p:txBody>
      </p:sp>
      <p:sp>
        <p:nvSpPr>
          <p:cNvPr id="6" name="Text 3"/>
          <p:cNvSpPr txBox="1"/>
          <p:nvPr/>
        </p:nvSpPr>
        <p:spPr>
          <a:xfrm>
            <a:off x="609600" y="5608320"/>
            <a:ext cx="10972800" cy="609600"/>
          </a:xfrm>
          <a:prstGeom prst="rect">
            <a:avLst/>
          </a:prstGeom>
          <a:noFill/>
          <a:ln/>
        </p:spPr>
        <p:txBody>
          <a:bodyPr wrap="square" lIns="0" tIns="0" rIns="0" bIns="0" rtlCol="0" anchor="t"/>
          <a:lstStyle/>
          <a:p>
            <a:r>
              <a:rPr lang="en-US" sz="1733" b="1" dirty="0">
                <a:solidFill>
                  <a:srgbClr val="D85A30"/>
                </a:solidFill>
              </a:rPr>
              <a:t>Run it again with a different seed and the clusters land elsewhere, with a somewhat different degree of segregation. Which one is “the result”? Neither.</a:t>
            </a:r>
            <a:endParaRPr lang="en-US" sz="1733" dirty="0"/>
          </a:p>
        </p:txBody>
      </p:sp>
      <p:sp>
        <p:nvSpPr>
          <p:cNvPr id="25" name="Slide Number Placeholder 0"/>
          <p:cNvSpPr>
            <a:spLocks noGrp="1"/>
          </p:cNvSpPr>
          <p:nvPr>
            <p:ph type="sldNum" sz="quarter" idx="4294967295"/>
          </p:nvPr>
        </p:nvSpPr>
        <p:spPr>
          <a:xfrm>
            <a:off x="10972800" y="6339840"/>
            <a:ext cx="609600" cy="365760"/>
          </a:xfrm>
          <a:prstGeom prst="rect">
            <a:avLst/>
          </a:prstGeom>
          <a:extLst>
            <a:ext uri="{C572A759-6A51-4108-AA02-DFA0A04FC94B}">
              <ma14:wrappingTextBoxFlag xmlns="" xmlns:ma14="http://schemas.microsoft.com/office/mac/drawingml/2011/main" val="0"/>
            </a:ext>
          </a:extLst>
        </p:spPr>
        <p:txBody>
          <a:bodyPr/>
          <a:lstStyle>
            <a:lvl1pPr>
              <a:defRPr sz="1200">
                <a:solidFill>
                  <a:srgbClr val="6B6B6B"/>
                </a:solidFill>
              </a:defRPr>
            </a:lvl1pPr>
          </a:lstStyle>
          <a:p>
            <a:pPr algn="r"/>
            <a:fld id="{F7021451-1387-4CA6-816F-3879F97B5CBC}" type="slidenum">
              <a:rPr lang="en-US" b="0"/>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09600" y="426720"/>
            <a:ext cx="10972800" cy="914400"/>
          </a:xfrm>
          <a:prstGeom prst="rect">
            <a:avLst/>
          </a:prstGeom>
          <a:noFill/>
          <a:ln/>
        </p:spPr>
        <p:txBody>
          <a:bodyPr vert="horz" wrap="square" lIns="0" tIns="0" rIns="0" bIns="0" rtlCol="0" anchor="ctr">
            <a:normAutofit/>
          </a:bodyPr>
          <a:lstStyle/>
          <a:p>
            <a:r>
              <a:rPr lang="en-US" dirty="0"/>
              <a:t>Forty runs per threshold: the segregation curve</a:t>
            </a:r>
          </a:p>
        </p:txBody>
      </p:sp>
      <p:sp>
        <p:nvSpPr>
          <p:cNvPr id="3" name="Text 1"/>
          <p:cNvSpPr txBox="1"/>
          <p:nvPr/>
        </p:nvSpPr>
        <p:spPr>
          <a:xfrm>
            <a:off x="8046720" y="6303264"/>
            <a:ext cx="2682240" cy="365760"/>
          </a:xfrm>
          <a:prstGeom prst="rect">
            <a:avLst/>
          </a:prstGeom>
          <a:solidFill>
            <a:srgbClr val="E6F2F2"/>
          </a:solidFill>
          <a:ln/>
        </p:spPr>
        <p:txBody>
          <a:bodyPr wrap="square" lIns="0" tIns="0" rIns="0" bIns="0" rtlCol="0" anchor="ctr"/>
          <a:lstStyle/>
          <a:p>
            <a:pPr algn="ctr"/>
            <a:r>
              <a:rPr lang="en-US" sz="1333" b="1" dirty="0">
                <a:solidFill>
                  <a:srgbClr val="0A5C5C"/>
                </a:solidFill>
              </a:rPr>
              <a:t>STOP 5 · SCHELLING</a:t>
            </a:r>
            <a:endParaRPr lang="en-US" sz="1333" dirty="0"/>
          </a:p>
        </p:txBody>
      </p:sp>
      <p:pic>
        <p:nvPicPr>
          <p:cNvPr id="4" name="Image 0" descr="figs/fig10_schelling_curve.png"/>
          <p:cNvPicPr>
            <a:picLocks noChangeAspect="1"/>
          </p:cNvPicPr>
          <p:nvPr/>
        </p:nvPicPr>
        <p:blipFill>
          <a:blip r:embed="rId3"/>
          <a:stretch>
            <a:fillRect/>
          </a:stretch>
        </p:blipFill>
        <p:spPr>
          <a:xfrm>
            <a:off x="609600" y="1919224"/>
            <a:ext cx="7193280" cy="3476752"/>
          </a:xfrm>
          <a:prstGeom prst="rect">
            <a:avLst/>
          </a:prstGeom>
        </p:spPr>
      </p:pic>
      <p:sp>
        <p:nvSpPr>
          <p:cNvPr id="5" name="Text 2"/>
          <p:cNvSpPr txBox="1"/>
          <p:nvPr/>
        </p:nvSpPr>
        <p:spPr>
          <a:xfrm>
            <a:off x="8046720" y="1584960"/>
            <a:ext cx="3535680" cy="4389120"/>
          </a:xfrm>
          <a:prstGeom prst="rect">
            <a:avLst/>
          </a:prstGeom>
          <a:noFill/>
          <a:ln/>
        </p:spPr>
        <p:txBody>
          <a:bodyPr wrap="square" lIns="0" tIns="0" rIns="0" bIns="0" rtlCol="0" anchor="t"/>
          <a:lstStyle/>
          <a:p>
            <a:pPr marL="457189" indent="-457189">
              <a:spcAft>
                <a:spcPts val="1067"/>
              </a:spcAft>
              <a:buSzPct val="100000"/>
              <a:buChar char="•"/>
            </a:pPr>
            <a:r>
              <a:rPr lang="en-US" sz="1467" dirty="0">
                <a:solidFill>
                  <a:srgbClr val="3D3D3D"/>
                </a:solidFill>
              </a:rPr>
              <a:t>A threshold: below 25% tolerance the city stays mixed; between 25% and 30% segregation jumps. With eight neighbours, that is the step from “two like me” to “three like me”.</a:t>
            </a:r>
            <a:endParaRPr lang="en-US" sz="1467" dirty="0"/>
          </a:p>
          <a:p>
            <a:pPr marL="457189" indent="-457189">
              <a:spcAft>
                <a:spcPts val="1067"/>
              </a:spcAft>
              <a:buSzPct val="100000"/>
              <a:buChar char="•"/>
            </a:pPr>
            <a:r>
              <a:rPr lang="en-US" sz="1467" dirty="0">
                <a:solidFill>
                  <a:srgbClr val="3D3D3D"/>
                </a:solidFill>
              </a:rPr>
              <a:t>A surprise at the top: above about 65% almost nobody can be satisfied, households never stop moving, and the city never settles. Segregation falls again.</a:t>
            </a:r>
            <a:endParaRPr lang="en-US" sz="1467" dirty="0"/>
          </a:p>
          <a:p>
            <a:pPr marL="457189" indent="-457189">
              <a:spcAft>
                <a:spcPts val="1067"/>
              </a:spcAft>
              <a:buSzPct val="100000"/>
              <a:buChar char="•"/>
            </a:pPr>
            <a:r>
              <a:rPr lang="en-US" sz="1467" dirty="0">
                <a:solidFill>
                  <a:srgbClr val="3D3D3D"/>
                </a:solidFill>
              </a:rPr>
              <a:t>A measure of confidence: the band shows the run-to-run variation to expect.</a:t>
            </a:r>
            <a:endParaRPr lang="en-US" sz="1467" dirty="0"/>
          </a:p>
        </p:txBody>
      </p:sp>
      <p:sp>
        <p:nvSpPr>
          <p:cNvPr id="25" name="Slide Number Placeholder 0"/>
          <p:cNvSpPr>
            <a:spLocks noGrp="1"/>
          </p:cNvSpPr>
          <p:nvPr>
            <p:ph type="sldNum" sz="quarter" idx="4294967295"/>
          </p:nvPr>
        </p:nvSpPr>
        <p:spPr>
          <a:xfrm>
            <a:off x="10972800" y="6339840"/>
            <a:ext cx="609600" cy="365760"/>
          </a:xfrm>
          <a:prstGeom prst="rect">
            <a:avLst/>
          </a:prstGeom>
          <a:extLst>
            <a:ext uri="{C572A759-6A51-4108-AA02-DFA0A04FC94B}">
              <ma14:wrappingTextBoxFlag xmlns="" xmlns:ma14="http://schemas.microsoft.com/office/mac/drawingml/2011/main" val="0"/>
            </a:ext>
          </a:extLst>
        </p:spPr>
        <p:txBody>
          <a:bodyPr/>
          <a:lstStyle>
            <a:lvl1pPr>
              <a:defRPr sz="1200">
                <a:solidFill>
                  <a:srgbClr val="6B6B6B"/>
                </a:solidFill>
              </a:defRPr>
            </a:lvl1pPr>
          </a:lstStyle>
          <a:p>
            <a:pPr algn="r"/>
            <a:fld id="{F7021451-1387-4CA6-816F-3879F97B5CBC}" type="slidenum">
              <a:rPr lang="en-US" b="0"/>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09600" y="426720"/>
            <a:ext cx="10972800" cy="914400"/>
          </a:xfrm>
          <a:prstGeom prst="rect">
            <a:avLst/>
          </a:prstGeom>
          <a:noFill/>
          <a:ln/>
        </p:spPr>
        <p:txBody>
          <a:bodyPr vert="horz" wrap="square" lIns="0" tIns="0" rIns="0" bIns="0" rtlCol="0" anchor="ctr">
            <a:normAutofit/>
          </a:bodyPr>
          <a:lstStyle/>
          <a:p>
            <a:r>
              <a:rPr lang="en-US" dirty="0"/>
              <a:t>Stop 5 · On your screen</a:t>
            </a:r>
          </a:p>
        </p:txBody>
      </p:sp>
      <p:sp>
        <p:nvSpPr>
          <p:cNvPr id="3" name="Shape 1"/>
          <p:cNvSpPr/>
          <p:nvPr/>
        </p:nvSpPr>
        <p:spPr>
          <a:xfrm>
            <a:off x="609600" y="1463040"/>
            <a:ext cx="5303520" cy="1158240"/>
          </a:xfrm>
          <a:prstGeom prst="roundRect">
            <a:avLst>
              <a:gd name="adj" fmla="val 8421"/>
            </a:avLst>
          </a:prstGeom>
          <a:solidFill>
            <a:srgbClr val="E6F2F2"/>
          </a:solidFill>
          <a:ln w="12700">
            <a:solidFill>
              <a:srgbClr val="E6F2F2"/>
            </a:solidFill>
            <a:prstDash val="solid"/>
          </a:ln>
        </p:spPr>
        <p:txBody>
          <a:bodyPr/>
          <a:lstStyle/>
          <a:p>
            <a:endParaRPr lang="en-GB" sz="2400"/>
          </a:p>
        </p:txBody>
      </p:sp>
      <p:sp>
        <p:nvSpPr>
          <p:cNvPr id="4" name="Text 2"/>
          <p:cNvSpPr txBox="1"/>
          <p:nvPr/>
        </p:nvSpPr>
        <p:spPr>
          <a:xfrm>
            <a:off x="792480" y="1463040"/>
            <a:ext cx="4998720" cy="1158240"/>
          </a:xfrm>
          <a:prstGeom prst="rect">
            <a:avLst/>
          </a:prstGeom>
          <a:noFill/>
          <a:ln/>
        </p:spPr>
        <p:txBody>
          <a:bodyPr wrap="square" lIns="0" tIns="0" rIns="0" bIns="0" rtlCol="0" anchor="ctr"/>
          <a:lstStyle/>
          <a:p>
            <a:r>
              <a:rPr lang="en-US" sz="1600" b="1" dirty="0">
                <a:solidFill>
                  <a:srgbClr val="0A5C5C"/>
                </a:solidFill>
              </a:rPr>
              <a:t>Website animation  </a:t>
            </a:r>
            <a:r>
              <a:rPr lang="en-US" sz="1600" dirty="0">
                <a:solidFill>
                  <a:srgbClr val="3D3D3D"/>
                </a:solidFill>
              </a:rPr>
              <a:t>“Schelling”: one run with sliders, then a Sweep button that runs many and draws the curve.</a:t>
            </a:r>
            <a:endParaRPr lang="en-US" sz="1600" dirty="0"/>
          </a:p>
        </p:txBody>
      </p:sp>
      <p:sp>
        <p:nvSpPr>
          <p:cNvPr id="5" name="Shape 3"/>
          <p:cNvSpPr/>
          <p:nvPr/>
        </p:nvSpPr>
        <p:spPr>
          <a:xfrm>
            <a:off x="6278880" y="1463040"/>
            <a:ext cx="5303520" cy="1158240"/>
          </a:xfrm>
          <a:prstGeom prst="roundRect">
            <a:avLst>
              <a:gd name="adj" fmla="val 8421"/>
            </a:avLst>
          </a:prstGeom>
          <a:solidFill>
            <a:srgbClr val="FBEBDD"/>
          </a:solidFill>
          <a:ln w="12700">
            <a:solidFill>
              <a:srgbClr val="FBEBDD"/>
            </a:solidFill>
            <a:prstDash val="solid"/>
          </a:ln>
        </p:spPr>
        <p:txBody>
          <a:bodyPr/>
          <a:lstStyle/>
          <a:p>
            <a:endParaRPr lang="en-GB" sz="2400"/>
          </a:p>
        </p:txBody>
      </p:sp>
      <p:sp>
        <p:nvSpPr>
          <p:cNvPr id="6" name="Text 4"/>
          <p:cNvSpPr txBox="1"/>
          <p:nvPr/>
        </p:nvSpPr>
        <p:spPr>
          <a:xfrm>
            <a:off x="6461760" y="1463040"/>
            <a:ext cx="4998720" cy="1158240"/>
          </a:xfrm>
          <a:prstGeom prst="rect">
            <a:avLst/>
          </a:prstGeom>
          <a:noFill/>
          <a:ln/>
        </p:spPr>
        <p:txBody>
          <a:bodyPr wrap="square" lIns="0" tIns="0" rIns="0" bIns="0" rtlCol="0" anchor="ctr"/>
          <a:lstStyle/>
          <a:p>
            <a:r>
              <a:rPr lang="en-US" sz="1600" b="1" dirty="0">
                <a:solidFill>
                  <a:srgbClr val="7A4A1E"/>
                </a:solidFill>
              </a:rPr>
              <a:t>Notebook  </a:t>
            </a:r>
            <a:r>
              <a:rPr lang="en-US" sz="1600" dirty="0">
                <a:solidFill>
                  <a:srgbClr val="3D3D3D"/>
                </a:solidFill>
              </a:rPr>
              <a:t>5.1 defines the model, 5.2 one run, 5.3 the sweep (about a minute), 5.4 the preview of next seminar.</a:t>
            </a:r>
            <a:endParaRPr lang="en-US" sz="1600" dirty="0"/>
          </a:p>
        </p:txBody>
      </p:sp>
      <p:graphicFrame>
        <p:nvGraphicFramePr>
          <p:cNvPr id="42" name="Table 0"/>
          <p:cNvGraphicFramePr>
            <a:graphicFrameLocks noGrp="1"/>
          </p:cNvGraphicFramePr>
          <p:nvPr/>
        </p:nvGraphicFramePr>
        <p:xfrm>
          <a:off x="609600" y="2804160"/>
          <a:ext cx="10972800" cy="2331720"/>
        </p:xfrm>
        <a:graphic>
          <a:graphicData uri="http://schemas.openxmlformats.org/drawingml/2006/table">
            <a:tbl>
              <a:tblPr/>
              <a:tblGrid>
                <a:gridCol w="2072640">
                  <a:extLst>
                    <a:ext uri="{9D8B030D-6E8A-4147-A177-3AD203B41FA5}">
                      <a16:colId xmlns:a16="http://schemas.microsoft.com/office/drawing/2014/main" val="20000"/>
                    </a:ext>
                  </a:extLst>
                </a:gridCol>
                <a:gridCol w="4145280">
                  <a:extLst>
                    <a:ext uri="{9D8B030D-6E8A-4147-A177-3AD203B41FA5}">
                      <a16:colId xmlns:a16="http://schemas.microsoft.com/office/drawing/2014/main" val="20001"/>
                    </a:ext>
                  </a:extLst>
                </a:gridCol>
                <a:gridCol w="4754880">
                  <a:extLst>
                    <a:ext uri="{9D8B030D-6E8A-4147-A177-3AD203B41FA5}">
                      <a16:colId xmlns:a16="http://schemas.microsoft.com/office/drawing/2014/main" val="20002"/>
                    </a:ext>
                  </a:extLst>
                </a:gridCol>
              </a:tblGrid>
              <a:tr h="369824">
                <a:tc>
                  <a:txBody>
                    <a:bodyPr/>
                    <a:lstStyle/>
                    <a:p>
                      <a:pPr marL="0" indent="0">
                        <a:buNone/>
                      </a:pPr>
                      <a:r>
                        <a:rPr lang="en-US" sz="1500" b="1" dirty="0">
                          <a:solidFill>
                            <a:srgbClr val="0A5C5C"/>
                          </a:solidFill>
                          <a:latin typeface="Calibri" pitchFamily="34" charset="0"/>
                          <a:ea typeface="Calibri" pitchFamily="34" charset="-122"/>
                          <a:cs typeface="Calibri" pitchFamily="34" charset="-120"/>
                        </a:rPr>
                        <a:t>Parameter</a:t>
                      </a:r>
                      <a:endParaRPr lang="en-US" sz="1500" dirty="0">
                        <a:latin typeface="Calibri" charset="0"/>
                        <a:ea typeface="Calibri" charset="0"/>
                        <a:cs typeface="Calibri" charset="0"/>
                      </a:endParaRPr>
                    </a:p>
                  </a:txBody>
                  <a:tcPr marL="73152" marR="73152" marT="73152" marB="73152">
                    <a:lnL w="6350" cap="flat" cmpd="sng" algn="ctr">
                      <a:solidFill>
                        <a:srgbClr val="D9ECEC"/>
                      </a:solidFill>
                      <a:prstDash val="solid"/>
                      <a:round/>
                      <a:headEnd type="none" w="med" len="med"/>
                      <a:tailEnd type="none" w="med" len="med"/>
                    </a:lnL>
                    <a:lnR w="6350" cap="flat" cmpd="sng" algn="ctr">
                      <a:solidFill>
                        <a:srgbClr val="D9ECEC"/>
                      </a:solidFill>
                      <a:prstDash val="solid"/>
                      <a:round/>
                      <a:headEnd type="none" w="med" len="med"/>
                      <a:tailEnd type="none" w="med" len="med"/>
                    </a:lnR>
                    <a:lnT w="6350" cap="flat" cmpd="sng" algn="ctr">
                      <a:solidFill>
                        <a:srgbClr val="D9ECEC"/>
                      </a:solidFill>
                      <a:prstDash val="solid"/>
                      <a:round/>
                      <a:headEnd type="none" w="med" len="med"/>
                      <a:tailEnd type="none" w="med" len="med"/>
                    </a:lnT>
                    <a:lnB w="6350" cap="flat" cmpd="sng" algn="ctr">
                      <a:solidFill>
                        <a:srgbClr val="D9ECEC"/>
                      </a:solidFill>
                      <a:prstDash val="solid"/>
                      <a:round/>
                      <a:headEnd type="none" w="med" len="med"/>
                      <a:tailEnd type="none" w="med" len="med"/>
                    </a:lnB>
                    <a:solidFill>
                      <a:srgbClr val="F3F9F9"/>
                    </a:solidFill>
                  </a:tcPr>
                </a:tc>
                <a:tc>
                  <a:txBody>
                    <a:bodyPr/>
                    <a:lstStyle/>
                    <a:p>
                      <a:pPr marL="0" indent="0">
                        <a:buNone/>
                      </a:pPr>
                      <a:r>
                        <a:rPr lang="en-US" sz="1500" b="1" dirty="0">
                          <a:solidFill>
                            <a:srgbClr val="0A5C5C"/>
                          </a:solidFill>
                          <a:latin typeface="Calibri" pitchFamily="34" charset="0"/>
                          <a:ea typeface="Calibri" pitchFamily="34" charset="-122"/>
                          <a:cs typeface="Calibri" pitchFamily="34" charset="-120"/>
                        </a:rPr>
                        <a:t>What it means</a:t>
                      </a:r>
                      <a:endParaRPr lang="en-US" sz="1500" dirty="0">
                        <a:latin typeface="Calibri" charset="0"/>
                        <a:ea typeface="Calibri" charset="0"/>
                        <a:cs typeface="Calibri" charset="0"/>
                      </a:endParaRPr>
                    </a:p>
                  </a:txBody>
                  <a:tcPr marL="73152" marR="73152" marT="73152" marB="73152">
                    <a:lnL w="6350" cap="flat" cmpd="sng" algn="ctr">
                      <a:solidFill>
                        <a:srgbClr val="D9ECEC"/>
                      </a:solidFill>
                      <a:prstDash val="solid"/>
                      <a:round/>
                      <a:headEnd type="none" w="med" len="med"/>
                      <a:tailEnd type="none" w="med" len="med"/>
                    </a:lnL>
                    <a:lnR w="6350" cap="flat" cmpd="sng" algn="ctr">
                      <a:solidFill>
                        <a:srgbClr val="D9ECEC"/>
                      </a:solidFill>
                      <a:prstDash val="solid"/>
                      <a:round/>
                      <a:headEnd type="none" w="med" len="med"/>
                      <a:tailEnd type="none" w="med" len="med"/>
                    </a:lnR>
                    <a:lnT w="6350" cap="flat" cmpd="sng" algn="ctr">
                      <a:solidFill>
                        <a:srgbClr val="D9ECEC"/>
                      </a:solidFill>
                      <a:prstDash val="solid"/>
                      <a:round/>
                      <a:headEnd type="none" w="med" len="med"/>
                      <a:tailEnd type="none" w="med" len="med"/>
                    </a:lnT>
                    <a:lnB w="6350" cap="flat" cmpd="sng" algn="ctr">
                      <a:solidFill>
                        <a:srgbClr val="D9ECEC"/>
                      </a:solidFill>
                      <a:prstDash val="solid"/>
                      <a:round/>
                      <a:headEnd type="none" w="med" len="med"/>
                      <a:tailEnd type="none" w="med" len="med"/>
                    </a:lnB>
                    <a:solidFill>
                      <a:srgbClr val="F3F9F9"/>
                    </a:solidFill>
                  </a:tcPr>
                </a:tc>
                <a:tc>
                  <a:txBody>
                    <a:bodyPr/>
                    <a:lstStyle/>
                    <a:p>
                      <a:pPr marL="0" indent="0">
                        <a:buNone/>
                      </a:pPr>
                      <a:r>
                        <a:rPr lang="en-US" sz="1500" b="1" dirty="0">
                          <a:solidFill>
                            <a:srgbClr val="0A5C5C"/>
                          </a:solidFill>
                          <a:latin typeface="Calibri" pitchFamily="34" charset="0"/>
                          <a:ea typeface="Calibri" pitchFamily="34" charset="-122"/>
                          <a:cs typeface="Calibri" pitchFamily="34" charset="-120"/>
                        </a:rPr>
                        <a:t>What to watch</a:t>
                      </a:r>
                      <a:endParaRPr lang="en-US" sz="1500" dirty="0">
                        <a:latin typeface="Calibri" charset="0"/>
                        <a:ea typeface="Calibri" charset="0"/>
                        <a:cs typeface="Calibri" charset="0"/>
                      </a:endParaRPr>
                    </a:p>
                  </a:txBody>
                  <a:tcPr marL="73152" marR="73152" marT="73152" marB="73152">
                    <a:lnL w="6350" cap="flat" cmpd="sng" algn="ctr">
                      <a:solidFill>
                        <a:srgbClr val="D9ECEC"/>
                      </a:solidFill>
                      <a:prstDash val="solid"/>
                      <a:round/>
                      <a:headEnd type="none" w="med" len="med"/>
                      <a:tailEnd type="none" w="med" len="med"/>
                    </a:lnL>
                    <a:lnR w="6350" cap="flat" cmpd="sng" algn="ctr">
                      <a:solidFill>
                        <a:srgbClr val="D9ECEC"/>
                      </a:solidFill>
                      <a:prstDash val="solid"/>
                      <a:round/>
                      <a:headEnd type="none" w="med" len="med"/>
                      <a:tailEnd type="none" w="med" len="med"/>
                    </a:lnR>
                    <a:lnT w="6350" cap="flat" cmpd="sng" algn="ctr">
                      <a:solidFill>
                        <a:srgbClr val="D9ECEC"/>
                      </a:solidFill>
                      <a:prstDash val="solid"/>
                      <a:round/>
                      <a:headEnd type="none" w="med" len="med"/>
                      <a:tailEnd type="none" w="med" len="med"/>
                    </a:lnT>
                    <a:lnB w="6350" cap="flat" cmpd="sng" algn="ctr">
                      <a:solidFill>
                        <a:srgbClr val="D9ECEC"/>
                      </a:solidFill>
                      <a:prstDash val="solid"/>
                      <a:round/>
                      <a:headEnd type="none" w="med" len="med"/>
                      <a:tailEnd type="none" w="med" len="med"/>
                    </a:lnB>
                    <a:solidFill>
                      <a:srgbClr val="F3F9F9"/>
                    </a:solidFill>
                  </a:tcPr>
                </a:tc>
                <a:extLst>
                  <a:ext uri="{0D108BD9-81ED-4DB2-BD59-A6C34878D82A}">
                    <a16:rowId xmlns:a16="http://schemas.microsoft.com/office/drawing/2014/main" val="10000"/>
                  </a:ext>
                </a:extLst>
              </a:tr>
              <a:tr h="593344">
                <a:tc>
                  <a:txBody>
                    <a:bodyPr/>
                    <a:lstStyle/>
                    <a:p>
                      <a:pPr marL="0" indent="0">
                        <a:buNone/>
                      </a:pPr>
                      <a:r>
                        <a:rPr lang="en-US" sz="1500" b="1" dirty="0">
                          <a:solidFill>
                            <a:srgbClr val="3D3D3D"/>
                          </a:solidFill>
                          <a:latin typeface="Calibri" pitchFamily="34" charset="0"/>
                          <a:ea typeface="Calibri" pitchFamily="34" charset="-122"/>
                          <a:cs typeface="Calibri" pitchFamily="34" charset="-120"/>
                        </a:rPr>
                        <a:t>Tolerance</a:t>
                      </a:r>
                      <a:endParaRPr lang="en-US" sz="1500" dirty="0">
                        <a:latin typeface="Calibri" charset="0"/>
                        <a:ea typeface="Calibri" charset="0"/>
                        <a:cs typeface="Calibri" charset="0"/>
                      </a:endParaRPr>
                    </a:p>
                  </a:txBody>
                  <a:tcPr marL="73152" marR="73152" marT="73152" marB="73152">
                    <a:lnL w="6350" cap="flat" cmpd="sng" algn="ctr">
                      <a:solidFill>
                        <a:srgbClr val="D9ECEC"/>
                      </a:solidFill>
                      <a:prstDash val="solid"/>
                      <a:round/>
                      <a:headEnd type="none" w="med" len="med"/>
                      <a:tailEnd type="none" w="med" len="med"/>
                    </a:lnL>
                    <a:lnR w="6350" cap="flat" cmpd="sng" algn="ctr">
                      <a:solidFill>
                        <a:srgbClr val="D9ECEC"/>
                      </a:solidFill>
                      <a:prstDash val="solid"/>
                      <a:round/>
                      <a:headEnd type="none" w="med" len="med"/>
                      <a:tailEnd type="none" w="med" len="med"/>
                    </a:lnR>
                    <a:lnT w="6350" cap="flat" cmpd="sng" algn="ctr">
                      <a:solidFill>
                        <a:srgbClr val="D9ECEC"/>
                      </a:solidFill>
                      <a:prstDash val="solid"/>
                      <a:round/>
                      <a:headEnd type="none" w="med" len="med"/>
                      <a:tailEnd type="none" w="med" len="med"/>
                    </a:lnT>
                    <a:lnB w="6350" cap="flat" cmpd="sng" algn="ctr">
                      <a:solidFill>
                        <a:srgbClr val="D9ECEC"/>
                      </a:solidFill>
                      <a:prstDash val="solid"/>
                      <a:round/>
                      <a:headEnd type="none" w="med" len="med"/>
                      <a:tailEnd type="none" w="med" len="med"/>
                    </a:lnB>
                  </a:tcPr>
                </a:tc>
                <a:tc>
                  <a:txBody>
                    <a:bodyPr/>
                    <a:lstStyle/>
                    <a:p>
                      <a:pPr marL="0" indent="0">
                        <a:buNone/>
                      </a:pPr>
                      <a:r>
                        <a:rPr lang="en-US" sz="1500" dirty="0">
                          <a:solidFill>
                            <a:srgbClr val="3D3D3D"/>
                          </a:solidFill>
                          <a:latin typeface="Calibri" pitchFamily="34" charset="0"/>
                          <a:ea typeface="Calibri" pitchFamily="34" charset="-122"/>
                          <a:cs typeface="Calibri" pitchFamily="34" charset="-120"/>
                        </a:rPr>
                        <a:t>Minimum share of similar neighbours a household wants</a:t>
                      </a:r>
                      <a:endParaRPr lang="en-US" sz="1500" dirty="0">
                        <a:latin typeface="Calibri" charset="0"/>
                        <a:ea typeface="Calibri" charset="0"/>
                        <a:cs typeface="Calibri" charset="0"/>
                      </a:endParaRPr>
                    </a:p>
                  </a:txBody>
                  <a:tcPr marL="73152" marR="73152" marT="73152" marB="73152">
                    <a:lnL w="6350" cap="flat" cmpd="sng" algn="ctr">
                      <a:solidFill>
                        <a:srgbClr val="D9ECEC"/>
                      </a:solidFill>
                      <a:prstDash val="solid"/>
                      <a:round/>
                      <a:headEnd type="none" w="med" len="med"/>
                      <a:tailEnd type="none" w="med" len="med"/>
                    </a:lnL>
                    <a:lnR w="6350" cap="flat" cmpd="sng" algn="ctr">
                      <a:solidFill>
                        <a:srgbClr val="D9ECEC"/>
                      </a:solidFill>
                      <a:prstDash val="solid"/>
                      <a:round/>
                      <a:headEnd type="none" w="med" len="med"/>
                      <a:tailEnd type="none" w="med" len="med"/>
                    </a:lnR>
                    <a:lnT w="6350" cap="flat" cmpd="sng" algn="ctr">
                      <a:solidFill>
                        <a:srgbClr val="D9ECEC"/>
                      </a:solidFill>
                      <a:prstDash val="solid"/>
                      <a:round/>
                      <a:headEnd type="none" w="med" len="med"/>
                      <a:tailEnd type="none" w="med" len="med"/>
                    </a:lnT>
                    <a:lnB w="6350" cap="flat" cmpd="sng" algn="ctr">
                      <a:solidFill>
                        <a:srgbClr val="D9ECEC"/>
                      </a:solidFill>
                      <a:prstDash val="solid"/>
                      <a:round/>
                      <a:headEnd type="none" w="med" len="med"/>
                      <a:tailEnd type="none" w="med" len="med"/>
                    </a:lnB>
                  </a:tcPr>
                </a:tc>
                <a:tc>
                  <a:txBody>
                    <a:bodyPr/>
                    <a:lstStyle/>
                    <a:p>
                      <a:pPr marL="0" indent="0">
                        <a:buNone/>
                      </a:pPr>
                      <a:r>
                        <a:rPr lang="en-US" sz="1500" dirty="0">
                          <a:solidFill>
                            <a:srgbClr val="3D3D3D"/>
                          </a:solidFill>
                          <a:latin typeface="Calibri" pitchFamily="34" charset="0"/>
                          <a:ea typeface="Calibri" pitchFamily="34" charset="-122"/>
                          <a:cs typeface="Calibri" pitchFamily="34" charset="-120"/>
                        </a:rPr>
                        <a:t>Clusters appear already at 30%; above 65% the city churns and never settles</a:t>
                      </a:r>
                      <a:endParaRPr lang="en-US" sz="1500" dirty="0">
                        <a:latin typeface="Calibri" charset="0"/>
                        <a:ea typeface="Calibri" charset="0"/>
                        <a:cs typeface="Calibri" charset="0"/>
                      </a:endParaRPr>
                    </a:p>
                  </a:txBody>
                  <a:tcPr marL="73152" marR="73152" marT="73152" marB="73152">
                    <a:lnL w="6350" cap="flat" cmpd="sng" algn="ctr">
                      <a:solidFill>
                        <a:srgbClr val="D9ECEC"/>
                      </a:solidFill>
                      <a:prstDash val="solid"/>
                      <a:round/>
                      <a:headEnd type="none" w="med" len="med"/>
                      <a:tailEnd type="none" w="med" len="med"/>
                    </a:lnL>
                    <a:lnR w="6350" cap="flat" cmpd="sng" algn="ctr">
                      <a:solidFill>
                        <a:srgbClr val="D9ECEC"/>
                      </a:solidFill>
                      <a:prstDash val="solid"/>
                      <a:round/>
                      <a:headEnd type="none" w="med" len="med"/>
                      <a:tailEnd type="none" w="med" len="med"/>
                    </a:lnR>
                    <a:lnT w="6350" cap="flat" cmpd="sng" algn="ctr">
                      <a:solidFill>
                        <a:srgbClr val="D9ECEC"/>
                      </a:solidFill>
                      <a:prstDash val="solid"/>
                      <a:round/>
                      <a:headEnd type="none" w="med" len="med"/>
                      <a:tailEnd type="none" w="med" len="med"/>
                    </a:lnT>
                    <a:lnB w="6350" cap="flat" cmpd="sng" algn="ctr">
                      <a:solidFill>
                        <a:srgbClr val="D9ECEC"/>
                      </a:solidFill>
                      <a:prstDash val="solid"/>
                      <a:round/>
                      <a:headEnd type="none" w="med" len="med"/>
                      <a:tailEnd type="none" w="med" len="med"/>
                    </a:lnB>
                  </a:tcPr>
                </a:tc>
                <a:extLst>
                  <a:ext uri="{0D108BD9-81ED-4DB2-BD59-A6C34878D82A}">
                    <a16:rowId xmlns:a16="http://schemas.microsoft.com/office/drawing/2014/main" val="10001"/>
                  </a:ext>
                </a:extLst>
              </a:tr>
              <a:tr h="593344">
                <a:tc>
                  <a:txBody>
                    <a:bodyPr/>
                    <a:lstStyle/>
                    <a:p>
                      <a:pPr marL="0" indent="0">
                        <a:buNone/>
                      </a:pPr>
                      <a:r>
                        <a:rPr lang="en-US" sz="1500" b="1" dirty="0">
                          <a:solidFill>
                            <a:srgbClr val="3D3D3D"/>
                          </a:solidFill>
                          <a:latin typeface="Calibri" pitchFamily="34" charset="0"/>
                          <a:ea typeface="Calibri" pitchFamily="34" charset="-122"/>
                          <a:cs typeface="Calibri" pitchFamily="34" charset="-120"/>
                        </a:rPr>
                        <a:t>Seed</a:t>
                      </a:r>
                      <a:endParaRPr lang="en-US" sz="1500" dirty="0">
                        <a:latin typeface="Calibri" charset="0"/>
                        <a:ea typeface="Calibri" charset="0"/>
                        <a:cs typeface="Calibri" charset="0"/>
                      </a:endParaRPr>
                    </a:p>
                  </a:txBody>
                  <a:tcPr marL="73152" marR="73152" marT="73152" marB="73152">
                    <a:lnL w="6350" cap="flat" cmpd="sng" algn="ctr">
                      <a:solidFill>
                        <a:srgbClr val="D9ECEC"/>
                      </a:solidFill>
                      <a:prstDash val="solid"/>
                      <a:round/>
                      <a:headEnd type="none" w="med" len="med"/>
                      <a:tailEnd type="none" w="med" len="med"/>
                    </a:lnL>
                    <a:lnR w="6350" cap="flat" cmpd="sng" algn="ctr">
                      <a:solidFill>
                        <a:srgbClr val="D9ECEC"/>
                      </a:solidFill>
                      <a:prstDash val="solid"/>
                      <a:round/>
                      <a:headEnd type="none" w="med" len="med"/>
                      <a:tailEnd type="none" w="med" len="med"/>
                    </a:lnR>
                    <a:lnT w="6350" cap="flat" cmpd="sng" algn="ctr">
                      <a:solidFill>
                        <a:srgbClr val="D9ECEC"/>
                      </a:solidFill>
                      <a:prstDash val="solid"/>
                      <a:round/>
                      <a:headEnd type="none" w="med" len="med"/>
                      <a:tailEnd type="none" w="med" len="med"/>
                    </a:lnT>
                    <a:lnB w="6350" cap="flat" cmpd="sng" algn="ctr">
                      <a:solidFill>
                        <a:srgbClr val="D9ECEC"/>
                      </a:solidFill>
                      <a:prstDash val="solid"/>
                      <a:round/>
                      <a:headEnd type="none" w="med" len="med"/>
                      <a:tailEnd type="none" w="med" len="med"/>
                    </a:lnB>
                  </a:tcPr>
                </a:tc>
                <a:tc>
                  <a:txBody>
                    <a:bodyPr/>
                    <a:lstStyle/>
                    <a:p>
                      <a:pPr marL="0" indent="0">
                        <a:buNone/>
                      </a:pPr>
                      <a:r>
                        <a:rPr lang="en-US" sz="1500" dirty="0">
                          <a:solidFill>
                            <a:srgbClr val="3D3D3D"/>
                          </a:solidFill>
                          <a:latin typeface="Calibri" pitchFamily="34" charset="0"/>
                          <a:ea typeface="Calibri" pitchFamily="34" charset="-122"/>
                          <a:cs typeface="Calibri" pitchFamily="34" charset="-120"/>
                        </a:rPr>
                        <a:t>Which random starting city and which random moves</a:t>
                      </a:r>
                      <a:endParaRPr lang="en-US" sz="1500" dirty="0">
                        <a:latin typeface="Calibri" charset="0"/>
                        <a:ea typeface="Calibri" charset="0"/>
                        <a:cs typeface="Calibri" charset="0"/>
                      </a:endParaRPr>
                    </a:p>
                  </a:txBody>
                  <a:tcPr marL="73152" marR="73152" marT="73152" marB="73152">
                    <a:lnL w="6350" cap="flat" cmpd="sng" algn="ctr">
                      <a:solidFill>
                        <a:srgbClr val="D9ECEC"/>
                      </a:solidFill>
                      <a:prstDash val="solid"/>
                      <a:round/>
                      <a:headEnd type="none" w="med" len="med"/>
                      <a:tailEnd type="none" w="med" len="med"/>
                    </a:lnL>
                    <a:lnR w="6350" cap="flat" cmpd="sng" algn="ctr">
                      <a:solidFill>
                        <a:srgbClr val="D9ECEC"/>
                      </a:solidFill>
                      <a:prstDash val="solid"/>
                      <a:round/>
                      <a:headEnd type="none" w="med" len="med"/>
                      <a:tailEnd type="none" w="med" len="med"/>
                    </a:lnR>
                    <a:lnT w="6350" cap="flat" cmpd="sng" algn="ctr">
                      <a:solidFill>
                        <a:srgbClr val="D9ECEC"/>
                      </a:solidFill>
                      <a:prstDash val="solid"/>
                      <a:round/>
                      <a:headEnd type="none" w="med" len="med"/>
                      <a:tailEnd type="none" w="med" len="med"/>
                    </a:lnT>
                    <a:lnB w="6350" cap="flat" cmpd="sng" algn="ctr">
                      <a:solidFill>
                        <a:srgbClr val="D9ECEC"/>
                      </a:solidFill>
                      <a:prstDash val="solid"/>
                      <a:round/>
                      <a:headEnd type="none" w="med" len="med"/>
                      <a:tailEnd type="none" w="med" len="med"/>
                    </a:lnB>
                  </a:tcPr>
                </a:tc>
                <a:tc>
                  <a:txBody>
                    <a:bodyPr/>
                    <a:lstStyle/>
                    <a:p>
                      <a:pPr marL="0" indent="0">
                        <a:buNone/>
                      </a:pPr>
                      <a:r>
                        <a:rPr lang="en-US" sz="1500" dirty="0">
                          <a:solidFill>
                            <a:srgbClr val="3D3D3D"/>
                          </a:solidFill>
                          <a:latin typeface="Calibri" pitchFamily="34" charset="0"/>
                          <a:ea typeface="Calibri" pitchFamily="34" charset="-122"/>
                          <a:cs typeface="Calibri" pitchFamily="34" charset="-120"/>
                        </a:rPr>
                        <a:t>Same tolerance, different seed: clusters elsewhere, segregation number differs</a:t>
                      </a:r>
                      <a:endParaRPr lang="en-US" sz="1500" dirty="0">
                        <a:latin typeface="Calibri" charset="0"/>
                        <a:ea typeface="Calibri" charset="0"/>
                        <a:cs typeface="Calibri" charset="0"/>
                      </a:endParaRPr>
                    </a:p>
                  </a:txBody>
                  <a:tcPr marL="73152" marR="73152" marT="73152" marB="73152">
                    <a:lnL w="6350" cap="flat" cmpd="sng" algn="ctr">
                      <a:solidFill>
                        <a:srgbClr val="D9ECEC"/>
                      </a:solidFill>
                      <a:prstDash val="solid"/>
                      <a:round/>
                      <a:headEnd type="none" w="med" len="med"/>
                      <a:tailEnd type="none" w="med" len="med"/>
                    </a:lnL>
                    <a:lnR w="6350" cap="flat" cmpd="sng" algn="ctr">
                      <a:solidFill>
                        <a:srgbClr val="D9ECEC"/>
                      </a:solidFill>
                      <a:prstDash val="solid"/>
                      <a:round/>
                      <a:headEnd type="none" w="med" len="med"/>
                      <a:tailEnd type="none" w="med" len="med"/>
                    </a:lnR>
                    <a:lnT w="6350" cap="flat" cmpd="sng" algn="ctr">
                      <a:solidFill>
                        <a:srgbClr val="D9ECEC"/>
                      </a:solidFill>
                      <a:prstDash val="solid"/>
                      <a:round/>
                      <a:headEnd type="none" w="med" len="med"/>
                      <a:tailEnd type="none" w="med" len="med"/>
                    </a:lnT>
                    <a:lnB w="6350" cap="flat" cmpd="sng" algn="ctr">
                      <a:solidFill>
                        <a:srgbClr val="D9ECEC"/>
                      </a:solidFill>
                      <a:prstDash val="solid"/>
                      <a:round/>
                      <a:headEnd type="none" w="med" len="med"/>
                      <a:tailEnd type="none" w="med" len="med"/>
                    </a:lnB>
                  </a:tcPr>
                </a:tc>
                <a:extLst>
                  <a:ext uri="{0D108BD9-81ED-4DB2-BD59-A6C34878D82A}">
                    <a16:rowId xmlns:a16="http://schemas.microsoft.com/office/drawing/2014/main" val="10002"/>
                  </a:ext>
                </a:extLst>
              </a:tr>
              <a:tr h="369824">
                <a:tc>
                  <a:txBody>
                    <a:bodyPr/>
                    <a:lstStyle/>
                    <a:p>
                      <a:pPr marL="0" indent="0">
                        <a:buNone/>
                      </a:pPr>
                      <a:r>
                        <a:rPr lang="en-US" sz="1500" b="1" dirty="0">
                          <a:solidFill>
                            <a:srgbClr val="3D3D3D"/>
                          </a:solidFill>
                          <a:latin typeface="Calibri" pitchFamily="34" charset="0"/>
                          <a:ea typeface="Calibri" pitchFamily="34" charset="-122"/>
                          <a:cs typeface="Calibri" pitchFamily="34" charset="-120"/>
                        </a:rPr>
                        <a:t>Runs per point (sweep)</a:t>
                      </a:r>
                      <a:endParaRPr lang="en-US" sz="1500" dirty="0">
                        <a:latin typeface="Calibri" charset="0"/>
                        <a:ea typeface="Calibri" charset="0"/>
                        <a:cs typeface="Calibri" charset="0"/>
                      </a:endParaRPr>
                    </a:p>
                  </a:txBody>
                  <a:tcPr marL="73152" marR="73152" marT="73152" marB="73152">
                    <a:lnL w="6350" cap="flat" cmpd="sng" algn="ctr">
                      <a:solidFill>
                        <a:srgbClr val="D9ECEC"/>
                      </a:solidFill>
                      <a:prstDash val="solid"/>
                      <a:round/>
                      <a:headEnd type="none" w="med" len="med"/>
                      <a:tailEnd type="none" w="med" len="med"/>
                    </a:lnL>
                    <a:lnR w="6350" cap="flat" cmpd="sng" algn="ctr">
                      <a:solidFill>
                        <a:srgbClr val="D9ECEC"/>
                      </a:solidFill>
                      <a:prstDash val="solid"/>
                      <a:round/>
                      <a:headEnd type="none" w="med" len="med"/>
                      <a:tailEnd type="none" w="med" len="med"/>
                    </a:lnR>
                    <a:lnT w="6350" cap="flat" cmpd="sng" algn="ctr">
                      <a:solidFill>
                        <a:srgbClr val="D9ECEC"/>
                      </a:solidFill>
                      <a:prstDash val="solid"/>
                      <a:round/>
                      <a:headEnd type="none" w="med" len="med"/>
                      <a:tailEnd type="none" w="med" len="med"/>
                    </a:lnT>
                    <a:lnB w="6350" cap="flat" cmpd="sng" algn="ctr">
                      <a:solidFill>
                        <a:srgbClr val="D9ECEC"/>
                      </a:solidFill>
                      <a:prstDash val="solid"/>
                      <a:round/>
                      <a:headEnd type="none" w="med" len="med"/>
                      <a:tailEnd type="none" w="med" len="med"/>
                    </a:lnB>
                  </a:tcPr>
                </a:tc>
                <a:tc>
                  <a:txBody>
                    <a:bodyPr/>
                    <a:lstStyle/>
                    <a:p>
                      <a:pPr marL="0" indent="0">
                        <a:buNone/>
                      </a:pPr>
                      <a:r>
                        <a:rPr lang="en-US" sz="1500" dirty="0">
                          <a:solidFill>
                            <a:srgbClr val="3D3D3D"/>
                          </a:solidFill>
                          <a:latin typeface="Calibri" pitchFamily="34" charset="0"/>
                          <a:ea typeface="Calibri" pitchFamily="34" charset="-122"/>
                          <a:cs typeface="Calibri" pitchFamily="34" charset="-120"/>
                        </a:rPr>
                        <a:t>How many seeds are averaged at each tolerance</a:t>
                      </a:r>
                      <a:endParaRPr lang="en-US" sz="1500" dirty="0">
                        <a:latin typeface="Calibri" charset="0"/>
                        <a:ea typeface="Calibri" charset="0"/>
                        <a:cs typeface="Calibri" charset="0"/>
                      </a:endParaRPr>
                    </a:p>
                  </a:txBody>
                  <a:tcPr marL="73152" marR="73152" marT="73152" marB="73152">
                    <a:lnL w="6350" cap="flat" cmpd="sng" algn="ctr">
                      <a:solidFill>
                        <a:srgbClr val="D9ECEC"/>
                      </a:solidFill>
                      <a:prstDash val="solid"/>
                      <a:round/>
                      <a:headEnd type="none" w="med" len="med"/>
                      <a:tailEnd type="none" w="med" len="med"/>
                    </a:lnL>
                    <a:lnR w="6350" cap="flat" cmpd="sng" algn="ctr">
                      <a:solidFill>
                        <a:srgbClr val="D9ECEC"/>
                      </a:solidFill>
                      <a:prstDash val="solid"/>
                      <a:round/>
                      <a:headEnd type="none" w="med" len="med"/>
                      <a:tailEnd type="none" w="med" len="med"/>
                    </a:lnR>
                    <a:lnT w="6350" cap="flat" cmpd="sng" algn="ctr">
                      <a:solidFill>
                        <a:srgbClr val="D9ECEC"/>
                      </a:solidFill>
                      <a:prstDash val="solid"/>
                      <a:round/>
                      <a:headEnd type="none" w="med" len="med"/>
                      <a:tailEnd type="none" w="med" len="med"/>
                    </a:lnT>
                    <a:lnB w="6350" cap="flat" cmpd="sng" algn="ctr">
                      <a:solidFill>
                        <a:srgbClr val="D9ECEC"/>
                      </a:solidFill>
                      <a:prstDash val="solid"/>
                      <a:round/>
                      <a:headEnd type="none" w="med" len="med"/>
                      <a:tailEnd type="none" w="med" len="med"/>
                    </a:lnB>
                  </a:tcPr>
                </a:tc>
                <a:tc>
                  <a:txBody>
                    <a:bodyPr/>
                    <a:lstStyle/>
                    <a:p>
                      <a:pPr marL="0" indent="0">
                        <a:buNone/>
                      </a:pPr>
                      <a:r>
                        <a:rPr lang="en-US" sz="1500" dirty="0">
                          <a:solidFill>
                            <a:srgbClr val="3D3D3D"/>
                          </a:solidFill>
                          <a:latin typeface="Calibri" pitchFamily="34" charset="0"/>
                          <a:ea typeface="Calibri" pitchFamily="34" charset="-122"/>
                          <a:cs typeface="Calibri" pitchFamily="34" charset="-120"/>
                        </a:rPr>
                        <a:t>More runs: smoother curve, narrower band</a:t>
                      </a:r>
                      <a:endParaRPr lang="en-US" sz="1500" dirty="0">
                        <a:latin typeface="Calibri" charset="0"/>
                        <a:ea typeface="Calibri" charset="0"/>
                        <a:cs typeface="Calibri" charset="0"/>
                      </a:endParaRPr>
                    </a:p>
                  </a:txBody>
                  <a:tcPr marL="73152" marR="73152" marT="73152" marB="73152">
                    <a:lnL w="6350" cap="flat" cmpd="sng" algn="ctr">
                      <a:solidFill>
                        <a:srgbClr val="D9ECEC"/>
                      </a:solidFill>
                      <a:prstDash val="solid"/>
                      <a:round/>
                      <a:headEnd type="none" w="med" len="med"/>
                      <a:tailEnd type="none" w="med" len="med"/>
                    </a:lnL>
                    <a:lnR w="6350" cap="flat" cmpd="sng" algn="ctr">
                      <a:solidFill>
                        <a:srgbClr val="D9ECEC"/>
                      </a:solidFill>
                      <a:prstDash val="solid"/>
                      <a:round/>
                      <a:headEnd type="none" w="med" len="med"/>
                      <a:tailEnd type="none" w="med" len="med"/>
                    </a:lnR>
                    <a:lnT w="6350" cap="flat" cmpd="sng" algn="ctr">
                      <a:solidFill>
                        <a:srgbClr val="D9ECEC"/>
                      </a:solidFill>
                      <a:prstDash val="solid"/>
                      <a:round/>
                      <a:headEnd type="none" w="med" len="med"/>
                      <a:tailEnd type="none" w="med" len="med"/>
                    </a:lnT>
                    <a:lnB w="6350" cap="flat" cmpd="sng" algn="ctr">
                      <a:solidFill>
                        <a:srgbClr val="D9ECEC"/>
                      </a:solidFill>
                      <a:prstDash val="solid"/>
                      <a:round/>
                      <a:headEnd type="none" w="med" len="med"/>
                      <a:tailEnd type="none" w="med" len="med"/>
                    </a:lnB>
                  </a:tcPr>
                </a:tc>
                <a:extLst>
                  <a:ext uri="{0D108BD9-81ED-4DB2-BD59-A6C34878D82A}">
                    <a16:rowId xmlns:a16="http://schemas.microsoft.com/office/drawing/2014/main" val="10003"/>
                  </a:ext>
                </a:extLst>
              </a:tr>
              <a:tr h="369824">
                <a:tc>
                  <a:txBody>
                    <a:bodyPr/>
                    <a:lstStyle/>
                    <a:p>
                      <a:pPr marL="0" indent="0">
                        <a:buNone/>
                      </a:pPr>
                      <a:r>
                        <a:rPr lang="en-US" sz="1500" b="1" dirty="0">
                          <a:solidFill>
                            <a:srgbClr val="3D3D3D"/>
                          </a:solidFill>
                          <a:latin typeface="Calibri" pitchFamily="34" charset="0"/>
                          <a:ea typeface="Calibri" pitchFamily="34" charset="-122"/>
                          <a:cs typeface="Calibri" pitchFamily="34" charset="-120"/>
                        </a:rPr>
                        <a:t>Empty share</a:t>
                      </a:r>
                      <a:endParaRPr lang="en-US" sz="1500" dirty="0">
                        <a:latin typeface="Calibri" charset="0"/>
                        <a:ea typeface="Calibri" charset="0"/>
                        <a:cs typeface="Calibri" charset="0"/>
                      </a:endParaRPr>
                    </a:p>
                  </a:txBody>
                  <a:tcPr marL="73152" marR="73152" marT="73152" marB="73152">
                    <a:lnL w="6350" cap="flat" cmpd="sng" algn="ctr">
                      <a:solidFill>
                        <a:srgbClr val="D9ECEC"/>
                      </a:solidFill>
                      <a:prstDash val="solid"/>
                      <a:round/>
                      <a:headEnd type="none" w="med" len="med"/>
                      <a:tailEnd type="none" w="med" len="med"/>
                    </a:lnL>
                    <a:lnR w="6350" cap="flat" cmpd="sng" algn="ctr">
                      <a:solidFill>
                        <a:srgbClr val="D9ECEC"/>
                      </a:solidFill>
                      <a:prstDash val="solid"/>
                      <a:round/>
                      <a:headEnd type="none" w="med" len="med"/>
                      <a:tailEnd type="none" w="med" len="med"/>
                    </a:lnR>
                    <a:lnT w="6350" cap="flat" cmpd="sng" algn="ctr">
                      <a:solidFill>
                        <a:srgbClr val="D9ECEC"/>
                      </a:solidFill>
                      <a:prstDash val="solid"/>
                      <a:round/>
                      <a:headEnd type="none" w="med" len="med"/>
                      <a:tailEnd type="none" w="med" len="med"/>
                    </a:lnT>
                    <a:lnB w="6350" cap="flat" cmpd="sng" algn="ctr">
                      <a:solidFill>
                        <a:srgbClr val="D9ECEC"/>
                      </a:solidFill>
                      <a:prstDash val="solid"/>
                      <a:round/>
                      <a:headEnd type="none" w="med" len="med"/>
                      <a:tailEnd type="none" w="med" len="med"/>
                    </a:lnB>
                  </a:tcPr>
                </a:tc>
                <a:tc>
                  <a:txBody>
                    <a:bodyPr/>
                    <a:lstStyle/>
                    <a:p>
                      <a:pPr marL="0" indent="0">
                        <a:buNone/>
                      </a:pPr>
                      <a:r>
                        <a:rPr lang="en-US" sz="1500" dirty="0">
                          <a:solidFill>
                            <a:srgbClr val="3D3D3D"/>
                          </a:solidFill>
                          <a:latin typeface="Calibri" pitchFamily="34" charset="0"/>
                          <a:ea typeface="Calibri" pitchFamily="34" charset="-122"/>
                          <a:cs typeface="Calibri" pitchFamily="34" charset="-120"/>
                        </a:rPr>
                        <a:t>Fraction of empty houses</a:t>
                      </a:r>
                      <a:endParaRPr lang="en-US" sz="1500" dirty="0">
                        <a:latin typeface="Calibri" charset="0"/>
                        <a:ea typeface="Calibri" charset="0"/>
                        <a:cs typeface="Calibri" charset="0"/>
                      </a:endParaRPr>
                    </a:p>
                  </a:txBody>
                  <a:tcPr marL="73152" marR="73152" marT="73152" marB="73152">
                    <a:lnL w="6350" cap="flat" cmpd="sng" algn="ctr">
                      <a:solidFill>
                        <a:srgbClr val="D9ECEC"/>
                      </a:solidFill>
                      <a:prstDash val="solid"/>
                      <a:round/>
                      <a:headEnd type="none" w="med" len="med"/>
                      <a:tailEnd type="none" w="med" len="med"/>
                    </a:lnL>
                    <a:lnR w="6350" cap="flat" cmpd="sng" algn="ctr">
                      <a:solidFill>
                        <a:srgbClr val="D9ECEC"/>
                      </a:solidFill>
                      <a:prstDash val="solid"/>
                      <a:round/>
                      <a:headEnd type="none" w="med" len="med"/>
                      <a:tailEnd type="none" w="med" len="med"/>
                    </a:lnR>
                    <a:lnT w="6350" cap="flat" cmpd="sng" algn="ctr">
                      <a:solidFill>
                        <a:srgbClr val="D9ECEC"/>
                      </a:solidFill>
                      <a:prstDash val="solid"/>
                      <a:round/>
                      <a:headEnd type="none" w="med" len="med"/>
                      <a:tailEnd type="none" w="med" len="med"/>
                    </a:lnT>
                    <a:lnB w="6350" cap="flat" cmpd="sng" algn="ctr">
                      <a:solidFill>
                        <a:srgbClr val="D9ECEC"/>
                      </a:solidFill>
                      <a:prstDash val="solid"/>
                      <a:round/>
                      <a:headEnd type="none" w="med" len="med"/>
                      <a:tailEnd type="none" w="med" len="med"/>
                    </a:lnB>
                  </a:tcPr>
                </a:tc>
                <a:tc>
                  <a:txBody>
                    <a:bodyPr/>
                    <a:lstStyle/>
                    <a:p>
                      <a:pPr marL="0" indent="0">
                        <a:buNone/>
                      </a:pPr>
                      <a:r>
                        <a:rPr lang="en-US" sz="1500" dirty="0">
                          <a:solidFill>
                            <a:srgbClr val="3D3D3D"/>
                          </a:solidFill>
                          <a:latin typeface="Calibri" pitchFamily="34" charset="0"/>
                          <a:ea typeface="Calibri" pitchFamily="34" charset="-122"/>
                          <a:cs typeface="Calibri" pitchFamily="34" charset="-120"/>
                        </a:rPr>
                        <a:t>More empties make moving easier: does the jump move?</a:t>
                      </a:r>
                      <a:endParaRPr lang="en-US" sz="1500" dirty="0">
                        <a:latin typeface="Calibri" charset="0"/>
                        <a:ea typeface="Calibri" charset="0"/>
                        <a:cs typeface="Calibri" charset="0"/>
                      </a:endParaRPr>
                    </a:p>
                  </a:txBody>
                  <a:tcPr marL="73152" marR="73152" marT="73152" marB="73152">
                    <a:lnL w="6350" cap="flat" cmpd="sng" algn="ctr">
                      <a:solidFill>
                        <a:srgbClr val="D9ECEC"/>
                      </a:solidFill>
                      <a:prstDash val="solid"/>
                      <a:round/>
                      <a:headEnd type="none" w="med" len="med"/>
                      <a:tailEnd type="none" w="med" len="med"/>
                    </a:lnL>
                    <a:lnR w="6350" cap="flat" cmpd="sng" algn="ctr">
                      <a:solidFill>
                        <a:srgbClr val="D9ECEC"/>
                      </a:solidFill>
                      <a:prstDash val="solid"/>
                      <a:round/>
                      <a:headEnd type="none" w="med" len="med"/>
                      <a:tailEnd type="none" w="med" len="med"/>
                    </a:lnR>
                    <a:lnT w="6350" cap="flat" cmpd="sng" algn="ctr">
                      <a:solidFill>
                        <a:srgbClr val="D9ECEC"/>
                      </a:solidFill>
                      <a:prstDash val="solid"/>
                      <a:round/>
                      <a:headEnd type="none" w="med" len="med"/>
                      <a:tailEnd type="none" w="med" len="med"/>
                    </a:lnT>
                    <a:lnB w="6350" cap="flat" cmpd="sng" algn="ctr">
                      <a:solidFill>
                        <a:srgbClr val="D9ECEC"/>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8" name="Text 5"/>
          <p:cNvSpPr txBox="1"/>
          <p:nvPr/>
        </p:nvSpPr>
        <p:spPr>
          <a:xfrm>
            <a:off x="609600" y="5547360"/>
            <a:ext cx="10972800" cy="670560"/>
          </a:xfrm>
          <a:prstGeom prst="rect">
            <a:avLst/>
          </a:prstGeom>
          <a:noFill/>
          <a:ln/>
        </p:spPr>
        <p:txBody>
          <a:bodyPr wrap="square" lIns="0" tIns="0" rIns="0" bIns="0" rtlCol="0" anchor="t"/>
          <a:lstStyle/>
          <a:p>
            <a:r>
              <a:rPr lang="en-US" sz="1467" b="1" dirty="0">
                <a:solidFill>
                  <a:srgbClr val="C97B3A"/>
                </a:solidFill>
              </a:rPr>
              <a:t>✎ Exercise, for later (notebook):  </a:t>
            </a:r>
            <a:r>
              <a:rPr lang="en-US" sz="1467" dirty="0">
                <a:solidFill>
                  <a:srgbClr val="3D3D3D"/>
                </a:solidFill>
              </a:rPr>
              <a:t>repeat the sweep with a 15×15 city (the band widens: why?) and with 30% empty houses. Then try the Granovetter playground cell.</a:t>
            </a:r>
            <a:endParaRPr lang="en-US" sz="1467" dirty="0"/>
          </a:p>
        </p:txBody>
      </p:sp>
      <p:sp>
        <p:nvSpPr>
          <p:cNvPr id="25" name="Slide Number Placeholder 0"/>
          <p:cNvSpPr>
            <a:spLocks noGrp="1"/>
          </p:cNvSpPr>
          <p:nvPr>
            <p:ph type="sldNum" sz="quarter" idx="4294967295"/>
          </p:nvPr>
        </p:nvSpPr>
        <p:spPr>
          <a:xfrm>
            <a:off x="10972800" y="6339840"/>
            <a:ext cx="609600" cy="365760"/>
          </a:xfrm>
          <a:prstGeom prst="rect">
            <a:avLst/>
          </a:prstGeom>
          <a:extLst>
            <a:ext uri="{C572A759-6A51-4108-AA02-DFA0A04FC94B}">
              <ma14:wrappingTextBoxFlag xmlns="" xmlns:ma14="http://schemas.microsoft.com/office/mac/drawingml/2011/main" val="0"/>
            </a:ext>
          </a:extLst>
        </p:spPr>
        <p:txBody>
          <a:bodyPr/>
          <a:lstStyle>
            <a:lvl1pPr>
              <a:defRPr sz="1200">
                <a:solidFill>
                  <a:srgbClr val="6B6B6B"/>
                </a:solidFill>
              </a:defRPr>
            </a:lvl1pPr>
          </a:lstStyle>
          <a:p>
            <a:pPr algn="r"/>
            <a:fld id="{F7021451-1387-4CA6-816F-3879F97B5CBC}" type="slidenum">
              <a:rPr lang="en-US" b="0"/>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09600" y="426720"/>
            <a:ext cx="10972800" cy="914400"/>
          </a:xfrm>
          <a:prstGeom prst="rect">
            <a:avLst/>
          </a:prstGeom>
          <a:noFill/>
          <a:ln/>
        </p:spPr>
        <p:txBody>
          <a:bodyPr vert="horz" wrap="square" lIns="0" tIns="0" rIns="0" bIns="0" rtlCol="0" anchor="ctr">
            <a:normAutofit/>
          </a:bodyPr>
          <a:lstStyle/>
          <a:p>
            <a:r>
              <a:rPr lang="en-US" dirty="0"/>
              <a:t>The rule for every agent-based model</a:t>
            </a:r>
          </a:p>
        </p:txBody>
      </p:sp>
      <p:sp>
        <p:nvSpPr>
          <p:cNvPr id="3" name="Shape 1"/>
          <p:cNvSpPr/>
          <p:nvPr/>
        </p:nvSpPr>
        <p:spPr>
          <a:xfrm>
            <a:off x="609600" y="1584960"/>
            <a:ext cx="10972800" cy="2316480"/>
          </a:xfrm>
          <a:prstGeom prst="roundRect">
            <a:avLst>
              <a:gd name="adj" fmla="val 6316"/>
            </a:avLst>
          </a:prstGeom>
          <a:solidFill>
            <a:srgbClr val="E6F2F2"/>
          </a:solidFill>
          <a:ln w="12700">
            <a:solidFill>
              <a:srgbClr val="E6F2F2"/>
            </a:solidFill>
            <a:prstDash val="solid"/>
          </a:ln>
        </p:spPr>
        <p:txBody>
          <a:bodyPr/>
          <a:lstStyle/>
          <a:p>
            <a:endParaRPr lang="en-GB" sz="2400"/>
          </a:p>
        </p:txBody>
      </p:sp>
      <p:sp>
        <p:nvSpPr>
          <p:cNvPr id="4" name="Text 2"/>
          <p:cNvSpPr txBox="1"/>
          <p:nvPr/>
        </p:nvSpPr>
        <p:spPr>
          <a:xfrm>
            <a:off x="1097280" y="1706880"/>
            <a:ext cx="9997440" cy="2072640"/>
          </a:xfrm>
          <a:prstGeom prst="rect">
            <a:avLst/>
          </a:prstGeom>
          <a:noFill/>
          <a:ln/>
        </p:spPr>
        <p:txBody>
          <a:bodyPr wrap="square" lIns="0" tIns="0" rIns="0" bIns="0" rtlCol="0" anchor="ctr"/>
          <a:lstStyle/>
          <a:p>
            <a:r>
              <a:rPr lang="en-US" sz="2400" b="1" dirty="0">
                <a:solidFill>
                  <a:srgbClr val="0A5C5C"/>
                </a:solidFill>
              </a:rPr>
              <a:t>Never report a single run. Run the model many times with different seeds, report the distribution of outcomes, and sweep the parameter you care about to find where the behaviour changes.</a:t>
            </a:r>
            <a:endParaRPr lang="en-US" sz="2400" dirty="0"/>
          </a:p>
        </p:txBody>
      </p:sp>
      <p:sp>
        <p:nvSpPr>
          <p:cNvPr id="5" name="Text 3"/>
          <p:cNvSpPr txBox="1"/>
          <p:nvPr/>
        </p:nvSpPr>
        <p:spPr>
          <a:xfrm>
            <a:off x="609600" y="4206240"/>
            <a:ext cx="10972800" cy="609600"/>
          </a:xfrm>
          <a:prstGeom prst="rect">
            <a:avLst/>
          </a:prstGeom>
          <a:noFill/>
          <a:ln/>
        </p:spPr>
        <p:txBody>
          <a:bodyPr wrap="square" lIns="0" tIns="0" rIns="0" bIns="0" rtlCol="0" anchor="t"/>
          <a:lstStyle/>
          <a:p>
            <a:r>
              <a:rPr lang="en-US" sz="2000" i="1" dirty="0">
                <a:solidFill>
                  <a:srgbClr val="0F7F7F"/>
                </a:solidFill>
              </a:rPr>
              <a:t>That sweep is a Monte Carlo experiment. It is what turns a simulation from a story into evidence.</a:t>
            </a:r>
            <a:endParaRPr lang="en-US" sz="2000" dirty="0"/>
          </a:p>
        </p:txBody>
      </p:sp>
      <p:sp>
        <p:nvSpPr>
          <p:cNvPr id="6" name="Text 4"/>
          <p:cNvSpPr txBox="1"/>
          <p:nvPr/>
        </p:nvSpPr>
        <p:spPr>
          <a:xfrm>
            <a:off x="609600" y="4937760"/>
            <a:ext cx="10972800" cy="853440"/>
          </a:xfrm>
          <a:prstGeom prst="rect">
            <a:avLst/>
          </a:prstGeom>
          <a:noFill/>
          <a:ln/>
        </p:spPr>
        <p:txBody>
          <a:bodyPr wrap="square" lIns="0" tIns="0" rIns="0" bIns="0" rtlCol="0" anchor="t"/>
          <a:lstStyle/>
          <a:p>
            <a:r>
              <a:rPr lang="en-US" sz="1467" dirty="0">
                <a:solidFill>
                  <a:srgbClr val="6B6B6B"/>
                </a:solidFill>
              </a:rPr>
              <a:t>Playgrounds on the course website and in the notebook: Granovetter's threshold model of collective action (same average threshold, different spread, opposite outcome) and the forest-fire model (sweep tree density to find its threshold).</a:t>
            </a:r>
            <a:endParaRPr lang="en-US" sz="1467" dirty="0"/>
          </a:p>
        </p:txBody>
      </p:sp>
      <p:sp>
        <p:nvSpPr>
          <p:cNvPr id="7" name="Text 5"/>
          <p:cNvSpPr txBox="1"/>
          <p:nvPr/>
        </p:nvSpPr>
        <p:spPr>
          <a:xfrm>
            <a:off x="609600" y="5913120"/>
            <a:ext cx="10241280" cy="365760"/>
          </a:xfrm>
          <a:prstGeom prst="rect">
            <a:avLst/>
          </a:prstGeom>
          <a:noFill/>
          <a:ln/>
        </p:spPr>
        <p:txBody>
          <a:bodyPr wrap="square" lIns="0" tIns="0" rIns="0" bIns="0" rtlCol="0" anchor="t"/>
          <a:lstStyle/>
          <a:p>
            <a:r>
              <a:rPr lang="en-US" sz="1200" i="1" dirty="0">
                <a:solidFill>
                  <a:srgbClr val="6B6B6B"/>
                </a:solidFill>
              </a:rPr>
              <a:t>Granovetter, M. (1978). Threshold models of collective behavior. American Journal of Sociology, 83(6), 1420–1443.</a:t>
            </a:r>
            <a:endParaRPr lang="en-US" sz="1200" dirty="0"/>
          </a:p>
        </p:txBody>
      </p:sp>
      <p:sp>
        <p:nvSpPr>
          <p:cNvPr id="25" name="Slide Number Placeholder 0"/>
          <p:cNvSpPr>
            <a:spLocks noGrp="1"/>
          </p:cNvSpPr>
          <p:nvPr>
            <p:ph type="sldNum" sz="quarter" idx="4294967295"/>
          </p:nvPr>
        </p:nvSpPr>
        <p:spPr>
          <a:xfrm>
            <a:off x="10972800" y="6339840"/>
            <a:ext cx="609600" cy="365760"/>
          </a:xfrm>
          <a:prstGeom prst="rect">
            <a:avLst/>
          </a:prstGeom>
          <a:extLst>
            <a:ext uri="{C572A759-6A51-4108-AA02-DFA0A04FC94B}">
              <ma14:wrappingTextBoxFlag xmlns="" xmlns:ma14="http://schemas.microsoft.com/office/mac/drawingml/2011/main" val="0"/>
            </a:ext>
          </a:extLst>
        </p:spPr>
        <p:txBody>
          <a:bodyPr/>
          <a:lstStyle>
            <a:lvl1pPr>
              <a:defRPr sz="1200">
                <a:solidFill>
                  <a:srgbClr val="6B6B6B"/>
                </a:solidFill>
              </a:defRPr>
            </a:lvl1pPr>
          </a:lstStyle>
          <a:p>
            <a:pPr algn="r"/>
            <a:fld id="{F7021451-1387-4CA6-816F-3879F97B5CBC}" type="slidenum">
              <a:rPr lang="en-US" b="0"/>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09600" y="426720"/>
            <a:ext cx="10972800" cy="914400"/>
          </a:xfrm>
          <a:prstGeom prst="rect">
            <a:avLst/>
          </a:prstGeom>
          <a:noFill/>
          <a:ln/>
        </p:spPr>
        <p:txBody>
          <a:bodyPr vert="horz" wrap="square" lIns="0" tIns="0" rIns="0" bIns="0" rtlCol="0" anchor="ctr">
            <a:normAutofit/>
          </a:bodyPr>
          <a:lstStyle/>
          <a:p>
            <a:r>
              <a:rPr lang="en-US" dirty="0"/>
              <a:t>Looking ahead: where did 30% come from?</a:t>
            </a:r>
          </a:p>
        </p:txBody>
      </p:sp>
      <p:sp>
        <p:nvSpPr>
          <p:cNvPr id="3" name="Text 1"/>
          <p:cNvSpPr txBox="1"/>
          <p:nvPr/>
        </p:nvSpPr>
        <p:spPr>
          <a:xfrm>
            <a:off x="609600" y="1584960"/>
            <a:ext cx="10972800" cy="4389120"/>
          </a:xfrm>
          <a:prstGeom prst="rect">
            <a:avLst/>
          </a:prstGeom>
          <a:noFill/>
          <a:ln/>
        </p:spPr>
        <p:txBody>
          <a:bodyPr wrap="square" lIns="0" tIns="0" rIns="0" bIns="0" rtlCol="0" anchor="t"/>
          <a:lstStyle/>
          <a:p>
            <a:pPr marL="457189" indent="-457189">
              <a:spcAft>
                <a:spcPts val="1067"/>
              </a:spcAft>
              <a:buSzPct val="100000"/>
              <a:buChar char="•"/>
            </a:pPr>
            <a:r>
              <a:rPr lang="en-US" sz="1733" dirty="0">
                <a:solidFill>
                  <a:srgbClr val="3D3D3D"/>
                </a:solidFill>
              </a:rPr>
              <a:t>Nowhere. It stands in for an attitude that, in a real city, you would measure with a questionnaire item: “I would feel uncomfortable if most of my neighbours were different from me.”</a:t>
            </a:r>
            <a:endParaRPr lang="en-US" sz="1733" dirty="0"/>
          </a:p>
          <a:p>
            <a:pPr marL="457189" indent="-457189">
              <a:spcAft>
                <a:spcPts val="1067"/>
              </a:spcAft>
              <a:buSzPct val="100000"/>
              <a:buChar char="•"/>
            </a:pPr>
            <a:r>
              <a:rPr lang="en-US" sz="1733" dirty="0">
                <a:solidFill>
                  <a:srgbClr val="3D3D3D"/>
                </a:solidFill>
              </a:rPr>
              <a:t>Turning such answers into a number a simulation can use is called pseudo-quantification.</a:t>
            </a:r>
            <a:endParaRPr lang="en-US" sz="1733" dirty="0"/>
          </a:p>
          <a:p>
            <a:pPr marL="457189" indent="-457189">
              <a:spcAft>
                <a:spcPts val="1067"/>
              </a:spcAft>
              <a:buSzPct val="100000"/>
              <a:buChar char="•"/>
            </a:pPr>
            <a:r>
              <a:rPr lang="en-US" sz="1733" dirty="0">
                <a:solidFill>
                  <a:srgbClr val="3D3D3D"/>
                </a:solidFill>
              </a:rPr>
              <a:t>Different people give different answers, so there is not one threshold but a distribution of thresholds. Carrying our doubt about the translation into the model is the quantification of uncertainty.</a:t>
            </a:r>
            <a:endParaRPr lang="en-US" sz="1733" dirty="0"/>
          </a:p>
          <a:p>
            <a:pPr marL="457189" indent="-457189">
              <a:spcAft>
                <a:spcPts val="1067"/>
              </a:spcAft>
              <a:buSzPct val="100000"/>
              <a:buChar char="•"/>
            </a:pPr>
            <a:r>
              <a:rPr lang="en-US" sz="1733" dirty="0">
                <a:solidFill>
                  <a:srgbClr val="3D3D3D"/>
                </a:solidFill>
              </a:rPr>
              <a:t>Both are the subject of the next seminar, with the same model and one line of code changed: the single tolerance value becomes an array, one per household, drawn from survey data. Notebook 5.4 is the preview.</a:t>
            </a:r>
            <a:endParaRPr lang="en-US" sz="1733" dirty="0"/>
          </a:p>
        </p:txBody>
      </p:sp>
      <p:sp>
        <p:nvSpPr>
          <p:cNvPr id="25" name="Slide Number Placeholder 0"/>
          <p:cNvSpPr>
            <a:spLocks noGrp="1"/>
          </p:cNvSpPr>
          <p:nvPr>
            <p:ph type="sldNum" sz="quarter" idx="4294967295"/>
          </p:nvPr>
        </p:nvSpPr>
        <p:spPr>
          <a:xfrm>
            <a:off x="10972800" y="6339840"/>
            <a:ext cx="609600" cy="365760"/>
          </a:xfrm>
          <a:prstGeom prst="rect">
            <a:avLst/>
          </a:prstGeom>
          <a:extLst>
            <a:ext uri="{C572A759-6A51-4108-AA02-DFA0A04FC94B}">
              <ma14:wrappingTextBoxFlag xmlns="" xmlns:ma14="http://schemas.microsoft.com/office/mac/drawingml/2011/main" val="0"/>
            </a:ext>
          </a:extLst>
        </p:spPr>
        <p:txBody>
          <a:bodyPr/>
          <a:lstStyle>
            <a:lvl1pPr>
              <a:defRPr sz="1200">
                <a:solidFill>
                  <a:srgbClr val="6B6B6B"/>
                </a:solidFill>
              </a:defRPr>
            </a:lvl1pPr>
          </a:lstStyle>
          <a:p>
            <a:pPr algn="r"/>
            <a:fld id="{F7021451-1387-4CA6-816F-3879F97B5CBC}" type="slidenum">
              <a:rPr lang="en-US" b="0"/>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09600" y="426720"/>
            <a:ext cx="10972800" cy="914400"/>
          </a:xfrm>
          <a:prstGeom prst="rect">
            <a:avLst/>
          </a:prstGeom>
          <a:noFill/>
          <a:ln/>
        </p:spPr>
        <p:txBody>
          <a:bodyPr vert="horz" wrap="square" lIns="0" tIns="0" rIns="0" bIns="0" rtlCol="0" anchor="ctr">
            <a:normAutofit/>
          </a:bodyPr>
          <a:lstStyle/>
          <a:p>
            <a:r>
              <a:rPr lang="en-US" dirty="0"/>
              <a:t>Where this road leads</a:t>
            </a:r>
          </a:p>
        </p:txBody>
      </p:sp>
      <p:sp>
        <p:nvSpPr>
          <p:cNvPr id="3" name="Text 1"/>
          <p:cNvSpPr txBox="1"/>
          <p:nvPr/>
        </p:nvSpPr>
        <p:spPr>
          <a:xfrm>
            <a:off x="8046720" y="6303264"/>
            <a:ext cx="2682240" cy="365760"/>
          </a:xfrm>
          <a:prstGeom prst="rect">
            <a:avLst/>
          </a:prstGeom>
          <a:solidFill>
            <a:srgbClr val="E6F2F2"/>
          </a:solidFill>
          <a:ln/>
        </p:spPr>
        <p:txBody>
          <a:bodyPr wrap="square" lIns="0" tIns="0" rIns="0" bIns="0" rtlCol="0" anchor="ctr"/>
          <a:lstStyle/>
          <a:p>
            <a:pPr algn="ctr"/>
            <a:r>
              <a:rPr lang="en-US" sz="1333" b="1" dirty="0">
                <a:solidFill>
                  <a:srgbClr val="0A5C5C"/>
                </a:solidFill>
              </a:rPr>
              <a:t>STOP 6 · BEYOND</a:t>
            </a:r>
            <a:endParaRPr lang="en-US" sz="1333" dirty="0"/>
          </a:p>
        </p:txBody>
      </p:sp>
      <p:sp>
        <p:nvSpPr>
          <p:cNvPr id="4" name="Shape 2"/>
          <p:cNvSpPr/>
          <p:nvPr/>
        </p:nvSpPr>
        <p:spPr>
          <a:xfrm>
            <a:off x="609600" y="1584960"/>
            <a:ext cx="3535680" cy="4023360"/>
          </a:xfrm>
          <a:prstGeom prst="roundRect">
            <a:avLst>
              <a:gd name="adj" fmla="val 3448"/>
            </a:avLst>
          </a:prstGeom>
          <a:solidFill>
            <a:srgbClr val="E6F2F2"/>
          </a:solidFill>
          <a:ln w="12700">
            <a:solidFill>
              <a:srgbClr val="E6F2F2"/>
            </a:solidFill>
            <a:prstDash val="solid"/>
          </a:ln>
        </p:spPr>
        <p:txBody>
          <a:bodyPr/>
          <a:lstStyle/>
          <a:p>
            <a:endParaRPr lang="en-GB" sz="2400"/>
          </a:p>
        </p:txBody>
      </p:sp>
      <p:sp>
        <p:nvSpPr>
          <p:cNvPr id="5" name="Text 3"/>
          <p:cNvSpPr txBox="1"/>
          <p:nvPr/>
        </p:nvSpPr>
        <p:spPr>
          <a:xfrm>
            <a:off x="853440" y="1767840"/>
            <a:ext cx="3048000" cy="487680"/>
          </a:xfrm>
          <a:prstGeom prst="rect">
            <a:avLst/>
          </a:prstGeom>
          <a:noFill/>
          <a:ln/>
        </p:spPr>
        <p:txBody>
          <a:bodyPr wrap="square" lIns="0" tIns="0" rIns="0" bIns="0" rtlCol="0" anchor="ctr"/>
          <a:lstStyle/>
          <a:p>
            <a:r>
              <a:rPr lang="en-US" sz="2000" b="1" dirty="0">
                <a:solidFill>
                  <a:srgbClr val="0A5C5C"/>
                </a:solidFill>
              </a:rPr>
              <a:t>Bootstrapping</a:t>
            </a:r>
            <a:endParaRPr lang="en-US" sz="2000" dirty="0"/>
          </a:p>
        </p:txBody>
      </p:sp>
      <p:sp>
        <p:nvSpPr>
          <p:cNvPr id="6" name="Text 4"/>
          <p:cNvSpPr txBox="1"/>
          <p:nvPr/>
        </p:nvSpPr>
        <p:spPr>
          <a:xfrm>
            <a:off x="853440" y="2316480"/>
            <a:ext cx="3048000" cy="3108960"/>
          </a:xfrm>
          <a:prstGeom prst="rect">
            <a:avLst/>
          </a:prstGeom>
          <a:noFill/>
          <a:ln/>
        </p:spPr>
        <p:txBody>
          <a:bodyPr wrap="square" lIns="0" tIns="0" rIns="0" bIns="0" rtlCol="0" anchor="t"/>
          <a:lstStyle/>
          <a:p>
            <a:r>
              <a:rPr lang="en-US" sz="1600" dirty="0">
                <a:solidFill>
                  <a:srgbClr val="3D3D3D"/>
                </a:solidFill>
              </a:rPr>
              <a:t>A confidence interval for a statistic with no formula: resample your own survey with replacement, recompute, repeat 10,000 times. The spread is your interval. Monte Carlo on data you already have. Notebook 6.1.</a:t>
            </a:r>
            <a:endParaRPr lang="en-US" sz="1600" dirty="0"/>
          </a:p>
        </p:txBody>
      </p:sp>
      <p:sp>
        <p:nvSpPr>
          <p:cNvPr id="7" name="Shape 5"/>
          <p:cNvSpPr/>
          <p:nvPr/>
        </p:nvSpPr>
        <p:spPr>
          <a:xfrm>
            <a:off x="4328160" y="1584960"/>
            <a:ext cx="3535680" cy="4023360"/>
          </a:xfrm>
          <a:prstGeom prst="roundRect">
            <a:avLst>
              <a:gd name="adj" fmla="val 3448"/>
            </a:avLst>
          </a:prstGeom>
          <a:solidFill>
            <a:srgbClr val="FBEBDD"/>
          </a:solidFill>
          <a:ln w="12700">
            <a:solidFill>
              <a:srgbClr val="FBEBDD"/>
            </a:solidFill>
            <a:prstDash val="solid"/>
          </a:ln>
        </p:spPr>
        <p:txBody>
          <a:bodyPr/>
          <a:lstStyle/>
          <a:p>
            <a:endParaRPr lang="en-GB" sz="2400"/>
          </a:p>
        </p:txBody>
      </p:sp>
      <p:sp>
        <p:nvSpPr>
          <p:cNvPr id="8" name="Text 6"/>
          <p:cNvSpPr txBox="1"/>
          <p:nvPr/>
        </p:nvSpPr>
        <p:spPr>
          <a:xfrm>
            <a:off x="4572000" y="1767840"/>
            <a:ext cx="3048000" cy="487680"/>
          </a:xfrm>
          <a:prstGeom prst="rect">
            <a:avLst/>
          </a:prstGeom>
          <a:noFill/>
          <a:ln/>
        </p:spPr>
        <p:txBody>
          <a:bodyPr wrap="square" lIns="0" tIns="0" rIns="0" bIns="0" rtlCol="0" anchor="ctr"/>
          <a:lstStyle/>
          <a:p>
            <a:r>
              <a:rPr lang="en-US" sz="2000" b="1" dirty="0">
                <a:solidFill>
                  <a:srgbClr val="7A4A1E"/>
                </a:solidFill>
              </a:rPr>
              <a:t>Sensitivity analysis</a:t>
            </a:r>
            <a:endParaRPr lang="en-US" sz="2000" dirty="0"/>
          </a:p>
        </p:txBody>
      </p:sp>
      <p:sp>
        <p:nvSpPr>
          <p:cNvPr id="9" name="Text 7"/>
          <p:cNvSpPr txBox="1"/>
          <p:nvPr/>
        </p:nvSpPr>
        <p:spPr>
          <a:xfrm>
            <a:off x="4572000" y="2316480"/>
            <a:ext cx="3048000" cy="3108960"/>
          </a:xfrm>
          <a:prstGeom prst="rect">
            <a:avLst/>
          </a:prstGeom>
          <a:noFill/>
          <a:ln/>
        </p:spPr>
        <p:txBody>
          <a:bodyPr wrap="square" lIns="0" tIns="0" rIns="0" bIns="0" rtlCol="0" anchor="t"/>
          <a:lstStyle/>
          <a:p>
            <a:r>
              <a:rPr lang="en-US" sz="1600" dirty="0">
                <a:solidFill>
                  <a:srgbClr val="3D3D3D"/>
                </a:solidFill>
              </a:rPr>
              <a:t>Real models have dozens of uncertain inputs. Shake them all at once, then ask which one explains most of the variation in the output. That is the one worth measuring precisely. Notebook 6.2.</a:t>
            </a:r>
            <a:endParaRPr lang="en-US" sz="1600" dirty="0"/>
          </a:p>
        </p:txBody>
      </p:sp>
      <p:sp>
        <p:nvSpPr>
          <p:cNvPr id="10" name="Shape 8"/>
          <p:cNvSpPr/>
          <p:nvPr/>
        </p:nvSpPr>
        <p:spPr>
          <a:xfrm>
            <a:off x="8046720" y="1584960"/>
            <a:ext cx="3535680" cy="4023360"/>
          </a:xfrm>
          <a:prstGeom prst="roundRect">
            <a:avLst>
              <a:gd name="adj" fmla="val 3448"/>
            </a:avLst>
          </a:prstGeom>
          <a:solidFill>
            <a:srgbClr val="FAECE7"/>
          </a:solidFill>
          <a:ln w="12700">
            <a:solidFill>
              <a:srgbClr val="FAECE7"/>
            </a:solidFill>
            <a:prstDash val="solid"/>
          </a:ln>
        </p:spPr>
        <p:txBody>
          <a:bodyPr/>
          <a:lstStyle/>
          <a:p>
            <a:endParaRPr lang="en-GB" sz="2400"/>
          </a:p>
        </p:txBody>
      </p:sp>
      <p:sp>
        <p:nvSpPr>
          <p:cNvPr id="11" name="Text 9"/>
          <p:cNvSpPr txBox="1"/>
          <p:nvPr/>
        </p:nvSpPr>
        <p:spPr>
          <a:xfrm>
            <a:off x="8290560" y="1767840"/>
            <a:ext cx="3048000" cy="487680"/>
          </a:xfrm>
          <a:prstGeom prst="rect">
            <a:avLst/>
          </a:prstGeom>
          <a:noFill/>
          <a:ln/>
        </p:spPr>
        <p:txBody>
          <a:bodyPr wrap="square" lIns="0" tIns="0" rIns="0" bIns="0" rtlCol="0" anchor="ctr"/>
          <a:lstStyle/>
          <a:p>
            <a:r>
              <a:rPr lang="en-US" sz="2000" b="1" dirty="0">
                <a:solidFill>
                  <a:srgbClr val="712B13"/>
                </a:solidFill>
              </a:rPr>
              <a:t>Markov chain Monte Carlo</a:t>
            </a:r>
            <a:endParaRPr lang="en-US" sz="2000" dirty="0"/>
          </a:p>
        </p:txBody>
      </p:sp>
      <p:sp>
        <p:nvSpPr>
          <p:cNvPr id="12" name="Text 10"/>
          <p:cNvSpPr txBox="1"/>
          <p:nvPr/>
        </p:nvSpPr>
        <p:spPr>
          <a:xfrm>
            <a:off x="8290560" y="2316480"/>
            <a:ext cx="3048000" cy="3108960"/>
          </a:xfrm>
          <a:prstGeom prst="rect">
            <a:avLst/>
          </a:prstGeom>
          <a:noFill/>
          <a:ln/>
        </p:spPr>
        <p:txBody>
          <a:bodyPr wrap="square" lIns="0" tIns="0" rIns="0" bIns="0" rtlCol="0" anchor="t"/>
          <a:lstStyle/>
          <a:p>
            <a:r>
              <a:rPr lang="en-US" sz="1600" dirty="0">
                <a:solidFill>
                  <a:srgbClr val="3D3D3D"/>
                </a:solidFill>
              </a:rPr>
              <a:t>Bayesian statistics needs samples from a distribution you cannot write down. MCMC takes a random walk that lingers where the data fit well. Engine of modern Bayesian software (Stan, PyMC). Notebook 6.3, twelve lines.</a:t>
            </a:r>
            <a:endParaRPr lang="en-US" sz="1600" dirty="0"/>
          </a:p>
        </p:txBody>
      </p:sp>
      <p:sp>
        <p:nvSpPr>
          <p:cNvPr id="13" name="Text 11"/>
          <p:cNvSpPr txBox="1"/>
          <p:nvPr/>
        </p:nvSpPr>
        <p:spPr>
          <a:xfrm>
            <a:off x="609600" y="5913120"/>
            <a:ext cx="10241280" cy="365760"/>
          </a:xfrm>
          <a:prstGeom prst="rect">
            <a:avLst/>
          </a:prstGeom>
          <a:noFill/>
          <a:ln/>
        </p:spPr>
        <p:txBody>
          <a:bodyPr wrap="square" lIns="0" tIns="0" rIns="0" bIns="0" rtlCol="0" anchor="t"/>
          <a:lstStyle/>
          <a:p>
            <a:r>
              <a:rPr lang="en-US" sz="1200" i="1" dirty="0">
                <a:solidFill>
                  <a:srgbClr val="6B6B6B"/>
                </a:solidFill>
              </a:rPr>
              <a:t>Efron, B. (1979). Bootstrap methods. Ann. Statist., 7(1), 1–26. · Metropolis, N., et al. (1953). Equation of state calculations by fast computing machines. J. Chem. Phys., 21(6), 1087–1092.</a:t>
            </a:r>
            <a:endParaRPr lang="en-US" sz="1200" dirty="0"/>
          </a:p>
        </p:txBody>
      </p:sp>
      <p:sp>
        <p:nvSpPr>
          <p:cNvPr id="25" name="Slide Number Placeholder 0"/>
          <p:cNvSpPr>
            <a:spLocks noGrp="1"/>
          </p:cNvSpPr>
          <p:nvPr>
            <p:ph type="sldNum" sz="quarter" idx="4294967295"/>
          </p:nvPr>
        </p:nvSpPr>
        <p:spPr>
          <a:xfrm>
            <a:off x="10972800" y="6339840"/>
            <a:ext cx="609600" cy="365760"/>
          </a:xfrm>
          <a:prstGeom prst="rect">
            <a:avLst/>
          </a:prstGeom>
          <a:extLst>
            <a:ext uri="{C572A759-6A51-4108-AA02-DFA0A04FC94B}">
              <ma14:wrappingTextBoxFlag xmlns="" xmlns:ma14="http://schemas.microsoft.com/office/mac/drawingml/2011/main" val="0"/>
            </a:ext>
          </a:extLst>
        </p:spPr>
        <p:txBody>
          <a:bodyPr/>
          <a:lstStyle>
            <a:lvl1pPr>
              <a:defRPr sz="1200">
                <a:solidFill>
                  <a:srgbClr val="6B6B6B"/>
                </a:solidFill>
              </a:defRPr>
            </a:lvl1pPr>
          </a:lstStyle>
          <a:p>
            <a:pPr algn="r"/>
            <a:fld id="{F7021451-1387-4CA6-816F-3879F97B5CBC}" type="slidenum">
              <a:rPr lang="en-US" b="0"/>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09600" y="426720"/>
            <a:ext cx="10972800" cy="914400"/>
          </a:xfrm>
          <a:prstGeom prst="rect">
            <a:avLst/>
          </a:prstGeom>
          <a:noFill/>
          <a:ln/>
        </p:spPr>
        <p:txBody>
          <a:bodyPr vert="horz" wrap="square" lIns="0" tIns="0" rIns="0" bIns="0" rtlCol="0" anchor="ctr">
            <a:normAutofit/>
          </a:bodyPr>
          <a:lstStyle/>
          <a:p>
            <a:r>
              <a:rPr lang="en-US" dirty="0"/>
              <a:t>Five habits that keep you honest</a:t>
            </a:r>
          </a:p>
        </p:txBody>
      </p:sp>
      <p:sp>
        <p:nvSpPr>
          <p:cNvPr id="3" name="Text 1"/>
          <p:cNvSpPr txBox="1"/>
          <p:nvPr/>
        </p:nvSpPr>
        <p:spPr>
          <a:xfrm>
            <a:off x="609600" y="1584960"/>
            <a:ext cx="10972800" cy="4389120"/>
          </a:xfrm>
          <a:prstGeom prst="rect">
            <a:avLst/>
          </a:prstGeom>
          <a:noFill/>
          <a:ln/>
        </p:spPr>
        <p:txBody>
          <a:bodyPr wrap="square" lIns="0" tIns="0" rIns="0" bIns="0" rtlCol="0" anchor="t"/>
          <a:lstStyle/>
          <a:p>
            <a:pPr marL="457189" indent="-457189">
              <a:spcAft>
                <a:spcPts val="1067"/>
              </a:spcAft>
              <a:buSzPct val="100000"/>
              <a:buChar char="•"/>
            </a:pPr>
            <a:r>
              <a:rPr lang="en-US" sz="1733" dirty="0">
                <a:solidFill>
                  <a:srgbClr val="3D3D3D"/>
                </a:solidFill>
              </a:rPr>
              <a:t>Garbage in, gospel out. Ten thousand runs on a wrong assumption give a beautifully smooth histogram that is precisely wrong. State your input assumptions; test what happens when you change them.</a:t>
            </a:r>
            <a:endParaRPr lang="en-US" sz="1733" dirty="0"/>
          </a:p>
          <a:p>
            <a:pPr marL="457189" indent="-457189">
              <a:spcAft>
                <a:spcPts val="1067"/>
              </a:spcAft>
              <a:buSzPct val="100000"/>
              <a:buChar char="•"/>
            </a:pPr>
            <a:r>
              <a:rPr lang="en-US" sz="1733" dirty="0">
                <a:solidFill>
                  <a:srgbClr val="3D3D3D"/>
                </a:solidFill>
              </a:rPr>
              <a:t>Report the spread, not just the average: a probability, a median, a 5th to 95th percentile range, a band around a curve.</a:t>
            </a:r>
            <a:endParaRPr lang="en-US" sz="1733" dirty="0"/>
          </a:p>
          <a:p>
            <a:pPr marL="457189" indent="-457189">
              <a:spcAft>
                <a:spcPts val="1067"/>
              </a:spcAft>
              <a:buSzPct val="100000"/>
              <a:buChar char="•"/>
            </a:pPr>
            <a:r>
              <a:rPr lang="en-US" sz="1733" dirty="0">
                <a:solidFill>
                  <a:srgbClr val="3D3D3D"/>
                </a:solidFill>
              </a:rPr>
              <a:t>Use enough runs, and say how many. A thousand is the minimum; more for the tails. If two repetitions disagree visibly, you need more.</a:t>
            </a:r>
            <a:endParaRPr lang="en-US" sz="1733" dirty="0"/>
          </a:p>
          <a:p>
            <a:pPr marL="457189" indent="-457189">
              <a:spcAft>
                <a:spcPts val="1067"/>
              </a:spcAft>
              <a:buSzPct val="100000"/>
              <a:buChar char="•"/>
            </a:pPr>
            <a:r>
              <a:rPr lang="en-US" sz="1733" dirty="0">
                <a:solidFill>
                  <a:srgbClr val="3D3D3D"/>
                </a:solidFill>
              </a:rPr>
              <a:t>Fix the seed and share the code, so anyone can reproduce your numbers exactly.</a:t>
            </a:r>
            <a:endParaRPr lang="en-US" sz="1733" dirty="0"/>
          </a:p>
          <a:p>
            <a:pPr marL="457189" indent="-457189">
              <a:spcAft>
                <a:spcPts val="1067"/>
              </a:spcAft>
              <a:buSzPct val="100000"/>
              <a:buChar char="•"/>
            </a:pPr>
            <a:r>
              <a:rPr lang="en-US" sz="1733" dirty="0">
                <a:solidFill>
                  <a:srgbClr val="3D3D3D"/>
                </a:solidFill>
              </a:rPr>
              <a:t>A model is not the world. Monte Carlo quantifies the uncertainty inside a model; it cannot tell you whether the model is right.</a:t>
            </a:r>
            <a:endParaRPr lang="en-US" sz="1733" dirty="0"/>
          </a:p>
        </p:txBody>
      </p:sp>
      <p:sp>
        <p:nvSpPr>
          <p:cNvPr id="25" name="Slide Number Placeholder 0"/>
          <p:cNvSpPr>
            <a:spLocks noGrp="1"/>
          </p:cNvSpPr>
          <p:nvPr>
            <p:ph type="sldNum" sz="quarter" idx="4294967295"/>
          </p:nvPr>
        </p:nvSpPr>
        <p:spPr>
          <a:xfrm>
            <a:off x="10972800" y="6339840"/>
            <a:ext cx="609600" cy="365760"/>
          </a:xfrm>
          <a:prstGeom prst="rect">
            <a:avLst/>
          </a:prstGeom>
          <a:extLst>
            <a:ext uri="{C572A759-6A51-4108-AA02-DFA0A04FC94B}">
              <ma14:wrappingTextBoxFlag xmlns="" xmlns:ma14="http://schemas.microsoft.com/office/mac/drawingml/2011/main" val="0"/>
            </a:ext>
          </a:extLst>
        </p:spPr>
        <p:txBody>
          <a:bodyPr/>
          <a:lstStyle>
            <a:lvl1pPr>
              <a:defRPr sz="1200">
                <a:solidFill>
                  <a:srgbClr val="6B6B6B"/>
                </a:solidFill>
              </a:defRPr>
            </a:lvl1pPr>
          </a:lstStyle>
          <a:p>
            <a:pPr algn="r"/>
            <a:fld id="{F7021451-1387-4CA6-816F-3879F97B5CBC}" type="slidenum">
              <a:rPr lang="en-US" b="0"/>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09600" y="426720"/>
            <a:ext cx="10972800" cy="914400"/>
          </a:xfrm>
          <a:prstGeom prst="rect">
            <a:avLst/>
          </a:prstGeom>
          <a:noFill/>
          <a:ln/>
        </p:spPr>
        <p:txBody>
          <a:bodyPr vert="horz" wrap="square" lIns="0" tIns="0" rIns="0" bIns="0" rtlCol="0" anchor="ctr">
            <a:normAutofit/>
          </a:bodyPr>
          <a:lstStyle/>
          <a:p>
            <a:r>
              <a:rPr lang="en-US" dirty="0"/>
              <a:t>Now you: ten minutes of free play</a:t>
            </a:r>
          </a:p>
        </p:txBody>
      </p:sp>
      <p:sp>
        <p:nvSpPr>
          <p:cNvPr id="3" name="Shape 1"/>
          <p:cNvSpPr/>
          <p:nvPr/>
        </p:nvSpPr>
        <p:spPr>
          <a:xfrm>
            <a:off x="609600" y="1584960"/>
            <a:ext cx="5242560" cy="2926080"/>
          </a:xfrm>
          <a:prstGeom prst="roundRect">
            <a:avLst>
              <a:gd name="adj" fmla="val 4167"/>
            </a:avLst>
          </a:prstGeom>
          <a:solidFill>
            <a:srgbClr val="E6F2F2"/>
          </a:solidFill>
          <a:ln w="12700">
            <a:solidFill>
              <a:srgbClr val="E6F2F2"/>
            </a:solidFill>
            <a:prstDash val="solid"/>
          </a:ln>
        </p:spPr>
        <p:txBody>
          <a:bodyPr/>
          <a:lstStyle/>
          <a:p>
            <a:endParaRPr lang="en-GB" sz="2400"/>
          </a:p>
        </p:txBody>
      </p:sp>
      <p:sp>
        <p:nvSpPr>
          <p:cNvPr id="4" name="Text 2"/>
          <p:cNvSpPr txBox="1"/>
          <p:nvPr/>
        </p:nvSpPr>
        <p:spPr>
          <a:xfrm>
            <a:off x="853440" y="1767840"/>
            <a:ext cx="4754880" cy="487680"/>
          </a:xfrm>
          <a:prstGeom prst="rect">
            <a:avLst/>
          </a:prstGeom>
          <a:noFill/>
          <a:ln/>
        </p:spPr>
        <p:txBody>
          <a:bodyPr wrap="square" lIns="0" tIns="0" rIns="0" bIns="0" rtlCol="0" anchor="ctr"/>
          <a:lstStyle/>
          <a:p>
            <a:r>
              <a:rPr lang="en-US" sz="2000" b="1" dirty="0">
                <a:solidFill>
                  <a:srgbClr val="0A5C5C"/>
                </a:solidFill>
              </a:rPr>
              <a:t>Website animations</a:t>
            </a:r>
            <a:endParaRPr lang="en-US" sz="2000" dirty="0"/>
          </a:p>
        </p:txBody>
      </p:sp>
      <p:sp>
        <p:nvSpPr>
          <p:cNvPr id="5" name="Text 3"/>
          <p:cNvSpPr txBox="1"/>
          <p:nvPr/>
        </p:nvSpPr>
        <p:spPr>
          <a:xfrm>
            <a:off x="853440" y="2316480"/>
            <a:ext cx="4754880" cy="2011680"/>
          </a:xfrm>
          <a:prstGeom prst="rect">
            <a:avLst/>
          </a:prstGeom>
          <a:noFill/>
          <a:ln/>
        </p:spPr>
        <p:txBody>
          <a:bodyPr wrap="square" lIns="0" tIns="0" rIns="0" bIns="0" rtlCol="0" anchor="t"/>
          <a:lstStyle/>
          <a:p>
            <a:r>
              <a:rPr lang="en-US" sz="1600" dirty="0">
                <a:solidFill>
                  <a:srgbClr val="3D3D3D"/>
                </a:solidFill>
              </a:rPr>
              <a:t>acharyakishor.com/simulations</a:t>
            </a:r>
            <a:endParaRPr lang="en-US" sz="1600" dirty="0"/>
          </a:p>
          <a:p>
            <a:r>
              <a:rPr lang="en-US" sz="1600" dirty="0">
                <a:solidFill>
                  <a:srgbClr val="3D3D3D"/>
                </a:solidFill>
              </a:rPr>
              <a:t>Dice, darts, referendum, power, Schelling, plus Granovetter and the forest fire. Each has a “Try this” box.</a:t>
            </a:r>
            <a:endParaRPr lang="en-US" sz="1600" dirty="0"/>
          </a:p>
        </p:txBody>
      </p:sp>
      <p:sp>
        <p:nvSpPr>
          <p:cNvPr id="6" name="Shape 4"/>
          <p:cNvSpPr/>
          <p:nvPr/>
        </p:nvSpPr>
        <p:spPr>
          <a:xfrm>
            <a:off x="6339840" y="1584960"/>
            <a:ext cx="5242560" cy="2926080"/>
          </a:xfrm>
          <a:prstGeom prst="roundRect">
            <a:avLst>
              <a:gd name="adj" fmla="val 4167"/>
            </a:avLst>
          </a:prstGeom>
          <a:solidFill>
            <a:srgbClr val="FBEBDD"/>
          </a:solidFill>
          <a:ln w="12700">
            <a:solidFill>
              <a:srgbClr val="FBEBDD"/>
            </a:solidFill>
            <a:prstDash val="solid"/>
          </a:ln>
        </p:spPr>
        <p:txBody>
          <a:bodyPr/>
          <a:lstStyle/>
          <a:p>
            <a:endParaRPr lang="en-GB" sz="2400"/>
          </a:p>
        </p:txBody>
      </p:sp>
      <p:sp>
        <p:nvSpPr>
          <p:cNvPr id="7" name="Text 5"/>
          <p:cNvSpPr txBox="1"/>
          <p:nvPr/>
        </p:nvSpPr>
        <p:spPr>
          <a:xfrm>
            <a:off x="6583680" y="1767840"/>
            <a:ext cx="4754880" cy="487680"/>
          </a:xfrm>
          <a:prstGeom prst="rect">
            <a:avLst/>
          </a:prstGeom>
          <a:noFill/>
          <a:ln/>
        </p:spPr>
        <p:txBody>
          <a:bodyPr wrap="square" lIns="0" tIns="0" rIns="0" bIns="0" rtlCol="0" anchor="ctr"/>
          <a:lstStyle/>
          <a:p>
            <a:r>
              <a:rPr lang="en-US" sz="2000" b="1" dirty="0">
                <a:solidFill>
                  <a:srgbClr val="7A4A1E"/>
                </a:solidFill>
              </a:rPr>
              <a:t>Colab notebook</a:t>
            </a:r>
            <a:endParaRPr lang="en-US" sz="2000" dirty="0"/>
          </a:p>
        </p:txBody>
      </p:sp>
      <p:sp>
        <p:nvSpPr>
          <p:cNvPr id="8" name="Text 6"/>
          <p:cNvSpPr txBox="1"/>
          <p:nvPr/>
        </p:nvSpPr>
        <p:spPr>
          <a:xfrm>
            <a:off x="6583680" y="2316480"/>
            <a:ext cx="4754880" cy="2011680"/>
          </a:xfrm>
          <a:prstGeom prst="rect">
            <a:avLst/>
          </a:prstGeom>
          <a:noFill/>
          <a:ln/>
        </p:spPr>
        <p:txBody>
          <a:bodyPr wrap="square" lIns="0" tIns="0" rIns="0" bIns="0" rtlCol="0" anchor="t"/>
          <a:lstStyle/>
          <a:p>
            <a:r>
              <a:rPr lang="en-US" sz="1600" dirty="0">
                <a:solidFill>
                  <a:srgbClr val="3D3D3D"/>
                </a:solidFill>
              </a:rPr>
              <a:t>Link on the course page. Same numbering as these slides. Change any number, watch the figure redraw. No installation.</a:t>
            </a:r>
            <a:endParaRPr lang="en-US" sz="1600" dirty="0"/>
          </a:p>
        </p:txBody>
      </p:sp>
      <p:sp>
        <p:nvSpPr>
          <p:cNvPr id="9" name="Shape 7"/>
          <p:cNvSpPr/>
          <p:nvPr/>
        </p:nvSpPr>
        <p:spPr>
          <a:xfrm>
            <a:off x="609600" y="4754880"/>
            <a:ext cx="10972800" cy="1097280"/>
          </a:xfrm>
          <a:prstGeom prst="roundRect">
            <a:avLst>
              <a:gd name="adj" fmla="val 8889"/>
            </a:avLst>
          </a:prstGeom>
          <a:solidFill>
            <a:srgbClr val="F3F9F9"/>
          </a:solidFill>
          <a:ln w="12700">
            <a:solidFill>
              <a:srgbClr val="E6F2F2"/>
            </a:solidFill>
            <a:prstDash val="solid"/>
          </a:ln>
        </p:spPr>
        <p:txBody>
          <a:bodyPr/>
          <a:lstStyle/>
          <a:p>
            <a:endParaRPr lang="en-GB" sz="2400"/>
          </a:p>
        </p:txBody>
      </p:sp>
      <p:sp>
        <p:nvSpPr>
          <p:cNvPr id="10" name="Text 8"/>
          <p:cNvSpPr txBox="1"/>
          <p:nvPr/>
        </p:nvSpPr>
        <p:spPr>
          <a:xfrm>
            <a:off x="853440" y="4754880"/>
            <a:ext cx="10485120" cy="1097280"/>
          </a:xfrm>
          <a:prstGeom prst="rect">
            <a:avLst/>
          </a:prstGeom>
          <a:noFill/>
          <a:ln/>
        </p:spPr>
        <p:txBody>
          <a:bodyPr wrap="square" lIns="0" tIns="0" rIns="0" bIns="0" rtlCol="0" anchor="ctr"/>
          <a:lstStyle/>
          <a:p>
            <a:r>
              <a:rPr lang="en-US" sz="1467" dirty="0">
                <a:solidFill>
                  <a:srgbClr val="0A5C5C"/>
                </a:solidFill>
              </a:rPr>
              <a:t>For later: the notebook has an ✎ Exercise at the end of every stop (doubles, darts precision, a fieldwork budget, an unequal design, a small city), and three extras that only live there: Buffon's needle, a coverage check, and a twelve-line MCMC sampler.</a:t>
            </a:r>
            <a:endParaRPr lang="en-US" sz="1467" dirty="0"/>
          </a:p>
        </p:txBody>
      </p:sp>
      <p:sp>
        <p:nvSpPr>
          <p:cNvPr id="25" name="Slide Number Placeholder 0"/>
          <p:cNvSpPr>
            <a:spLocks noGrp="1"/>
          </p:cNvSpPr>
          <p:nvPr>
            <p:ph type="sldNum" sz="quarter" idx="4294967295"/>
          </p:nvPr>
        </p:nvSpPr>
        <p:spPr>
          <a:xfrm>
            <a:off x="10972800" y="6339840"/>
            <a:ext cx="609600" cy="365760"/>
          </a:xfrm>
          <a:prstGeom prst="rect">
            <a:avLst/>
          </a:prstGeom>
          <a:extLst>
            <a:ext uri="{C572A759-6A51-4108-AA02-DFA0A04FC94B}">
              <ma14:wrappingTextBoxFlag xmlns="" xmlns:ma14="http://schemas.microsoft.com/office/mac/drawingml/2011/main" val="0"/>
            </a:ext>
          </a:extLst>
        </p:spPr>
        <p:txBody>
          <a:bodyPr/>
          <a:lstStyle>
            <a:lvl1pPr>
              <a:defRPr sz="1200">
                <a:solidFill>
                  <a:srgbClr val="6B6B6B"/>
                </a:solidFill>
              </a:defRPr>
            </a:lvl1pPr>
          </a:lstStyle>
          <a:p>
            <a:pPr algn="r"/>
            <a:fld id="{F7021451-1387-4CA6-816F-3879F97B5CBC}" type="slidenum">
              <a:rPr lang="en-US" b="0"/>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09600" y="426720"/>
            <a:ext cx="10972800" cy="914400"/>
          </a:xfrm>
          <a:prstGeom prst="rect">
            <a:avLst/>
          </a:prstGeom>
          <a:noFill/>
          <a:ln/>
        </p:spPr>
        <p:txBody>
          <a:bodyPr vert="horz" wrap="square" lIns="0" tIns="0" rIns="0" bIns="0" rtlCol="0" anchor="ctr">
            <a:normAutofit/>
          </a:bodyPr>
          <a:lstStyle/>
          <a:p>
            <a:r>
              <a:rPr lang="en-US" dirty="0"/>
              <a:t>References</a:t>
            </a:r>
          </a:p>
        </p:txBody>
      </p:sp>
      <p:sp>
        <p:nvSpPr>
          <p:cNvPr id="3" name="Text 1"/>
          <p:cNvSpPr txBox="1"/>
          <p:nvPr/>
        </p:nvSpPr>
        <p:spPr>
          <a:xfrm>
            <a:off x="609600" y="1524000"/>
            <a:ext cx="10972800" cy="4632960"/>
          </a:xfrm>
          <a:prstGeom prst="rect">
            <a:avLst/>
          </a:prstGeom>
          <a:noFill/>
          <a:ln/>
        </p:spPr>
        <p:txBody>
          <a:bodyPr wrap="square" lIns="0" tIns="0" rIns="0" bIns="0" rtlCol="0" anchor="t"/>
          <a:lstStyle/>
          <a:p>
            <a:pPr>
              <a:spcAft>
                <a:spcPts val="667"/>
              </a:spcAft>
            </a:pPr>
            <a:r>
              <a:rPr lang="en-US" sz="1400" dirty="0">
                <a:solidFill>
                  <a:srgbClr val="3D3D3D"/>
                </a:solidFill>
              </a:rPr>
              <a:t>Bernoulli, J. (1713). Ars Conjectandi. Basel: Thurneysen.</a:t>
            </a:r>
            <a:endParaRPr lang="en-US" sz="1400" dirty="0"/>
          </a:p>
          <a:p>
            <a:pPr>
              <a:spcAft>
                <a:spcPts val="667"/>
              </a:spcAft>
            </a:pPr>
            <a:r>
              <a:rPr lang="en-US" sz="1400" dirty="0">
                <a:solidFill>
                  <a:srgbClr val="3D3D3D"/>
                </a:solidFill>
              </a:rPr>
              <a:t>Buffon, G.-L. L., Comte de (1777). Essai d'arithmétique morale. Histoire naturelle, Supplément, vol. 4.</a:t>
            </a:r>
            <a:endParaRPr lang="en-US" sz="1400" dirty="0"/>
          </a:p>
          <a:p>
            <a:pPr>
              <a:spcAft>
                <a:spcPts val="667"/>
              </a:spcAft>
            </a:pPr>
            <a:r>
              <a:rPr lang="en-US" sz="1400" dirty="0">
                <a:solidFill>
                  <a:srgbClr val="3D3D3D"/>
                </a:solidFill>
              </a:rPr>
              <a:t>Cohen, J. (1988). Statistical Power Analysis for the Behavioral Sciences (2nd ed.). Lawrence Erlbaum.</a:t>
            </a:r>
            <a:endParaRPr lang="en-US" sz="1400" dirty="0"/>
          </a:p>
          <a:p>
            <a:pPr>
              <a:spcAft>
                <a:spcPts val="667"/>
              </a:spcAft>
            </a:pPr>
            <a:r>
              <a:rPr lang="en-US" sz="1400" dirty="0">
                <a:solidFill>
                  <a:srgbClr val="3D3D3D"/>
                </a:solidFill>
              </a:rPr>
              <a:t>Efron, B. (1979). Bootstrap methods: Another look at the jackknife. The Annals of Statistics, 7(1), 1–26.</a:t>
            </a:r>
            <a:endParaRPr lang="en-US" sz="1400" dirty="0"/>
          </a:p>
          <a:p>
            <a:pPr>
              <a:spcAft>
                <a:spcPts val="667"/>
              </a:spcAft>
            </a:pPr>
            <a:r>
              <a:rPr lang="en-US" sz="1400" dirty="0">
                <a:solidFill>
                  <a:srgbClr val="3D3D3D"/>
                </a:solidFill>
              </a:rPr>
              <a:t>Granovetter, M. (1978). Threshold models of collective behavior. American Journal of Sociology, 83(6), 1420–1443.</a:t>
            </a:r>
            <a:endParaRPr lang="en-US" sz="1400" dirty="0"/>
          </a:p>
          <a:p>
            <a:pPr>
              <a:spcAft>
                <a:spcPts val="667"/>
              </a:spcAft>
            </a:pPr>
            <a:r>
              <a:rPr lang="en-US" sz="1400" dirty="0">
                <a:solidFill>
                  <a:srgbClr val="3D3D3D"/>
                </a:solidFill>
              </a:rPr>
              <a:t>Metropolis, N. (1987). The beginning of the Monte Carlo method. Los Alamos Science, 15, 125–130.</a:t>
            </a:r>
            <a:endParaRPr lang="en-US" sz="1400" dirty="0"/>
          </a:p>
          <a:p>
            <a:pPr>
              <a:spcAft>
                <a:spcPts val="667"/>
              </a:spcAft>
            </a:pPr>
            <a:r>
              <a:rPr lang="en-US" sz="1400" dirty="0">
                <a:solidFill>
                  <a:srgbClr val="3D3D3D"/>
                </a:solidFill>
              </a:rPr>
              <a:t>Metropolis, N., &amp; Ulam, S. (1949). The Monte Carlo method. Journal of the American Statistical Association, 44(247), 335–341.</a:t>
            </a:r>
            <a:endParaRPr lang="en-US" sz="1400" dirty="0"/>
          </a:p>
          <a:p>
            <a:pPr>
              <a:spcAft>
                <a:spcPts val="667"/>
              </a:spcAft>
            </a:pPr>
            <a:r>
              <a:rPr lang="en-US" sz="1400" dirty="0">
                <a:solidFill>
                  <a:srgbClr val="3D3D3D"/>
                </a:solidFill>
              </a:rPr>
              <a:t>Metropolis, N., Rosenbluth, A. W., Rosenbluth, M. N., Teller, A. H., &amp; Teller, E. (1953). Equation of state calculations by fast computing machines. J. Chem. Phys., 21(6), 1087–1092.</a:t>
            </a:r>
            <a:endParaRPr lang="en-US" sz="1400" dirty="0"/>
          </a:p>
          <a:p>
            <a:pPr>
              <a:spcAft>
                <a:spcPts val="667"/>
              </a:spcAft>
            </a:pPr>
            <a:r>
              <a:rPr lang="en-US" sz="1400" dirty="0">
                <a:solidFill>
                  <a:srgbClr val="3D3D3D"/>
                </a:solidFill>
              </a:rPr>
              <a:t>Schelling, T. C. (1971). Dynamic models of segregation. Journal of Mathematical Sociology, 1(2), 143–186.</a:t>
            </a:r>
            <a:endParaRPr lang="en-US" sz="1400" dirty="0"/>
          </a:p>
          <a:p>
            <a:pPr>
              <a:spcAft>
                <a:spcPts val="667"/>
              </a:spcAft>
            </a:pPr>
            <a:r>
              <a:rPr lang="en-US" sz="1400" dirty="0">
                <a:solidFill>
                  <a:srgbClr val="3D3D3D"/>
                </a:solidFill>
              </a:rPr>
              <a:t>Schelling, T. C. (1978). Micromotives and Macrobehavior. W. W. Norton.</a:t>
            </a:r>
            <a:endParaRPr lang="en-US" sz="1400" dirty="0"/>
          </a:p>
          <a:p>
            <a:pPr>
              <a:spcAft>
                <a:spcPts val="667"/>
              </a:spcAft>
            </a:pPr>
            <a:r>
              <a:rPr lang="en-US" sz="1400" dirty="0">
                <a:solidFill>
                  <a:srgbClr val="3D3D3D"/>
                </a:solidFill>
              </a:rPr>
              <a:t>Verschuuren, G. M. (2017). 100 Excel Simulations. Holy Macro! Books.</a:t>
            </a:r>
            <a:endParaRPr lang="en-US" sz="1400" dirty="0"/>
          </a:p>
        </p:txBody>
      </p:sp>
      <p:sp>
        <p:nvSpPr>
          <p:cNvPr id="25" name="Slide Number Placeholder 0"/>
          <p:cNvSpPr>
            <a:spLocks noGrp="1"/>
          </p:cNvSpPr>
          <p:nvPr>
            <p:ph type="sldNum" sz="quarter" idx="4294967295"/>
          </p:nvPr>
        </p:nvSpPr>
        <p:spPr>
          <a:xfrm>
            <a:off x="10972800" y="6339840"/>
            <a:ext cx="609600" cy="365760"/>
          </a:xfrm>
          <a:prstGeom prst="rect">
            <a:avLst/>
          </a:prstGeom>
          <a:extLst>
            <a:ext uri="{C572A759-6A51-4108-AA02-DFA0A04FC94B}">
              <ma14:wrappingTextBoxFlag xmlns="" xmlns:ma14="http://schemas.microsoft.com/office/mac/drawingml/2011/main" val="0"/>
            </a:ext>
          </a:extLst>
        </p:spPr>
        <p:txBody>
          <a:bodyPr/>
          <a:lstStyle>
            <a:lvl1pPr>
              <a:defRPr sz="1200">
                <a:solidFill>
                  <a:srgbClr val="6B6B6B"/>
                </a:solidFill>
              </a:defRPr>
            </a:lvl1pPr>
          </a:lstStyle>
          <a:p>
            <a:pPr algn="r"/>
            <a:fld id="{F7021451-1387-4CA6-816F-3879F97B5CBC}" type="slidenum">
              <a:rPr lang="en-US" b="0"/>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731520" y="1706880"/>
            <a:ext cx="10728960" cy="609600"/>
          </a:xfrm>
          <a:prstGeom prst="rect">
            <a:avLst/>
          </a:prstGeom>
          <a:noFill/>
          <a:ln/>
        </p:spPr>
        <p:txBody>
          <a:bodyPr vert="horz" wrap="square" lIns="0" tIns="0" rIns="0" bIns="0" rtlCol="0">
            <a:normAutofit/>
          </a:bodyPr>
          <a:lstStyle/>
          <a:p>
            <a:endParaRPr lang="en-US" dirty="0"/>
          </a:p>
        </p:txBody>
      </p:sp>
      <p:sp>
        <p:nvSpPr>
          <p:cNvPr id="3" name="Text 0"/>
          <p:cNvSpPr>
            <a:spLocks noGrp="1"/>
          </p:cNvSpPr>
          <p:nvPr>
            <p:ph type="title" idx="101" hasCustomPrompt="1"/>
          </p:nvPr>
        </p:nvSpPr>
        <p:spPr>
          <a:xfrm>
            <a:off x="731520" y="2316480"/>
            <a:ext cx="10728960" cy="2194560"/>
          </a:xfrm>
          <a:prstGeom prst="rect">
            <a:avLst/>
          </a:prstGeom>
          <a:noFill/>
          <a:ln/>
        </p:spPr>
        <p:txBody>
          <a:bodyPr vert="horz" wrap="square" lIns="0" tIns="0" rIns="0" bIns="0" rtlCol="0" anchor="ctr">
            <a:normAutofit/>
          </a:bodyPr>
          <a:lstStyle/>
          <a:p>
            <a:r>
              <a:rPr lang="en-US" dirty="0"/>
              <a:t>Thank you</a:t>
            </a:r>
          </a:p>
        </p:txBody>
      </p:sp>
      <p:sp>
        <p:nvSpPr>
          <p:cNvPr id="4" name="Text 0"/>
          <p:cNvSpPr>
            <a:spLocks noGrp="1"/>
          </p:cNvSpPr>
          <p:nvPr>
            <p:ph type="body" idx="102" hasCustomPrompt="1"/>
          </p:nvPr>
        </p:nvSpPr>
        <p:spPr>
          <a:xfrm>
            <a:off x="731520" y="4754880"/>
            <a:ext cx="10728960" cy="1097280"/>
          </a:xfrm>
          <a:prstGeom prst="rect">
            <a:avLst/>
          </a:prstGeom>
          <a:noFill/>
          <a:ln/>
        </p:spPr>
        <p:txBody>
          <a:bodyPr vert="horz" wrap="square" lIns="0" tIns="0" rIns="0" bIns="0" rtlCol="0">
            <a:normAutofit/>
          </a:bodyPr>
          <a:lstStyle/>
          <a:p>
            <a:r>
              <a:rPr lang="en-US" dirty="0"/>
              <a:t>Generate many random versions of the situation. Count what happens. Report the spread.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TotalTime>
  <Words>6211</Words>
  <Application>Microsoft Office PowerPoint</Application>
  <PresentationFormat>Widescreen</PresentationFormat>
  <Paragraphs>495</Paragraphs>
  <Slides>48</Slides>
  <Notes>48</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48</vt:i4>
      </vt:variant>
    </vt:vector>
  </HeadingPairs>
  <TitlesOfParts>
    <vt:vector size="54" baseType="lpstr">
      <vt:lpstr>Aptos</vt:lpstr>
      <vt:lpstr>Aptos Display</vt:lpstr>
      <vt:lpstr>Arial</vt:lpstr>
      <vt:lpstr>Calibri</vt:lpstr>
      <vt:lpstr>Courier New</vt:lpstr>
      <vt:lpstr>Office Theme</vt:lpstr>
      <vt:lpstr>Monte Carlo Analysis and Python-based Simulations</vt:lpstr>
      <vt:lpstr>Three questions that are hard with pen and paper</vt:lpstr>
      <vt:lpstr>Today: a ladder of six stops, and two tabs to keep open</vt:lpstr>
      <vt:lpstr>Solitaire, a casino, and a secret project</vt:lpstr>
      <vt:lpstr>1946: a sickbed and a deck of cards</vt:lpstr>
      <vt:lpstr>The same trick for a much harder problem</vt:lpstr>
      <vt:lpstr>Why it is called Monte Carlo</vt:lpstr>
      <vt:lpstr>Three things to keep from the story</vt:lpstr>
      <vt:lpstr>Probability, random numbers, distributions, and the law of large numbers</vt:lpstr>
      <vt:lpstr>Probability is a long-run share</vt:lpstr>
      <vt:lpstr>Random numbers from a computer</vt:lpstr>
      <vt:lpstr>Distributions: the shape of uncertainty</vt:lpstr>
      <vt:lpstr>The law of large numbers, and the 1/√N rule</vt:lpstr>
      <vt:lpstr>Part B · The recipe</vt:lpstr>
      <vt:lpstr>Two dice, and the first Monte Carlo</vt:lpstr>
      <vt:lpstr>Roll two dice and add them. How often is the sum 7?</vt:lpstr>
      <vt:lpstr>More rolls, better picture</vt:lpstr>
      <vt:lpstr>The error shrinks like 1/√N</vt:lpstr>
      <vt:lpstr>Stop 1 · On your screen</vt:lpstr>
      <vt:lpstr>What we learned at stop 1</vt:lpstr>
      <vt:lpstr>Darts, π, and measuring with randomness</vt:lpstr>
      <vt:lpstr>Throw darts; count the ones inside the circle</vt:lpstr>
      <vt:lpstr>Any area, in any number of dimensions</vt:lpstr>
      <vt:lpstr>Stop 2 · On your screen</vt:lpstr>
      <vt:lpstr>What we learned at stop 2</vt:lpstr>
      <vt:lpstr>A referendum, and taming the future</vt:lpstr>
      <vt:lpstr>Polls say 52% yes. Will it pass?</vt:lpstr>
      <vt:lpstr>Ten thousand election nights</vt:lpstr>
      <vt:lpstr>Stop 3 · On your screen</vt:lpstr>
      <vt:lpstr>What we learned at stop 3</vt:lpstr>
      <vt:lpstr>Five-minute break</vt:lpstr>
      <vt:lpstr>Planning a survey by simulating fake data</vt:lpstr>
      <vt:lpstr>How many people do I need?</vt:lpstr>
      <vt:lpstr>Power by simulation</vt:lpstr>
      <vt:lpstr>Stop 4 · On your screen</vt:lpstr>
      <vt:lpstr>What we learned at stop 4</vt:lpstr>
      <vt:lpstr>Schelling's neighbourhood, and Monte Carlo over an agent-based model</vt:lpstr>
      <vt:lpstr>The model: a city of particular households</vt:lpstr>
      <vt:lpstr>One run of the model</vt:lpstr>
      <vt:lpstr>Forty runs per threshold: the segregation curve</vt:lpstr>
      <vt:lpstr>Stop 5 · On your screen</vt:lpstr>
      <vt:lpstr>The rule for every agent-based model</vt:lpstr>
      <vt:lpstr>Looking ahead: where did 30% come from?</vt:lpstr>
      <vt:lpstr>Where this road leads</vt:lpstr>
      <vt:lpstr>Five habits that keep you honest</vt:lpstr>
      <vt:lpstr>Now you: ten minutes of free play</vt:lpstr>
      <vt:lpstr>References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Kishor Acharya</dc:creator>
  <cp:lastModifiedBy>Kishor Acharya</cp:lastModifiedBy>
  <cp:revision>6</cp:revision>
  <dcterms:created xsi:type="dcterms:W3CDTF">2026-10-19T09:36:22Z</dcterms:created>
  <dcterms:modified xsi:type="dcterms:W3CDTF">2026-10-19T10:18:11Z</dcterms:modified>
</cp:coreProperties>
</file>